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1"/>
  </p:sldMasterIdLst>
  <p:notesMasterIdLst>
    <p:notesMasterId r:id="rId43"/>
  </p:notesMasterIdLst>
  <p:handoutMasterIdLst>
    <p:handoutMasterId r:id="rId44"/>
  </p:handoutMasterIdLst>
  <p:sldIdLst>
    <p:sldId id="256" r:id="rId2"/>
    <p:sldId id="418" r:id="rId3"/>
    <p:sldId id="522" r:id="rId4"/>
    <p:sldId id="424" r:id="rId5"/>
    <p:sldId id="495" r:id="rId6"/>
    <p:sldId id="427" r:id="rId7"/>
    <p:sldId id="496" r:id="rId8"/>
    <p:sldId id="497" r:id="rId9"/>
    <p:sldId id="524" r:id="rId10"/>
    <p:sldId id="526" r:id="rId11"/>
    <p:sldId id="527" r:id="rId12"/>
    <p:sldId id="528" r:id="rId13"/>
    <p:sldId id="530" r:id="rId14"/>
    <p:sldId id="531" r:id="rId15"/>
    <p:sldId id="532" r:id="rId16"/>
    <p:sldId id="533" r:id="rId17"/>
    <p:sldId id="534" r:id="rId18"/>
    <p:sldId id="535" r:id="rId19"/>
    <p:sldId id="536" r:id="rId20"/>
    <p:sldId id="537" r:id="rId21"/>
    <p:sldId id="505" r:id="rId22"/>
    <p:sldId id="506" r:id="rId23"/>
    <p:sldId id="538" r:id="rId24"/>
    <p:sldId id="504" r:id="rId25"/>
    <p:sldId id="523" r:id="rId26"/>
    <p:sldId id="507" r:id="rId27"/>
    <p:sldId id="508" r:id="rId28"/>
    <p:sldId id="509" r:id="rId29"/>
    <p:sldId id="525" r:id="rId30"/>
    <p:sldId id="510" r:id="rId31"/>
    <p:sldId id="512" r:id="rId32"/>
    <p:sldId id="513" r:id="rId33"/>
    <p:sldId id="514" r:id="rId34"/>
    <p:sldId id="515" r:id="rId35"/>
    <p:sldId id="516" r:id="rId36"/>
    <p:sldId id="517" r:id="rId37"/>
    <p:sldId id="519" r:id="rId38"/>
    <p:sldId id="518" r:id="rId39"/>
    <p:sldId id="520" r:id="rId40"/>
    <p:sldId id="521" r:id="rId41"/>
    <p:sldId id="458" r:id="rId4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431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09" autoAdjust="0"/>
    <p:restoredTop sz="95274" autoAdjust="0"/>
  </p:normalViewPr>
  <p:slideViewPr>
    <p:cSldViewPr>
      <p:cViewPr varScale="1">
        <p:scale>
          <a:sx n="72" d="100"/>
          <a:sy n="72" d="100"/>
        </p:scale>
        <p:origin x="131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8B702374-9732-47F3-AD75-024FC55FE8AE}" type="datetimeFigureOut">
              <a:rPr lang="en-US" smtClean="0"/>
              <a:pPr/>
              <a:t>11/2/2024</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AD969EC6-7096-4D1C-AE88-55614CFF9541}" type="slidenum">
              <a:rPr lang="en-US" smtClean="0"/>
              <a:pPr/>
              <a:t>‹#›</a:t>
            </a:fld>
            <a:endParaRPr lang="en-US"/>
          </a:p>
        </p:txBody>
      </p:sp>
    </p:spTree>
    <p:extLst>
      <p:ext uri="{BB962C8B-B14F-4D97-AF65-F5344CB8AC3E}">
        <p14:creationId xmlns:p14="http://schemas.microsoft.com/office/powerpoint/2010/main" val="33970501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B65BB7-332E-4273-BE5F-FC4D4769183E}" type="datetimeFigureOut">
              <a:rPr lang="en-US" smtClean="0"/>
              <a:pPr/>
              <a:t>11/2/2024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498AF3CB-16F4-4262-B562-3E0EEE24DB16}" type="slidenum">
              <a:rPr lang="en-US" smtClean="0"/>
              <a:pPr/>
              <a:t>‹#›</a:t>
            </a:fld>
            <a:endParaRPr lang="en-US"/>
          </a:p>
        </p:txBody>
      </p:sp>
    </p:spTree>
    <p:extLst>
      <p:ext uri="{BB962C8B-B14F-4D97-AF65-F5344CB8AC3E}">
        <p14:creationId xmlns:p14="http://schemas.microsoft.com/office/powerpoint/2010/main" val="2886875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8AF3CB-16F4-4262-B562-3E0EEE24DB16}" type="slidenum">
              <a:rPr lang="en-US" smtClean="0"/>
              <a:pPr/>
              <a:t>3</a:t>
            </a:fld>
            <a:endParaRPr lang="en-US"/>
          </a:p>
        </p:txBody>
      </p:sp>
    </p:spTree>
    <p:extLst>
      <p:ext uri="{BB962C8B-B14F-4D97-AF65-F5344CB8AC3E}">
        <p14:creationId xmlns:p14="http://schemas.microsoft.com/office/powerpoint/2010/main" val="3012771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Barium carbonate</a:t>
            </a:r>
            <a:r>
              <a:rPr lang="en-US" sz="1200" b="0" i="0" kern="1200" dirty="0">
                <a:solidFill>
                  <a:schemeClr val="tx1"/>
                </a:solidFill>
                <a:effectLst/>
                <a:latin typeface="+mn-lt"/>
                <a:ea typeface="+mn-ea"/>
                <a:cs typeface="+mn-cs"/>
              </a:rPr>
              <a:t> is a white powder. It is insoluble in water and soluble in most acids, with the exception of sulfuric acid. It has a specific gravity of 4.275. It is toxic by ingestion.</a:t>
            </a:r>
            <a:endParaRPr lang="en-US" dirty="0"/>
          </a:p>
        </p:txBody>
      </p:sp>
      <p:sp>
        <p:nvSpPr>
          <p:cNvPr id="4" name="Slide Number Placeholder 3"/>
          <p:cNvSpPr>
            <a:spLocks noGrp="1"/>
          </p:cNvSpPr>
          <p:nvPr>
            <p:ph type="sldNum" sz="quarter" idx="10"/>
          </p:nvPr>
        </p:nvSpPr>
        <p:spPr/>
        <p:txBody>
          <a:bodyPr/>
          <a:lstStyle/>
          <a:p>
            <a:fld id="{498AF3CB-16F4-4262-B562-3E0EEE24DB16}" type="slidenum">
              <a:rPr lang="en-US" smtClean="0"/>
              <a:pPr/>
              <a:t>5</a:t>
            </a:fld>
            <a:endParaRPr lang="en-US"/>
          </a:p>
        </p:txBody>
      </p:sp>
    </p:spTree>
    <p:extLst>
      <p:ext uri="{BB962C8B-B14F-4D97-AF65-F5344CB8AC3E}">
        <p14:creationId xmlns:p14="http://schemas.microsoft.com/office/powerpoint/2010/main" val="2325606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8AF3CB-16F4-4262-B562-3E0EEE24DB16}" type="slidenum">
              <a:rPr lang="en-US" smtClean="0"/>
              <a:pPr/>
              <a:t>6</a:t>
            </a:fld>
            <a:endParaRPr lang="en-US"/>
          </a:p>
        </p:txBody>
      </p:sp>
    </p:spTree>
    <p:extLst>
      <p:ext uri="{BB962C8B-B14F-4D97-AF65-F5344CB8AC3E}">
        <p14:creationId xmlns:p14="http://schemas.microsoft.com/office/powerpoint/2010/main" val="2180477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7793B3-4ED2-4AE7-B263-FF4116B85CA0}" type="datetime1">
              <a:rPr lang="en-US" smtClean="0"/>
              <a:t>11/2/2024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6F42FDE4-A7DD-41A7-A0A6-9B649FB43336}" type="slidenum">
              <a:rPr kumimoji="0" lang="en-US" smtClean="0"/>
              <a:pPr/>
              <a:t>‹#›</a:t>
            </a:fld>
            <a:endParaRPr kumimoji="0" lang="en-US" sz="1400" dirty="0">
              <a:solidFill>
                <a:srgbClr val="FFFFFF"/>
              </a:solidFill>
            </a:endParaRPr>
          </a:p>
        </p:txBody>
      </p:sp>
    </p:spTree>
    <p:extLst>
      <p:ext uri="{BB962C8B-B14F-4D97-AF65-F5344CB8AC3E}">
        <p14:creationId xmlns:p14="http://schemas.microsoft.com/office/powerpoint/2010/main" val="1806774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F42FDE4-A7DD-41A7-A0A6-9B649FB43336}" type="slidenum">
              <a:rPr kumimoji="0" lang="en-US" smtClean="0"/>
              <a:pPr/>
              <a:t>‹#›</a:t>
            </a:fld>
            <a:endParaRPr kumimoji="0" lang="en-US"/>
          </a:p>
        </p:txBody>
      </p:sp>
    </p:spTree>
    <p:extLst>
      <p:ext uri="{BB962C8B-B14F-4D97-AF65-F5344CB8AC3E}">
        <p14:creationId xmlns:p14="http://schemas.microsoft.com/office/powerpoint/2010/main" val="112996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B53F3C-D73E-4CAB-A96D-1D45AFCFC1D4}" type="datetime1">
              <a:rPr lang="en-US" smtClean="0"/>
              <a:t>11/2/2024</a:t>
            </a:fld>
            <a:endParaRPr lang="en-US"/>
          </a:p>
        </p:txBody>
      </p:sp>
      <p:sp>
        <p:nvSpPr>
          <p:cNvPr id="5" name="Footer Placeholder 4"/>
          <p:cNvSpPr>
            <a:spLocks noGrp="1"/>
          </p:cNvSpPr>
          <p:nvPr>
            <p:ph type="ftr" sz="quarter" idx="11"/>
          </p:nvPr>
        </p:nvSpPr>
        <p:spPr/>
        <p:txBody>
          <a:bodyPr/>
          <a:lstStyle/>
          <a:p>
            <a:endParaRPr kumimoji="0" lang="en-US" dirty="0"/>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6F42FDE4-A7DD-41A7-A0A6-9B649FB43336}" type="slidenum">
              <a:rPr kumimoji="0" lang="en-US" smtClean="0"/>
              <a:pPr/>
              <a:t>‹#›</a:t>
            </a:fld>
            <a:endParaRPr kumimoji="0" lang="en-US" dirty="0"/>
          </a:p>
        </p:txBody>
      </p:sp>
    </p:spTree>
    <p:extLst>
      <p:ext uri="{BB962C8B-B14F-4D97-AF65-F5344CB8AC3E}">
        <p14:creationId xmlns:p14="http://schemas.microsoft.com/office/powerpoint/2010/main" val="2865251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CDAC36-FC52-42D1-88B6-62BB17441E77}" type="datetime1">
              <a:rPr lang="en-US" smtClean="0"/>
              <a:t>11/2/2024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6F42FDE4-A7DD-41A7-A0A6-9B649FB43336}" type="slidenum">
              <a:rPr kumimoji="0" lang="en-US" smtClean="0"/>
              <a:pPr/>
              <a:t>‹#›</a:t>
            </a:fld>
            <a:endParaRPr kumimoji="0" lang="en-US"/>
          </a:p>
        </p:txBody>
      </p:sp>
    </p:spTree>
    <p:extLst>
      <p:ext uri="{BB962C8B-B14F-4D97-AF65-F5344CB8AC3E}">
        <p14:creationId xmlns:p14="http://schemas.microsoft.com/office/powerpoint/2010/main" val="381815228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3A4090-CB18-4DE1-9611-9676792163AF}" type="datetime1">
              <a:rPr lang="en-US" smtClean="0"/>
              <a:t>11/2/2024</a:t>
            </a:fld>
            <a:endParaRPr lang="en-US"/>
          </a:p>
        </p:txBody>
      </p:sp>
      <p:sp>
        <p:nvSpPr>
          <p:cNvPr id="8" name="Footer Placeholder 7"/>
          <p:cNvSpPr>
            <a:spLocks noGrp="1"/>
          </p:cNvSpPr>
          <p:nvPr>
            <p:ph type="ftr" sz="quarter" idx="11"/>
          </p:nvPr>
        </p:nvSpPr>
        <p:spPr/>
        <p:txBody>
          <a:bodyPr/>
          <a:lstStyle/>
          <a:p>
            <a:endParaRPr kumimoji="0"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6F42FDE4-A7DD-41A7-A0A6-9B649FB43336}" type="slidenum">
              <a:rPr kumimoji="0" lang="en-US" smtClean="0"/>
              <a:pPr/>
              <a:t>‹#›</a:t>
            </a:fld>
            <a:endParaRPr kumimoji="0" lang="en-US"/>
          </a:p>
        </p:txBody>
      </p:sp>
    </p:spTree>
    <p:extLst>
      <p:ext uri="{BB962C8B-B14F-4D97-AF65-F5344CB8AC3E}">
        <p14:creationId xmlns:p14="http://schemas.microsoft.com/office/powerpoint/2010/main" val="129386562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A897EC-0621-4F1B-9C33-1572132B059C}" type="datetime1">
              <a:rPr lang="en-US" smtClean="0"/>
              <a:t>11/2/2024</a:t>
            </a:fld>
            <a:endParaRPr lang="en-US"/>
          </a:p>
        </p:txBody>
      </p:sp>
      <p:sp>
        <p:nvSpPr>
          <p:cNvPr id="4" name="Footer Placeholder 3"/>
          <p:cNvSpPr>
            <a:spLocks noGrp="1"/>
          </p:cNvSpPr>
          <p:nvPr>
            <p:ph type="ftr" sz="quarter" idx="11"/>
          </p:nvPr>
        </p:nvSpPr>
        <p:spPr/>
        <p:txBody>
          <a:bodyPr/>
          <a:lstStyle/>
          <a:p>
            <a:endParaRPr kumimoji="0"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F42FDE4-A7DD-41A7-A0A6-9B649FB43336}" type="slidenum">
              <a:rPr kumimoji="0" lang="en-US" smtClean="0"/>
              <a:pPr/>
              <a:t>‹#›</a:t>
            </a:fld>
            <a:endParaRPr kumimoji="0" lang="en-US"/>
          </a:p>
        </p:txBody>
      </p:sp>
    </p:spTree>
    <p:extLst>
      <p:ext uri="{BB962C8B-B14F-4D97-AF65-F5344CB8AC3E}">
        <p14:creationId xmlns:p14="http://schemas.microsoft.com/office/powerpoint/2010/main" val="2145035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A6B9DA-79E5-4F1E-B8A4-B7871786F528}" type="datetime1">
              <a:rPr lang="en-US" smtClean="0"/>
              <a:t>11/2/2024</a:t>
            </a:fld>
            <a:endParaRPr lang="en-US"/>
          </a:p>
        </p:txBody>
      </p:sp>
      <p:sp>
        <p:nvSpPr>
          <p:cNvPr id="3" name="Footer Placeholder 2"/>
          <p:cNvSpPr>
            <a:spLocks noGrp="1"/>
          </p:cNvSpPr>
          <p:nvPr>
            <p:ph type="ftr" sz="quarter" idx="11"/>
          </p:nvPr>
        </p:nvSpPr>
        <p:spPr/>
        <p:txBody>
          <a:bodyPr/>
          <a:lstStyle/>
          <a:p>
            <a:endParaRPr kumimoji="0"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F42FDE4-A7DD-41A7-A0A6-9B649FB43336}" type="slidenum">
              <a:rPr kumimoji="0" lang="en-US" smtClean="0"/>
              <a:pPr/>
              <a:t>‹#›</a:t>
            </a:fld>
            <a:endParaRPr kumimoji="0" lang="en-US"/>
          </a:p>
        </p:txBody>
      </p:sp>
    </p:spTree>
    <p:extLst>
      <p:ext uri="{BB962C8B-B14F-4D97-AF65-F5344CB8AC3E}">
        <p14:creationId xmlns:p14="http://schemas.microsoft.com/office/powerpoint/2010/main" val="567712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BB78E6-64A3-485D-A2B7-9206064E2198}" type="datetime1">
              <a:rPr lang="en-US" smtClean="0"/>
              <a:t>11/2/2024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F42FDE4-A7DD-41A7-A0A6-9B649FB43336}" type="slidenum">
              <a:rPr kumimoji="0" lang="en-US" smtClean="0"/>
              <a:pPr/>
              <a:t>‹#›</a:t>
            </a:fld>
            <a:endParaRPr kumimoji="0" lang="en-US"/>
          </a:p>
        </p:txBody>
      </p:sp>
    </p:spTree>
    <p:extLst>
      <p:ext uri="{BB962C8B-B14F-4D97-AF65-F5344CB8AC3E}">
        <p14:creationId xmlns:p14="http://schemas.microsoft.com/office/powerpoint/2010/main" val="349888928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542BE8-110D-4ACF-AD78-6AD9749B5CEF}" type="datetime1">
              <a:rPr lang="en-US" smtClean="0"/>
              <a:t>11/2/2024</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6F42FDE4-A7DD-41A7-A0A6-9B649FB43336}" type="slidenum">
              <a:rPr kumimoji="0" lang="en-US" smtClean="0"/>
              <a:pPr/>
              <a:t>‹#›</a:t>
            </a:fld>
            <a:endParaRPr kumimoji="0" lang="en-US" dirty="0"/>
          </a:p>
        </p:txBody>
      </p:sp>
    </p:spTree>
    <p:extLst>
      <p:ext uri="{BB962C8B-B14F-4D97-AF65-F5344CB8AC3E}">
        <p14:creationId xmlns:p14="http://schemas.microsoft.com/office/powerpoint/2010/main" val="282197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eaLnBrk="1" latinLnBrk="0" hangingPunct="1"/>
            <a:fld id="{36F87994-3D4F-4C22-89CC-EB55C6CB92AC}" type="datetime1">
              <a:rPr lang="en-US" sz="1400" smtClean="0">
                <a:solidFill>
                  <a:schemeClr val="tx2"/>
                </a:solidFill>
              </a:rPr>
              <a:t>11/2/2024</a:t>
            </a:fld>
            <a:endParaRPr lang="en-US" sz="1400" dirty="0">
              <a:solidFill>
                <a:schemeClr val="tx2"/>
              </a:solidFill>
            </a:endParaRPr>
          </a:p>
        </p:txBody>
      </p:sp>
      <p:sp>
        <p:nvSpPr>
          <p:cNvPr id="5" name="Footer Placeholder 4"/>
          <p:cNvSpPr>
            <a:spLocks noGrp="1"/>
          </p:cNvSpPr>
          <p:nvPr>
            <p:ph type="ftr" sz="quarter" idx="11"/>
          </p:nvPr>
        </p:nvSpPr>
        <p:spPr/>
        <p:txBody>
          <a:bodyPr/>
          <a:lstStyle/>
          <a:p>
            <a:endParaRPr kumimoji="0" lang="en-US" sz="1400" dirty="0">
              <a:solidFill>
                <a:schemeClr val="tx2"/>
              </a:solidFill>
            </a:endParaRP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lgn="ctr" eaLnBrk="1" latinLnBrk="0" hangingPunct="1"/>
            <a:fld id="{6F42FDE4-A7DD-41A7-A0A6-9B649FB43336}" type="slidenum">
              <a:rPr kumimoji="0" lang="en-US" smtClean="0"/>
              <a:pPr algn="ctr" eaLnBrk="1" latinLnBrk="0" hangingPunct="1"/>
              <a:t>‹#›</a:t>
            </a:fld>
            <a:endParaRPr kumimoji="0" lang="en-US" sz="1400" dirty="0">
              <a:solidFill>
                <a:srgbClr val="FFFFFF"/>
              </a:solidFill>
              <a:latin typeface="+mj-lt"/>
              <a:ea typeface="+mj-ea"/>
              <a:cs typeface="+mj-cs"/>
            </a:endParaRPr>
          </a:p>
        </p:txBody>
      </p:sp>
    </p:spTree>
    <p:extLst>
      <p:ext uri="{BB962C8B-B14F-4D97-AF65-F5344CB8AC3E}">
        <p14:creationId xmlns:p14="http://schemas.microsoft.com/office/powerpoint/2010/main" val="107077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eaLnBrk="1" latinLnBrk="0" hangingPunct="1"/>
            <a:fld id="{66CE2251-68CD-4B4E-A3CF-B59A079679F6}" type="datetime1">
              <a:rPr lang="en-US" sz="1400" smtClean="0">
                <a:solidFill>
                  <a:schemeClr val="tx2"/>
                </a:solidFill>
              </a:rPr>
              <a:t>11/2/2024</a:t>
            </a:fld>
            <a:endParaRPr lang="en-US" sz="1400" dirty="0">
              <a:solidFill>
                <a:schemeClr val="tx2"/>
              </a:solidFill>
            </a:endParaRPr>
          </a:p>
        </p:txBody>
      </p:sp>
      <p:sp>
        <p:nvSpPr>
          <p:cNvPr id="5" name="Footer Placeholder 4"/>
          <p:cNvSpPr>
            <a:spLocks noGrp="1"/>
          </p:cNvSpPr>
          <p:nvPr>
            <p:ph type="ftr" sz="quarter" idx="11"/>
          </p:nvPr>
        </p:nvSpPr>
        <p:spPr/>
        <p:txBody>
          <a:bodyPr/>
          <a:lstStyle/>
          <a:p>
            <a:endParaRPr kumimoji="0" lang="en-US" sz="1400" dirty="0">
              <a:solidFill>
                <a:schemeClr val="tx2"/>
              </a:solidFill>
            </a:endParaRP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lgn="ctr" eaLnBrk="1" latinLnBrk="0" hangingPunct="1"/>
            <a:fld id="{6F42FDE4-A7DD-41A7-A0A6-9B649FB43336}" type="slidenum">
              <a:rPr kumimoji="0" lang="en-US" smtClean="0"/>
              <a:pPr algn="ctr" eaLnBrk="1" latinLnBrk="0" hangingPunct="1"/>
              <a:t>‹#›</a:t>
            </a:fld>
            <a:endParaRPr kumimoji="0" lang="en-US" sz="1400" dirty="0">
              <a:solidFill>
                <a:srgbClr val="FFFFFF"/>
              </a:solidFill>
              <a:latin typeface="+mj-lt"/>
              <a:ea typeface="+mj-ea"/>
              <a:cs typeface="+mj-cs"/>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60329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eaLnBrk="1" latinLnBrk="0" hangingPunct="1"/>
            <a:fld id="{57E4E8E7-5902-4F1C-8D2A-E8267115D517}" type="datetime1">
              <a:rPr lang="en-US" sz="1400" smtClean="0">
                <a:solidFill>
                  <a:schemeClr val="tx2"/>
                </a:solidFill>
              </a:rPr>
              <a:t>11/2/2024</a:t>
            </a:fld>
            <a:endParaRPr lang="en-US" sz="1400" dirty="0">
              <a:solidFill>
                <a:schemeClr val="tx2"/>
              </a:solidFill>
            </a:endParaRPr>
          </a:p>
        </p:txBody>
      </p:sp>
      <p:sp>
        <p:nvSpPr>
          <p:cNvPr id="6" name="Footer Placeholder 5"/>
          <p:cNvSpPr>
            <a:spLocks noGrp="1"/>
          </p:cNvSpPr>
          <p:nvPr>
            <p:ph type="ftr" sz="quarter" idx="11"/>
          </p:nvPr>
        </p:nvSpPr>
        <p:spPr/>
        <p:txBody>
          <a:bodyPr/>
          <a:lstStyle/>
          <a:p>
            <a:endParaRPr kumimoji="0" lang="en-US" sz="1400" dirty="0">
              <a:solidFill>
                <a:schemeClr val="tx2"/>
              </a:solidFill>
            </a:endParaRP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ctr" eaLnBrk="1" latinLnBrk="0" hangingPunct="1"/>
            <a:fld id="{6F42FDE4-A7DD-41A7-A0A6-9B649FB43336}" type="slidenum">
              <a:rPr kumimoji="0" lang="en-US" smtClean="0"/>
              <a:pPr algn="ctr" eaLnBrk="1" latinLnBrk="0" hangingPunct="1"/>
              <a:t>‹#›</a:t>
            </a:fld>
            <a:endParaRPr kumimoji="0" lang="en-US" sz="1400" dirty="0">
              <a:solidFill>
                <a:srgbClr val="FFFFFF"/>
              </a:solidFill>
              <a:latin typeface="+mj-lt"/>
              <a:ea typeface="+mj-ea"/>
              <a:cs typeface="+mj-cs"/>
            </a:endParaRPr>
          </a:p>
        </p:txBody>
      </p:sp>
    </p:spTree>
    <p:extLst>
      <p:ext uri="{BB962C8B-B14F-4D97-AF65-F5344CB8AC3E}">
        <p14:creationId xmlns:p14="http://schemas.microsoft.com/office/powerpoint/2010/main" val="1941385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eaLnBrk="1" latinLnBrk="0" hangingPunct="1"/>
            <a:fld id="{4CEB4E9D-1BCA-4ACB-B056-94E40DDABE36}" type="datetime1">
              <a:rPr lang="en-US" sz="1400" smtClean="0">
                <a:solidFill>
                  <a:schemeClr val="tx2"/>
                </a:solidFill>
              </a:rPr>
              <a:t>11/2/2024</a:t>
            </a:fld>
            <a:endParaRPr lang="en-US" sz="1400" dirty="0">
              <a:solidFill>
                <a:schemeClr val="tx2"/>
              </a:solidFill>
            </a:endParaRPr>
          </a:p>
        </p:txBody>
      </p:sp>
      <p:sp>
        <p:nvSpPr>
          <p:cNvPr id="6" name="Footer Placeholder 5"/>
          <p:cNvSpPr>
            <a:spLocks noGrp="1"/>
          </p:cNvSpPr>
          <p:nvPr>
            <p:ph type="ftr" sz="quarter" idx="11"/>
          </p:nvPr>
        </p:nvSpPr>
        <p:spPr/>
        <p:txBody>
          <a:bodyPr/>
          <a:lstStyle/>
          <a:p>
            <a:endParaRPr kumimoji="0" lang="en-US" sz="1400" dirty="0">
              <a:solidFill>
                <a:schemeClr val="tx2"/>
              </a:solidFill>
            </a:endParaRP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ctr" eaLnBrk="1" latinLnBrk="0" hangingPunct="1"/>
            <a:fld id="{6F42FDE4-A7DD-41A7-A0A6-9B649FB43336}" type="slidenum">
              <a:rPr kumimoji="0" lang="en-US" smtClean="0"/>
              <a:pPr algn="ctr" eaLnBrk="1" latinLnBrk="0" hangingPunct="1"/>
              <a:t>‹#›</a:t>
            </a:fld>
            <a:endParaRPr kumimoji="0" lang="en-US" sz="1400" dirty="0">
              <a:solidFill>
                <a:srgbClr val="FFFFFF"/>
              </a:solidFill>
              <a:latin typeface="+mj-lt"/>
              <a:ea typeface="+mj-ea"/>
              <a:cs typeface="+mj-cs"/>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780194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eaLnBrk="1" latinLnBrk="0" hangingPunct="1"/>
            <a:fld id="{B70B37E7-5837-4DC0-B232-6106954F8EFE}" type="datetime1">
              <a:rPr lang="en-US" sz="1400" smtClean="0">
                <a:solidFill>
                  <a:schemeClr val="tx2"/>
                </a:solidFill>
              </a:rPr>
              <a:t>11/2/2024</a:t>
            </a:fld>
            <a:endParaRPr lang="en-US" sz="1400" dirty="0">
              <a:solidFill>
                <a:schemeClr val="tx2"/>
              </a:solidFill>
            </a:endParaRPr>
          </a:p>
        </p:txBody>
      </p:sp>
      <p:sp>
        <p:nvSpPr>
          <p:cNvPr id="6" name="Footer Placeholder 5"/>
          <p:cNvSpPr>
            <a:spLocks noGrp="1"/>
          </p:cNvSpPr>
          <p:nvPr>
            <p:ph type="ftr" sz="quarter" idx="11"/>
          </p:nvPr>
        </p:nvSpPr>
        <p:spPr/>
        <p:txBody>
          <a:bodyPr/>
          <a:lstStyle/>
          <a:p>
            <a:endParaRPr kumimoji="0" lang="en-US" sz="1400" dirty="0">
              <a:solidFill>
                <a:schemeClr val="tx2"/>
              </a:solidFil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ctr" eaLnBrk="1" latinLnBrk="0" hangingPunct="1"/>
            <a:fld id="{6F42FDE4-A7DD-41A7-A0A6-9B649FB43336}" type="slidenum">
              <a:rPr kumimoji="0" lang="en-US" smtClean="0"/>
              <a:pPr algn="ctr" eaLnBrk="1" latinLnBrk="0" hangingPunct="1"/>
              <a:t>‹#›</a:t>
            </a:fld>
            <a:endParaRPr kumimoji="0" lang="en-US" sz="1400" dirty="0">
              <a:solidFill>
                <a:srgbClr val="FFFFFF"/>
              </a:solidFill>
              <a:latin typeface="+mj-lt"/>
              <a:ea typeface="+mj-ea"/>
              <a:cs typeface="+mj-cs"/>
            </a:endParaRPr>
          </a:p>
        </p:txBody>
      </p:sp>
    </p:spTree>
    <p:extLst>
      <p:ext uri="{BB962C8B-B14F-4D97-AF65-F5344CB8AC3E}">
        <p14:creationId xmlns:p14="http://schemas.microsoft.com/office/powerpoint/2010/main" val="26765171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0B43D5-E0B3-4C05-9207-62901B4DEC92}" type="datetime1">
              <a:rPr lang="en-US" smtClean="0"/>
              <a:t>11/2/2024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F42FDE4-A7DD-41A7-A0A6-9B649FB43336}" type="slidenum">
              <a:rPr kumimoji="0" lang="en-US" smtClean="0"/>
              <a:pPr/>
              <a:t>‹#›</a:t>
            </a:fld>
            <a:endParaRPr kumimoji="0" lang="en-US"/>
          </a:p>
        </p:txBody>
      </p:sp>
    </p:spTree>
    <p:extLst>
      <p:ext uri="{BB962C8B-B14F-4D97-AF65-F5344CB8AC3E}">
        <p14:creationId xmlns:p14="http://schemas.microsoft.com/office/powerpoint/2010/main" val="13932680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25B15A-03D7-48CB-8777-6A73C2E6540A}" type="datetime1">
              <a:rPr lang="en-US" smtClean="0"/>
              <a:t>11/2/2024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F42FDE4-A7DD-41A7-A0A6-9B649FB43336}" type="slidenum">
              <a:rPr kumimoji="0" lang="en-US" smtClean="0"/>
              <a:pPr/>
              <a:t>‹#›</a:t>
            </a:fld>
            <a:endParaRPr kumimoji="0" lang="en-US"/>
          </a:p>
        </p:txBody>
      </p:sp>
    </p:spTree>
    <p:extLst>
      <p:ext uri="{BB962C8B-B14F-4D97-AF65-F5344CB8AC3E}">
        <p14:creationId xmlns:p14="http://schemas.microsoft.com/office/powerpoint/2010/main" val="3320870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pPr algn="r" eaLnBrk="1" latinLnBrk="0" hangingPunct="1"/>
            <a:fld id="{D5FDC132-7C32-41A6-BF2B-DF9CEE0C6414}" type="datetime1">
              <a:rPr lang="en-US" sz="1400" smtClean="0">
                <a:solidFill>
                  <a:schemeClr val="tx2"/>
                </a:solidFill>
              </a:rPr>
              <a:t>11/2/2024</a:t>
            </a:fld>
            <a:endParaRPr lang="en-US" sz="1400" dirty="0">
              <a:solidFill>
                <a:schemeClr val="tx2"/>
              </a:solidFill>
            </a:endParaRPr>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0" lang="en-US" sz="1400" dirty="0">
              <a:solidFill>
                <a:schemeClr val="tx2"/>
              </a:solidFill>
            </a:endParaRP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algn="ctr" eaLnBrk="1" latinLnBrk="0" hangingPunct="1"/>
            <a:fld id="{6F42FDE4-A7DD-41A7-A0A6-9B649FB43336}" type="slidenum">
              <a:rPr kumimoji="0" lang="en-US" smtClean="0"/>
              <a:pPr algn="ctr" eaLnBrk="1" latinLnBrk="0" hangingPunct="1"/>
              <a:t>‹#›</a:t>
            </a:fld>
            <a:endParaRPr kumimoji="0" lang="en-US" sz="1400" dirty="0">
              <a:solidFill>
                <a:srgbClr val="FFFFFF"/>
              </a:solidFill>
              <a:latin typeface="+mj-lt"/>
              <a:ea typeface="+mj-ea"/>
              <a:cs typeface="+mj-cs"/>
            </a:endParaRPr>
          </a:p>
        </p:txBody>
      </p:sp>
    </p:spTree>
    <p:extLst>
      <p:ext uri="{BB962C8B-B14F-4D97-AF65-F5344CB8AC3E}">
        <p14:creationId xmlns:p14="http://schemas.microsoft.com/office/powerpoint/2010/main" val="795230417"/>
      </p:ext>
    </p:extLst>
  </p:cSld>
  <p:clrMap bg1="lt1" tx1="dk1" bg2="lt2" tx2="dk2" accent1="accent1" accent2="accent2" accent3="accent3" accent4="accent4" accent5="accent5" accent6="accent6" hlink="hlink" folHlink="folHlink"/>
  <p:sldLayoutIdLst>
    <p:sldLayoutId id="2147484084" r:id="rId1"/>
    <p:sldLayoutId id="2147484085" r:id="rId2"/>
    <p:sldLayoutId id="2147484086" r:id="rId3"/>
    <p:sldLayoutId id="2147484087" r:id="rId4"/>
    <p:sldLayoutId id="2147484088" r:id="rId5"/>
    <p:sldLayoutId id="2147484089" r:id="rId6"/>
    <p:sldLayoutId id="2147484090" r:id="rId7"/>
    <p:sldLayoutId id="2147484091" r:id="rId8"/>
    <p:sldLayoutId id="2147484092" r:id="rId9"/>
    <p:sldLayoutId id="2147484093" r:id="rId10"/>
    <p:sldLayoutId id="2147484094" r:id="rId11"/>
    <p:sldLayoutId id="2147484095" r:id="rId12"/>
    <p:sldLayoutId id="2147484096" r:id="rId13"/>
    <p:sldLayoutId id="2147484097" r:id="rId14"/>
    <p:sldLayoutId id="2147484098" r:id="rId15"/>
    <p:sldLayoutId id="2147484099" r:id="rId16"/>
  </p:sldLayoutIdLst>
  <p:hf hdr="0" ft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987530" y="1524000"/>
            <a:ext cx="7620000" cy="1219200"/>
          </a:xfr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b="1" spc="50" dirty="0">
                <a:ln w="11430"/>
                <a:solidFill>
                  <a:srgbClr val="C00000"/>
                </a:solidFill>
                <a:effectLst>
                  <a:outerShdw blurRad="76200" dist="50800" dir="5400000" algn="tl" rotWithShape="0">
                    <a:srgbClr val="000000">
                      <a:alpha val="65000"/>
                    </a:srgbClr>
                  </a:outerShdw>
                </a:effectLst>
                <a:latin typeface="Times New Roman" pitchFamily="18" charset="0"/>
                <a:cs typeface="Times New Roman" pitchFamily="18" charset="0"/>
              </a:rPr>
              <a:t>Optical fibers and cables</a:t>
            </a:r>
          </a:p>
        </p:txBody>
      </p:sp>
      <p:sp>
        <p:nvSpPr>
          <p:cNvPr id="2" name="Subtitle 1"/>
          <p:cNvSpPr>
            <a:spLocks noGrp="1"/>
          </p:cNvSpPr>
          <p:nvPr>
            <p:ph type="subTitle" idx="1"/>
          </p:nvPr>
        </p:nvSpPr>
        <p:spPr>
          <a:xfrm>
            <a:off x="4648200" y="5257800"/>
            <a:ext cx="4495800" cy="914400"/>
          </a:xfrm>
        </p:spPr>
        <p:txBody>
          <a:bodyPr>
            <a:normAutofit fontScale="47500" lnSpcReduction="20000"/>
          </a:bodyPr>
          <a:lstStyle/>
          <a:p>
            <a:r>
              <a:rPr lang="en-US" sz="3600" dirty="0" err="1">
                <a:latin typeface="Times New Roman" pitchFamily="18" charset="0"/>
                <a:cs typeface="Times New Roman" pitchFamily="18" charset="0"/>
              </a:rPr>
              <a:t>Arpita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howlader</a:t>
            </a:r>
            <a:endParaRPr lang="en-US" sz="3600" dirty="0">
              <a:latin typeface="Times New Roman" pitchFamily="18" charset="0"/>
              <a:cs typeface="Times New Roman" pitchFamily="18" charset="0"/>
            </a:endParaRPr>
          </a:p>
          <a:p>
            <a:r>
              <a:rPr lang="en-US" sz="2800" dirty="0">
                <a:latin typeface="Times New Roman" pitchFamily="18" charset="0"/>
                <a:cs typeface="Times New Roman" pitchFamily="18" charset="0"/>
              </a:rPr>
              <a:t>Dept of Computer &amp; Communication Engineering</a:t>
            </a:r>
          </a:p>
          <a:p>
            <a:r>
              <a:rPr lang="en-US" sz="2800" dirty="0" err="1">
                <a:solidFill>
                  <a:schemeClr val="tx1"/>
                </a:solidFill>
                <a:latin typeface="Times New Roman" pitchFamily="18" charset="0"/>
                <a:cs typeface="Times New Roman" pitchFamily="18" charset="0"/>
              </a:rPr>
              <a:t>Patuakhali</a:t>
            </a:r>
            <a:r>
              <a:rPr lang="en-US" sz="2800" dirty="0">
                <a:solidFill>
                  <a:schemeClr val="tx1"/>
                </a:solidFill>
                <a:latin typeface="Times New Roman" pitchFamily="18" charset="0"/>
                <a:cs typeface="Times New Roman" pitchFamily="18" charset="0"/>
              </a:rPr>
              <a:t> Science and Technology University</a:t>
            </a:r>
            <a:endParaRPr lang="en-US" sz="2800" dirty="0">
              <a:solidFill>
                <a:schemeClr val="tx1"/>
              </a:solidFill>
            </a:endParaRPr>
          </a:p>
          <a:p>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a:t>
            </a:fld>
            <a:endParaRPr kumimoji="0" lang="en-US" sz="1400" dirty="0">
              <a:solidFill>
                <a:srgbClr val="FFFFFF"/>
              </a:solidFill>
            </a:endParaRPr>
          </a:p>
        </p:txBody>
      </p:sp>
      <p:sp>
        <p:nvSpPr>
          <p:cNvPr id="6" name="Date Placeholder 5"/>
          <p:cNvSpPr>
            <a:spLocks noGrp="1"/>
          </p:cNvSpPr>
          <p:nvPr>
            <p:ph type="dt" sz="half" idx="10"/>
          </p:nvPr>
        </p:nvSpPr>
        <p:spPr/>
        <p:txBody>
          <a:bodyPr/>
          <a:lstStyle/>
          <a:p>
            <a:fld id="{4F7D5A15-626E-41AB-8891-51619D86B8E5}" type="datetime1">
              <a:rPr lang="en-US" smtClean="0"/>
              <a:t>11/2/2024</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8001" y="624110"/>
            <a:ext cx="6589199" cy="671290"/>
          </a:xfrm>
        </p:spPr>
        <p:txBody>
          <a:bodyPr>
            <a:noAutofit/>
          </a:bodyPr>
          <a:lstStyle/>
          <a:p>
            <a:r>
              <a:rPr lang="en-US" sz="3600" b="1" dirty="0">
                <a:effectLst>
                  <a:outerShdw blurRad="38100" dist="38100" dir="2700000" algn="tl">
                    <a:srgbClr val="000000">
                      <a:alpha val="43137"/>
                    </a:srgbClr>
                  </a:outerShdw>
                </a:effectLst>
                <a:latin typeface="Times New Roman" pitchFamily="18" charset="0"/>
                <a:cs typeface="Times New Roman" pitchFamily="18" charset="0"/>
              </a:rPr>
              <a:t>Introduction</a:t>
            </a:r>
          </a:p>
        </p:txBody>
      </p:sp>
      <p:sp>
        <p:nvSpPr>
          <p:cNvPr id="7" name="Content Placeholder 6"/>
          <p:cNvSpPr>
            <a:spLocks noGrp="1"/>
          </p:cNvSpPr>
          <p:nvPr>
            <p:ph idx="1"/>
          </p:nvPr>
        </p:nvSpPr>
        <p:spPr>
          <a:xfrm>
            <a:off x="304800" y="1614744"/>
            <a:ext cx="8229600" cy="4373563"/>
          </a:xfrm>
        </p:spPr>
        <p:txBody>
          <a:bodyPr>
            <a:normAutofit lnSpcReduction="10000"/>
          </a:bodyPr>
          <a:lstStyle/>
          <a:p>
            <a:pPr algn="just"/>
            <a:r>
              <a:rPr lang="en-US" sz="2000" dirty="0">
                <a:latin typeface="Times New Roman" panose="02020603050405020304" pitchFamily="18" charset="0"/>
                <a:cs typeface="Times New Roman" panose="02020603050405020304" pitchFamily="18" charset="0"/>
              </a:rPr>
              <a:t>Optical fibers may be produced with good stable </a:t>
            </a:r>
            <a:r>
              <a:rPr lang="en-US" sz="2000" b="1" dirty="0">
                <a:latin typeface="Times New Roman" panose="02020603050405020304" pitchFamily="18" charset="0"/>
                <a:cs typeface="Times New Roman" panose="02020603050405020304" pitchFamily="18" charset="0"/>
              </a:rPr>
              <a:t>transmission characteristics in long lengths</a:t>
            </a:r>
            <a:r>
              <a:rPr lang="en-US" sz="2000" dirty="0">
                <a:latin typeface="Times New Roman" panose="02020603050405020304" pitchFamily="18" charset="0"/>
                <a:cs typeface="Times New Roman" panose="02020603050405020304" pitchFamily="18" charset="0"/>
              </a:rPr>
              <a:t> at a </a:t>
            </a:r>
            <a:r>
              <a:rPr lang="en-US" sz="2000" b="1" dirty="0">
                <a:latin typeface="Times New Roman" panose="02020603050405020304" pitchFamily="18" charset="0"/>
                <a:cs typeface="Times New Roman" panose="02020603050405020304" pitchFamily="18" charset="0"/>
              </a:rPr>
              <a:t>minimum cost </a:t>
            </a:r>
            <a:r>
              <a:rPr lang="en-US" sz="2000" dirty="0">
                <a:latin typeface="Times New Roman" panose="02020603050405020304" pitchFamily="18" charset="0"/>
                <a:cs typeface="Times New Roman" panose="02020603050405020304" pitchFamily="18" charset="0"/>
              </a:rPr>
              <a:t>and with </a:t>
            </a:r>
            <a:r>
              <a:rPr lang="en-US" sz="2000" b="1" dirty="0">
                <a:latin typeface="Times New Roman" panose="02020603050405020304" pitchFamily="18" charset="0"/>
                <a:cs typeface="Times New Roman" panose="02020603050405020304" pitchFamily="18" charset="0"/>
              </a:rPr>
              <a:t>maximum reproducibility.</a:t>
            </a:r>
          </a:p>
          <a:p>
            <a:pPr algn="just"/>
            <a:r>
              <a:rPr lang="en-US" sz="2000" dirty="0">
                <a:latin typeface="Times New Roman" panose="02020603050405020304" pitchFamily="18" charset="0"/>
                <a:cs typeface="Times New Roman" panose="02020603050405020304" pitchFamily="18" charset="0"/>
              </a:rPr>
              <a:t>A range of optical fiber types with regard to size, </a:t>
            </a:r>
            <a:r>
              <a:rPr lang="en-US" sz="2000" b="1" dirty="0">
                <a:latin typeface="Times New Roman" panose="02020603050405020304" pitchFamily="18" charset="0"/>
                <a:cs typeface="Times New Roman" panose="02020603050405020304" pitchFamily="18" charset="0"/>
              </a:rPr>
              <a:t>refractive indices and index profiles, </a:t>
            </a:r>
            <a:r>
              <a:rPr lang="en-US" sz="2000" dirty="0">
                <a:latin typeface="Times New Roman" panose="02020603050405020304" pitchFamily="18" charset="0"/>
                <a:cs typeface="Times New Roman" panose="02020603050405020304" pitchFamily="18" charset="0"/>
              </a:rPr>
              <a:t>operating wavelengths, materials, etc., be available in order to fulfill many different system applications.</a:t>
            </a:r>
          </a:p>
          <a:p>
            <a:r>
              <a:rPr lang="en-US" sz="2000" dirty="0">
                <a:latin typeface="Times New Roman" panose="02020603050405020304" pitchFamily="18" charset="0"/>
                <a:cs typeface="Times New Roman" panose="02020603050405020304" pitchFamily="18" charset="0"/>
              </a:rPr>
              <a:t>The fibers </a:t>
            </a:r>
            <a:r>
              <a:rPr lang="en-US" sz="2000" b="1" dirty="0">
                <a:latin typeface="Times New Roman" panose="02020603050405020304" pitchFamily="18" charset="0"/>
                <a:cs typeface="Times New Roman" panose="02020603050405020304" pitchFamily="18" charset="0"/>
              </a:rPr>
              <a:t>may be converted into practical cables </a:t>
            </a:r>
            <a:r>
              <a:rPr lang="en-US" sz="2000" dirty="0">
                <a:latin typeface="Times New Roman" panose="02020603050405020304" pitchFamily="18" charset="0"/>
                <a:cs typeface="Times New Roman" panose="02020603050405020304" pitchFamily="18" charset="0"/>
              </a:rPr>
              <a:t>which can be handled in a similar manner to conventional electrical transmission cables without problems associated with the degradation of their </a:t>
            </a:r>
            <a:r>
              <a:rPr lang="en-US" sz="2000" b="1" dirty="0">
                <a:latin typeface="Times New Roman" panose="02020603050405020304" pitchFamily="18" charset="0"/>
                <a:cs typeface="Times New Roman" panose="02020603050405020304" pitchFamily="18" charset="0"/>
              </a:rPr>
              <a:t>characteristics or damage</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The fibers and fiber cables may be terminated and connected together (jointed) without excessive practical difficulties and in ways which limit the effect of this process on the fiber transmission characteristics to keep them within acceptable operating levels.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a:t>
            </a:fld>
            <a:endParaRPr kumimoji="0" lang="en-US"/>
          </a:p>
        </p:txBody>
      </p:sp>
      <p:sp>
        <p:nvSpPr>
          <p:cNvPr id="3" name="Date Placeholder 2"/>
          <p:cNvSpPr>
            <a:spLocks noGrp="1"/>
          </p:cNvSpPr>
          <p:nvPr>
            <p:ph type="dt" sz="half" idx="10"/>
          </p:nvPr>
        </p:nvSpPr>
        <p:spPr/>
        <p:txBody>
          <a:bodyPr/>
          <a:lstStyle/>
          <a:p>
            <a:fld id="{D898F1BD-BACF-41A9-B975-7F4961B1785A}" type="datetime1">
              <a:rPr lang="en-US" smtClean="0"/>
              <a:t>11/2/2024</a:t>
            </a:fld>
            <a:endParaRPr lang="en-US"/>
          </a:p>
        </p:txBody>
      </p:sp>
    </p:spTree>
    <p:extLst>
      <p:ext uri="{BB962C8B-B14F-4D97-AF65-F5344CB8AC3E}">
        <p14:creationId xmlns:p14="http://schemas.microsoft.com/office/powerpoint/2010/main" val="192640055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6F42FDE4-A7DD-41A7-A0A6-9B649FB43336}" type="slidenum">
              <a:rPr kumimoji="0" lang="en-US" smtClean="0"/>
              <a:pPr/>
              <a:t>3</a:t>
            </a:fld>
            <a:endParaRPr kumimoji="0" lang="en-US"/>
          </a:p>
        </p:txBody>
      </p:sp>
      <p:pic>
        <p:nvPicPr>
          <p:cNvPr id="6" name="Picture 5"/>
          <p:cNvPicPr>
            <a:picLocks noChangeAspect="1"/>
          </p:cNvPicPr>
          <p:nvPr/>
        </p:nvPicPr>
        <p:blipFill>
          <a:blip r:embed="rId3"/>
          <a:stretch>
            <a:fillRect/>
          </a:stretch>
        </p:blipFill>
        <p:spPr>
          <a:xfrm>
            <a:off x="685800" y="1371600"/>
            <a:ext cx="8001000" cy="4114800"/>
          </a:xfrm>
          <a:prstGeom prst="rect">
            <a:avLst/>
          </a:prstGeom>
        </p:spPr>
      </p:pic>
      <p:sp>
        <p:nvSpPr>
          <p:cNvPr id="7" name="Date Placeholder 6"/>
          <p:cNvSpPr>
            <a:spLocks noGrp="1"/>
          </p:cNvSpPr>
          <p:nvPr>
            <p:ph type="dt" sz="half" idx="10"/>
          </p:nvPr>
        </p:nvSpPr>
        <p:spPr/>
        <p:txBody>
          <a:bodyPr/>
          <a:lstStyle/>
          <a:p>
            <a:fld id="{392ADE92-8F48-431D-A4A9-6805BCEB0E92}" type="datetime1">
              <a:rPr lang="en-US" smtClean="0"/>
              <a:t>11/2/2024</a:t>
            </a:fld>
            <a:endParaRPr lang="en-US"/>
          </a:p>
        </p:txBody>
      </p:sp>
    </p:spTree>
    <p:extLst>
      <p:ext uri="{BB962C8B-B14F-4D97-AF65-F5344CB8AC3E}">
        <p14:creationId xmlns:p14="http://schemas.microsoft.com/office/powerpoint/2010/main" val="1817527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655638"/>
            <a:ext cx="7467600" cy="792162"/>
          </a:xfr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sz="3600" spc="50" dirty="0">
                <a:ln w="11430"/>
                <a:latin typeface="Times New Roman" pitchFamily="18" charset="0"/>
                <a:cs typeface="Times New Roman" pitchFamily="18" charset="0"/>
              </a:rPr>
              <a:t>Preparation of optical fibers</a:t>
            </a:r>
            <a:endParaRPr lang="en-US" sz="3600" u="sng" spc="50" dirty="0">
              <a:ln w="11430"/>
            </a:endParaRPr>
          </a:p>
        </p:txBody>
      </p:sp>
      <p:sp>
        <p:nvSpPr>
          <p:cNvPr id="3" name="Content Placeholder 2"/>
          <p:cNvSpPr>
            <a:spLocks noGrp="1"/>
          </p:cNvSpPr>
          <p:nvPr>
            <p:ph idx="1"/>
          </p:nvPr>
        </p:nvSpPr>
        <p:spPr>
          <a:xfrm>
            <a:off x="381000" y="1447800"/>
            <a:ext cx="8534400" cy="5029200"/>
          </a:xfrm>
        </p:spPr>
        <p:txBody>
          <a:bodyPr>
            <a:noAutofit/>
          </a:bodyPr>
          <a:lstStyle/>
          <a:p>
            <a:pPr algn="just"/>
            <a:r>
              <a:rPr lang="en-US" sz="2000" dirty="0">
                <a:latin typeface="Times New Roman" panose="02020603050405020304" pitchFamily="18" charset="0"/>
                <a:cs typeface="Times New Roman" panose="02020603050405020304" pitchFamily="18" charset="0"/>
              </a:rPr>
              <a:t>Two-stage process in which initially the pure glass is produced and converted into a form (rod or preform) suitable for making the fiber. </a:t>
            </a:r>
          </a:p>
          <a:p>
            <a:pPr algn="just"/>
            <a:r>
              <a:rPr lang="en-US" sz="2000" dirty="0">
                <a:latin typeface="Times New Roman" panose="02020603050405020304" pitchFamily="18" charset="0"/>
                <a:cs typeface="Times New Roman" panose="02020603050405020304" pitchFamily="18" charset="0"/>
              </a:rPr>
              <a:t>A drawing or pulling technique is then employed to acquire the end product. The methods of preparing the extremely pure optical glasses generally fall into </a:t>
            </a:r>
            <a:r>
              <a:rPr lang="en-US" sz="2000" b="1" dirty="0">
                <a:latin typeface="Times New Roman" panose="02020603050405020304" pitchFamily="18" charset="0"/>
                <a:cs typeface="Times New Roman" panose="02020603050405020304" pitchFamily="18" charset="0"/>
              </a:rPr>
              <a:t>two major categories </a:t>
            </a:r>
            <a:r>
              <a:rPr lang="en-US" sz="2000" dirty="0">
                <a:latin typeface="Times New Roman" panose="02020603050405020304" pitchFamily="18" charset="0"/>
                <a:cs typeface="Times New Roman" panose="02020603050405020304" pitchFamily="18" charset="0"/>
              </a:rPr>
              <a:t>which are:</a:t>
            </a:r>
          </a:p>
          <a:p>
            <a:pPr marL="800100" lvl="1" indent="-342900" algn="just">
              <a:buFont typeface="+mj-lt"/>
              <a:buAutoNum type="alphaLcParenR"/>
            </a:pPr>
            <a:r>
              <a:rPr lang="en-US" sz="2000" b="1" dirty="0">
                <a:latin typeface="Times New Roman" panose="02020603050405020304" pitchFamily="18" charset="0"/>
                <a:cs typeface="Times New Roman" panose="02020603050405020304" pitchFamily="18" charset="0"/>
              </a:rPr>
              <a:t>conventional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glass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refining</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techniques</a:t>
            </a:r>
            <a:r>
              <a:rPr lang="en-US" sz="2000" dirty="0">
                <a:latin typeface="Times New Roman" panose="02020603050405020304" pitchFamily="18" charset="0"/>
                <a:cs typeface="Times New Roman" panose="02020603050405020304" pitchFamily="18" charset="0"/>
              </a:rPr>
              <a:t> in which the glass is processed in the </a:t>
            </a:r>
            <a:r>
              <a:rPr lang="en-US" sz="2000" b="1" dirty="0">
                <a:latin typeface="Times New Roman" panose="02020603050405020304" pitchFamily="18" charset="0"/>
                <a:cs typeface="Times New Roman" panose="02020603050405020304" pitchFamily="18" charset="0"/>
              </a:rPr>
              <a:t>molten</a:t>
            </a:r>
            <a:r>
              <a:rPr lang="en-US" sz="2000" dirty="0">
                <a:latin typeface="Times New Roman" panose="02020603050405020304" pitchFamily="18" charset="0"/>
                <a:cs typeface="Times New Roman" panose="02020603050405020304" pitchFamily="18" charset="0"/>
              </a:rPr>
              <a:t> state (</a:t>
            </a:r>
            <a:r>
              <a:rPr lang="en-US" sz="2000" b="1" dirty="0">
                <a:latin typeface="Times New Roman" panose="02020603050405020304" pitchFamily="18" charset="0"/>
                <a:cs typeface="Times New Roman" panose="02020603050405020304" pitchFamily="18" charset="0"/>
              </a:rPr>
              <a:t>melting</a:t>
            </a:r>
            <a:r>
              <a:rPr lang="en-US" sz="2000" dirty="0">
                <a:latin typeface="Times New Roman" panose="02020603050405020304" pitchFamily="18" charset="0"/>
                <a:cs typeface="Times New Roman" panose="02020603050405020304" pitchFamily="18" charset="0"/>
              </a:rPr>
              <a:t> methods) producing a multicomponent glass structure;</a:t>
            </a:r>
          </a:p>
          <a:p>
            <a:pPr marL="800100" lvl="1" indent="-342900">
              <a:buFont typeface="+mj-lt"/>
              <a:buAutoNum type="alphaLcParenR"/>
            </a:pPr>
            <a:r>
              <a:rPr lang="en-US" sz="2000" b="1" dirty="0">
                <a:latin typeface="Times New Roman" panose="02020603050405020304" pitchFamily="18" charset="0"/>
                <a:cs typeface="Times New Roman" panose="02020603050405020304" pitchFamily="18" charset="0"/>
              </a:rPr>
              <a:t>vapor-phase deposition </a:t>
            </a:r>
            <a:r>
              <a:rPr lang="en-US" sz="2000" dirty="0">
                <a:latin typeface="Times New Roman" panose="02020603050405020304" pitchFamily="18" charset="0"/>
                <a:cs typeface="Times New Roman" panose="02020603050405020304" pitchFamily="18" charset="0"/>
              </a:rPr>
              <a:t>methods </a:t>
            </a:r>
            <a:r>
              <a:rPr lang="en-US" sz="2000" b="1" dirty="0">
                <a:latin typeface="Times New Roman" panose="02020603050405020304" pitchFamily="18" charset="0"/>
                <a:cs typeface="Times New Roman" panose="02020603050405020304" pitchFamily="18" charset="0"/>
              </a:rPr>
              <a:t>producing silica-rich </a:t>
            </a:r>
            <a:r>
              <a:rPr lang="en-US" sz="2000" dirty="0">
                <a:latin typeface="Times New Roman" panose="02020603050405020304" pitchFamily="18" charset="0"/>
                <a:cs typeface="Times New Roman" panose="02020603050405020304" pitchFamily="18" charset="0"/>
              </a:rPr>
              <a:t>glasses which have </a:t>
            </a:r>
            <a:r>
              <a:rPr lang="en-US" sz="2000" b="1" dirty="0">
                <a:latin typeface="Times New Roman" panose="02020603050405020304" pitchFamily="18" charset="0"/>
                <a:cs typeface="Times New Roman" panose="02020603050405020304" pitchFamily="18" charset="0"/>
              </a:rPr>
              <a:t>melting temperatures </a:t>
            </a:r>
            <a:r>
              <a:rPr lang="en-US" sz="2000" dirty="0">
                <a:latin typeface="Times New Roman" panose="02020603050405020304" pitchFamily="18" charset="0"/>
                <a:cs typeface="Times New Roman" panose="02020603050405020304" pitchFamily="18" charset="0"/>
              </a:rPr>
              <a:t>that are too high to allow the conventional melt process.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endParaRPr lang="en-US" sz="2000" dirty="0"/>
          </a:p>
        </p:txBody>
      </p:sp>
      <p:sp>
        <p:nvSpPr>
          <p:cNvPr id="18" name="Slide Number Placeholder 17"/>
          <p:cNvSpPr>
            <a:spLocks noGrp="1"/>
          </p:cNvSpPr>
          <p:nvPr>
            <p:ph type="sldNum" sz="quarter" idx="12"/>
          </p:nvPr>
        </p:nvSpPr>
        <p:spPr/>
        <p:txBody>
          <a:bodyPr/>
          <a:lstStyle/>
          <a:p>
            <a:fld id="{6F42FDE4-A7DD-41A7-A0A6-9B649FB43336}" type="slidenum">
              <a:rPr kumimoji="0" lang="en-US" smtClean="0"/>
              <a:pPr/>
              <a:t>4</a:t>
            </a:fld>
            <a:endParaRPr kumimoji="0" lang="en-US"/>
          </a:p>
        </p:txBody>
      </p:sp>
      <p:sp>
        <p:nvSpPr>
          <p:cNvPr id="4" name="Date Placeholder 3"/>
          <p:cNvSpPr>
            <a:spLocks noGrp="1"/>
          </p:cNvSpPr>
          <p:nvPr>
            <p:ph type="dt" sz="half" idx="10"/>
          </p:nvPr>
        </p:nvSpPr>
        <p:spPr/>
        <p:txBody>
          <a:bodyPr/>
          <a:lstStyle/>
          <a:p>
            <a:fld id="{E6170970-89FA-4557-9AA8-A9CA47E94387}" type="datetime1">
              <a:rPr lang="en-US" smtClean="0"/>
              <a:t>11/2/2024</a:t>
            </a:fld>
            <a:endParaRPr lang="en-US"/>
          </a:p>
        </p:txBody>
      </p:sp>
    </p:spTree>
    <p:extLst>
      <p:ext uri="{BB962C8B-B14F-4D97-AF65-F5344CB8AC3E}">
        <p14:creationId xmlns:p14="http://schemas.microsoft.com/office/powerpoint/2010/main" val="26789456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500"/>
                                        <p:tgtEl>
                                          <p:spTgt spid="3">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linds(horizontal)">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55638"/>
            <a:ext cx="8229600" cy="792162"/>
          </a:xfrm>
        </p:spPr>
        <p:txBody>
          <a:bodyPr>
            <a:normAutofit/>
          </a:bodyPr>
          <a:lstStyle/>
          <a:p>
            <a:r>
              <a:rPr lang="en-US" sz="3600" dirty="0">
                <a:latin typeface="Times New Roman" panose="02020603050405020304" pitchFamily="18" charset="0"/>
                <a:cs typeface="Times New Roman" panose="02020603050405020304" pitchFamily="18" charset="0"/>
              </a:rPr>
              <a:t>Liquid-phase (melting) techniques</a:t>
            </a:r>
          </a:p>
        </p:txBody>
      </p:sp>
      <p:sp>
        <p:nvSpPr>
          <p:cNvPr id="3" name="Content Placeholder 2"/>
          <p:cNvSpPr>
            <a:spLocks noGrp="1"/>
          </p:cNvSpPr>
          <p:nvPr>
            <p:ph idx="1"/>
          </p:nvPr>
        </p:nvSpPr>
        <p:spPr>
          <a:xfrm>
            <a:off x="457200" y="1447800"/>
            <a:ext cx="8382000" cy="5257800"/>
          </a:xfrm>
        </p:spPr>
        <p:txBody>
          <a:bodyPr>
            <a:normAutofit fontScale="92500" lnSpcReduction="10000"/>
          </a:bodyPr>
          <a:lstStyle/>
          <a:p>
            <a:r>
              <a:rPr lang="en-US" sz="1800" dirty="0">
                <a:latin typeface="Times New Roman" panose="02020603050405020304" pitchFamily="18" charset="0"/>
                <a:cs typeface="Times New Roman" panose="02020603050405020304" pitchFamily="18" charset="0"/>
              </a:rPr>
              <a:t>The first stage in this process is the preparation of </a:t>
            </a:r>
            <a:r>
              <a:rPr lang="en-US" sz="1800" b="1" dirty="0">
                <a:latin typeface="Times New Roman" panose="02020603050405020304" pitchFamily="18" charset="0"/>
                <a:cs typeface="Times New Roman" panose="02020603050405020304" pitchFamily="18" charset="0"/>
              </a:rPr>
              <a:t>ultrapure material powders </a:t>
            </a:r>
            <a:r>
              <a:rPr lang="en-US" sz="1800" dirty="0">
                <a:latin typeface="Times New Roman" panose="02020603050405020304" pitchFamily="18" charset="0"/>
                <a:cs typeface="Times New Roman" panose="02020603050405020304" pitchFamily="18" charset="0"/>
              </a:rPr>
              <a:t>which are usually </a:t>
            </a:r>
            <a:r>
              <a:rPr lang="en-US" sz="1800" b="1" dirty="0">
                <a:latin typeface="Times New Roman" panose="02020603050405020304" pitchFamily="18" charset="0"/>
                <a:cs typeface="Times New Roman" panose="02020603050405020304" pitchFamily="18" charset="0"/>
              </a:rPr>
              <a:t>oxides or carbonates </a:t>
            </a:r>
            <a:r>
              <a:rPr lang="en-US" sz="1800" dirty="0">
                <a:latin typeface="Times New Roman" panose="02020603050405020304" pitchFamily="18" charset="0"/>
                <a:cs typeface="Times New Roman" panose="02020603050405020304" pitchFamily="18" charset="0"/>
              </a:rPr>
              <a:t>of the required constituents. </a:t>
            </a:r>
          </a:p>
          <a:p>
            <a:r>
              <a:rPr lang="en-US" sz="1800" dirty="0">
                <a:latin typeface="Times New Roman" panose="02020603050405020304" pitchFamily="18" charset="0"/>
                <a:cs typeface="Times New Roman" panose="02020603050405020304" pitchFamily="18" charset="0"/>
              </a:rPr>
              <a:t>These include oxides such as SiO</a:t>
            </a:r>
            <a:r>
              <a:rPr lang="en-US" sz="11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 GeO</a:t>
            </a:r>
            <a:r>
              <a:rPr lang="en-US" sz="12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 B</a:t>
            </a:r>
            <a:r>
              <a:rPr lang="en-US" sz="12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O</a:t>
            </a:r>
            <a:r>
              <a:rPr lang="en-US" sz="12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 and A</a:t>
            </a:r>
            <a:r>
              <a:rPr lang="en-US" sz="12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O</a:t>
            </a:r>
            <a:r>
              <a:rPr lang="en-US" sz="1200" dirty="0">
                <a:latin typeface="Times New Roman" panose="02020603050405020304" pitchFamily="18" charset="0"/>
                <a:cs typeface="Times New Roman" panose="02020603050405020304" pitchFamily="18" charset="0"/>
              </a:rPr>
              <a:t>3</a:t>
            </a:r>
            <a:r>
              <a:rPr lang="en-US" sz="1800" dirty="0">
                <a:latin typeface="Times New Roman" panose="02020603050405020304" pitchFamily="18" charset="0"/>
                <a:cs typeface="Times New Roman" panose="02020603050405020304" pitchFamily="18" charset="0"/>
              </a:rPr>
              <a:t>, and carbonates such as Na</a:t>
            </a:r>
            <a:r>
              <a:rPr lang="en-US" sz="12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CO</a:t>
            </a:r>
            <a:r>
              <a:rPr lang="en-US" sz="1200" dirty="0">
                <a:latin typeface="Times New Roman" panose="02020603050405020304" pitchFamily="18" charset="0"/>
                <a:cs typeface="Times New Roman" panose="02020603050405020304" pitchFamily="18" charset="0"/>
              </a:rPr>
              <a:t>3</a:t>
            </a:r>
            <a:r>
              <a:rPr lang="en-US" sz="1800" dirty="0">
                <a:latin typeface="Times New Roman" panose="02020603050405020304" pitchFamily="18" charset="0"/>
                <a:cs typeface="Times New Roman" panose="02020603050405020304" pitchFamily="18" charset="0"/>
              </a:rPr>
              <a:t>, K</a:t>
            </a:r>
            <a:r>
              <a:rPr lang="en-US" sz="12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CO</a:t>
            </a:r>
            <a:r>
              <a:rPr lang="en-US" sz="1200" dirty="0">
                <a:latin typeface="Times New Roman" panose="02020603050405020304" pitchFamily="18" charset="0"/>
                <a:cs typeface="Times New Roman" panose="02020603050405020304" pitchFamily="18" charset="0"/>
              </a:rPr>
              <a:t>3</a:t>
            </a:r>
            <a:r>
              <a:rPr lang="en-US" sz="1800" dirty="0">
                <a:latin typeface="Times New Roman" panose="02020603050405020304" pitchFamily="18" charset="0"/>
                <a:cs typeface="Times New Roman" panose="02020603050405020304" pitchFamily="18" charset="0"/>
              </a:rPr>
              <a:t>, CaCO</a:t>
            </a:r>
            <a:r>
              <a:rPr lang="en-US" sz="1400" dirty="0">
                <a:latin typeface="Times New Roman" panose="02020603050405020304" pitchFamily="18" charset="0"/>
                <a:cs typeface="Times New Roman" panose="02020603050405020304" pitchFamily="18" charset="0"/>
              </a:rPr>
              <a:t>3</a:t>
            </a:r>
            <a:r>
              <a:rPr lang="en-US" sz="1800" dirty="0">
                <a:latin typeface="Times New Roman" panose="02020603050405020304" pitchFamily="18" charset="0"/>
                <a:cs typeface="Times New Roman" panose="02020603050405020304" pitchFamily="18" charset="0"/>
              </a:rPr>
              <a:t> and BaCO</a:t>
            </a:r>
            <a:r>
              <a:rPr lang="en-US" sz="1200" dirty="0">
                <a:latin typeface="Times New Roman" panose="02020603050405020304" pitchFamily="18" charset="0"/>
                <a:cs typeface="Times New Roman" panose="02020603050405020304" pitchFamily="18" charset="0"/>
              </a:rPr>
              <a:t>3</a:t>
            </a:r>
            <a:r>
              <a:rPr lang="en-US" sz="1800" dirty="0">
                <a:latin typeface="Times New Roman" panose="02020603050405020304" pitchFamily="18" charset="0"/>
                <a:cs typeface="Times New Roman" panose="02020603050405020304" pitchFamily="18" charset="0"/>
              </a:rPr>
              <a:t> which will </a:t>
            </a:r>
            <a:r>
              <a:rPr lang="en-US" sz="1800" b="1" dirty="0">
                <a:latin typeface="Times New Roman" panose="02020603050405020304" pitchFamily="18" charset="0"/>
                <a:cs typeface="Times New Roman" panose="02020603050405020304" pitchFamily="18" charset="0"/>
              </a:rPr>
              <a:t>decompose into oxides </a:t>
            </a:r>
            <a:r>
              <a:rPr lang="en-US" sz="1800" dirty="0">
                <a:latin typeface="Times New Roman" panose="02020603050405020304" pitchFamily="18" charset="0"/>
                <a:cs typeface="Times New Roman" panose="02020603050405020304" pitchFamily="18" charset="0"/>
              </a:rPr>
              <a:t>during the glass melting. </a:t>
            </a:r>
          </a:p>
          <a:p>
            <a:r>
              <a:rPr lang="en-US" sz="1800" b="1" dirty="0">
                <a:latin typeface="Times New Roman" panose="02020603050405020304" pitchFamily="18" charset="0"/>
                <a:cs typeface="Times New Roman" panose="02020603050405020304" pitchFamily="18" charset="0"/>
              </a:rPr>
              <a:t>Very high initial purity is essential </a:t>
            </a:r>
            <a:r>
              <a:rPr lang="en-US" sz="1800" dirty="0">
                <a:latin typeface="Times New Roman" panose="02020603050405020304" pitchFamily="18" charset="0"/>
                <a:cs typeface="Times New Roman" panose="02020603050405020304" pitchFamily="18" charset="0"/>
              </a:rPr>
              <a:t>and purification accounts for a large proportion of the material cost </a:t>
            </a:r>
          </a:p>
          <a:p>
            <a:r>
              <a:rPr lang="en-US" sz="1800" dirty="0">
                <a:latin typeface="Times New Roman" panose="02020603050405020304" pitchFamily="18" charset="0"/>
                <a:cs typeface="Times New Roman" panose="02020603050405020304" pitchFamily="18" charset="0"/>
              </a:rPr>
              <a:t>The purification may therefore involve combined techniques of </a:t>
            </a:r>
            <a:r>
              <a:rPr lang="en-US" sz="1800" b="1" dirty="0">
                <a:latin typeface="Times New Roman" panose="02020603050405020304" pitchFamily="18" charset="0"/>
                <a:cs typeface="Times New Roman" panose="02020603050405020304" pitchFamily="18" charset="0"/>
              </a:rPr>
              <a:t>fine filtration and co-precipitation</a:t>
            </a:r>
          </a:p>
          <a:p>
            <a:r>
              <a:rPr lang="en-US" sz="1800" dirty="0">
                <a:latin typeface="Times New Roman" panose="02020603050405020304" pitchFamily="18" charset="0"/>
                <a:cs typeface="Times New Roman" panose="02020603050405020304" pitchFamily="18" charset="0"/>
              </a:rPr>
              <a:t>The next stage is to melt these high-purity, powdered, low-melting-point glass materials to form a </a:t>
            </a:r>
            <a:r>
              <a:rPr lang="en-US" sz="1800" b="1" dirty="0">
                <a:latin typeface="Times New Roman" panose="02020603050405020304" pitchFamily="18" charset="0"/>
                <a:cs typeface="Times New Roman" panose="02020603050405020304" pitchFamily="18" charset="0"/>
              </a:rPr>
              <a:t>homogeneous, bubble-free multicomponent glass</a:t>
            </a:r>
          </a:p>
          <a:p>
            <a:r>
              <a:rPr lang="en-US" dirty="0">
                <a:latin typeface="Times New Roman" panose="02020603050405020304" pitchFamily="18" charset="0"/>
                <a:cs typeface="Times New Roman" panose="02020603050405020304" pitchFamily="18" charset="0"/>
              </a:rPr>
              <a:t>The melting of these multicomponent glass systems occurs at relatively low temperatures between </a:t>
            </a:r>
            <a:r>
              <a:rPr lang="en-US" b="1" dirty="0">
                <a:latin typeface="Times New Roman" panose="02020603050405020304" pitchFamily="18" charset="0"/>
                <a:cs typeface="Times New Roman" panose="02020603050405020304" pitchFamily="18" charset="0"/>
              </a:rPr>
              <a:t>900 and 1300 </a:t>
            </a:r>
            <a:r>
              <a:rPr lang="en-US" dirty="0">
                <a:latin typeface="Times New Roman" panose="02020603050405020304" pitchFamily="18" charset="0"/>
                <a:cs typeface="Times New Roman" panose="02020603050405020304" pitchFamily="18" charset="0"/>
              </a:rPr>
              <a:t>°C and take place in a </a:t>
            </a:r>
            <a:r>
              <a:rPr lang="en-US" b="1" dirty="0">
                <a:latin typeface="Times New Roman" panose="02020603050405020304" pitchFamily="18" charset="0"/>
                <a:cs typeface="Times New Roman" panose="02020603050405020304" pitchFamily="18" charset="0"/>
              </a:rPr>
              <a:t>silica crucible</a:t>
            </a:r>
          </a:p>
          <a:p>
            <a:r>
              <a:rPr lang="en-US" dirty="0">
                <a:latin typeface="Times New Roman" panose="02020603050405020304" pitchFamily="18" charset="0"/>
                <a:cs typeface="Times New Roman" panose="02020603050405020304" pitchFamily="18" charset="0"/>
              </a:rPr>
              <a:t>Silica crucibles can give </a:t>
            </a:r>
            <a:r>
              <a:rPr lang="en-US" b="1" dirty="0">
                <a:latin typeface="Times New Roman" panose="02020603050405020304" pitchFamily="18" charset="0"/>
                <a:cs typeface="Times New Roman" panose="02020603050405020304" pitchFamily="18" charset="0"/>
              </a:rPr>
              <a:t>dissolution into the melt </a:t>
            </a:r>
            <a:r>
              <a:rPr lang="en-US" dirty="0">
                <a:latin typeface="Times New Roman" panose="02020603050405020304" pitchFamily="18" charset="0"/>
                <a:cs typeface="Times New Roman" panose="02020603050405020304" pitchFamily="18" charset="0"/>
              </a:rPr>
              <a:t>, for avoiding this involves melting the glass directly into a radio-frequency induction furnace </a:t>
            </a:r>
            <a:r>
              <a:rPr lang="en-US" b="1" dirty="0">
                <a:latin typeface="Times New Roman" panose="02020603050405020304" pitchFamily="18" charset="0"/>
                <a:cs typeface="Times New Roman" panose="02020603050405020304" pitchFamily="18" charset="0"/>
              </a:rPr>
              <a:t>while cooling the silica by gas or water flow</a:t>
            </a:r>
          </a:p>
          <a:p>
            <a:r>
              <a:rPr lang="en-US" dirty="0">
                <a:latin typeface="Times New Roman" panose="02020603050405020304" pitchFamily="18" charset="0"/>
                <a:cs typeface="Times New Roman" panose="02020603050405020304" pitchFamily="18" charset="0"/>
              </a:rPr>
              <a:t>After t melt has been processed, it is </a:t>
            </a:r>
            <a:r>
              <a:rPr lang="en-US" b="1" dirty="0">
                <a:latin typeface="Times New Roman" panose="02020603050405020304" pitchFamily="18" charset="0"/>
                <a:cs typeface="Times New Roman" panose="02020603050405020304" pitchFamily="18" charset="0"/>
              </a:rPr>
              <a:t>cooled and formed into long rods </a:t>
            </a:r>
            <a:r>
              <a:rPr lang="en-US" dirty="0">
                <a:latin typeface="Times New Roman" panose="02020603050405020304" pitchFamily="18" charset="0"/>
                <a:cs typeface="Times New Roman" panose="02020603050405020304" pitchFamily="18" charset="0"/>
              </a:rPr>
              <a:t>(cane) of multicomponent glass</a:t>
            </a:r>
            <a:endParaRPr lang="en-US"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5</a:t>
            </a:fld>
            <a:endParaRPr kumimoji="0" lang="en-US"/>
          </a:p>
        </p:txBody>
      </p:sp>
      <p:sp>
        <p:nvSpPr>
          <p:cNvPr id="6" name="Date Placeholder 5"/>
          <p:cNvSpPr>
            <a:spLocks noGrp="1"/>
          </p:cNvSpPr>
          <p:nvPr>
            <p:ph type="dt" sz="half" idx="10"/>
          </p:nvPr>
        </p:nvSpPr>
        <p:spPr/>
        <p:txBody>
          <a:bodyPr/>
          <a:lstStyle/>
          <a:p>
            <a:fld id="{E5C84717-4A4F-4A2D-891A-20247FC0C1C0}" type="datetime1">
              <a:rPr lang="en-US" smtClean="0"/>
              <a:t>11/2/2024</a:t>
            </a:fld>
            <a:endParaRPr lang="en-US"/>
          </a:p>
        </p:txBody>
      </p:sp>
    </p:spTree>
    <p:extLst>
      <p:ext uri="{BB962C8B-B14F-4D97-AF65-F5344CB8AC3E}">
        <p14:creationId xmlns:p14="http://schemas.microsoft.com/office/powerpoint/2010/main" val="1981354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1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6F42FDE4-A7DD-41A7-A0A6-9B649FB43336}" type="slidenum">
              <a:rPr kumimoji="0" lang="en-US" smtClean="0"/>
              <a:pPr/>
              <a:t>6</a:t>
            </a:fld>
            <a:endParaRPr kumimoji="0" lang="en-US"/>
          </a:p>
        </p:txBody>
      </p:sp>
      <p:pic>
        <p:nvPicPr>
          <p:cNvPr id="5" name="Picture 4"/>
          <p:cNvPicPr>
            <a:picLocks noChangeAspect="1"/>
          </p:cNvPicPr>
          <p:nvPr/>
        </p:nvPicPr>
        <p:blipFill>
          <a:blip r:embed="rId3"/>
          <a:stretch>
            <a:fillRect/>
          </a:stretch>
        </p:blipFill>
        <p:spPr>
          <a:xfrm>
            <a:off x="4829740" y="132734"/>
            <a:ext cx="4314260" cy="5658466"/>
          </a:xfrm>
          <a:prstGeom prst="rect">
            <a:avLst/>
          </a:prstGeom>
        </p:spPr>
      </p:pic>
      <p:pic>
        <p:nvPicPr>
          <p:cNvPr id="11" name="Picture 10"/>
          <p:cNvPicPr>
            <a:picLocks noChangeAspect="1"/>
          </p:cNvPicPr>
          <p:nvPr/>
        </p:nvPicPr>
        <p:blipFill>
          <a:blip r:embed="rId4"/>
          <a:stretch>
            <a:fillRect/>
          </a:stretch>
        </p:blipFill>
        <p:spPr>
          <a:xfrm>
            <a:off x="0" y="184354"/>
            <a:ext cx="5075946" cy="5302046"/>
          </a:xfrm>
          <a:prstGeom prst="rect">
            <a:avLst/>
          </a:prstGeom>
        </p:spPr>
      </p:pic>
      <p:sp>
        <p:nvSpPr>
          <p:cNvPr id="8" name="TextBox 7"/>
          <p:cNvSpPr txBox="1"/>
          <p:nvPr/>
        </p:nvSpPr>
        <p:spPr>
          <a:xfrm>
            <a:off x="918723" y="5571236"/>
            <a:ext cx="3238500" cy="584775"/>
          </a:xfrm>
          <a:prstGeom prst="rect">
            <a:avLst/>
          </a:prstGeom>
          <a:noFill/>
        </p:spPr>
        <p:txBody>
          <a:bodyPr wrap="square" rtlCol="0">
            <a:spAutoFit/>
          </a:bodyPr>
          <a:lstStyle/>
          <a:p>
            <a:r>
              <a:rPr lang="en-US" sz="1600" dirty="0">
                <a:latin typeface="Adobe Caslon Pro" panose="0205050205050A020403" pitchFamily="18" charset="0"/>
              </a:rPr>
              <a:t>Glassmaking furnace for the production of high-purity glasses </a:t>
            </a:r>
          </a:p>
        </p:txBody>
      </p:sp>
      <p:sp>
        <p:nvSpPr>
          <p:cNvPr id="13" name="TextBox 12"/>
          <p:cNvSpPr txBox="1"/>
          <p:nvPr/>
        </p:nvSpPr>
        <p:spPr>
          <a:xfrm>
            <a:off x="5715000" y="5754469"/>
            <a:ext cx="3429000" cy="584775"/>
          </a:xfrm>
          <a:prstGeom prst="rect">
            <a:avLst/>
          </a:prstGeom>
          <a:noFill/>
        </p:spPr>
        <p:txBody>
          <a:bodyPr wrap="square" rtlCol="0">
            <a:spAutoFit/>
          </a:bodyPr>
          <a:lstStyle/>
          <a:p>
            <a:r>
              <a:rPr lang="en-US" sz="1600" dirty="0">
                <a:latin typeface="Adobe Caslon Pro" panose="0205050205050A020403" pitchFamily="18" charset="0"/>
              </a:rPr>
              <a:t>High-purity melting using a radio-frequency induction furnace </a:t>
            </a:r>
          </a:p>
        </p:txBody>
      </p:sp>
      <p:sp>
        <p:nvSpPr>
          <p:cNvPr id="4" name="Date Placeholder 3"/>
          <p:cNvSpPr>
            <a:spLocks noGrp="1"/>
          </p:cNvSpPr>
          <p:nvPr>
            <p:ph type="dt" sz="half" idx="10"/>
          </p:nvPr>
        </p:nvSpPr>
        <p:spPr/>
        <p:txBody>
          <a:bodyPr/>
          <a:lstStyle/>
          <a:p>
            <a:fld id="{36E23A8B-F66D-4AE3-8AE9-3E0C4727DEEA}" type="datetime1">
              <a:rPr lang="en-US" smtClean="0"/>
              <a:t>11/2/2024</a:t>
            </a:fld>
            <a:endParaRPr lang="en-US"/>
          </a:p>
        </p:txBody>
      </p:sp>
    </p:spTree>
    <p:extLst>
      <p:ext uri="{BB962C8B-B14F-4D97-AF65-F5344CB8AC3E}">
        <p14:creationId xmlns:p14="http://schemas.microsoft.com/office/powerpoint/2010/main" val="3351322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09600"/>
            <a:ext cx="4114800" cy="868362"/>
          </a:xfrm>
        </p:spPr>
        <p:txBody>
          <a:bodyPr>
            <a:normAutofit/>
          </a:bodyPr>
          <a:lstStyle/>
          <a:p>
            <a:r>
              <a:rPr lang="en-US" sz="3600" dirty="0">
                <a:latin typeface="Times New Roman" panose="02020603050405020304" pitchFamily="18" charset="0"/>
                <a:cs typeface="Times New Roman" panose="02020603050405020304" pitchFamily="18" charset="0"/>
              </a:rPr>
              <a:t>Fiber drawing </a:t>
            </a:r>
          </a:p>
        </p:txBody>
      </p:sp>
      <p:sp>
        <p:nvSpPr>
          <p:cNvPr id="3" name="Content Placeholder 2"/>
          <p:cNvSpPr>
            <a:spLocks noGrp="1"/>
          </p:cNvSpPr>
          <p:nvPr>
            <p:ph idx="1"/>
          </p:nvPr>
        </p:nvSpPr>
        <p:spPr>
          <a:xfrm>
            <a:off x="457200" y="1417637"/>
            <a:ext cx="8229600" cy="4983163"/>
          </a:xfrm>
        </p:spPr>
        <p:txBody>
          <a:bodyPr>
            <a:normAutofit/>
          </a:bodyPr>
          <a:lstStyle/>
          <a:p>
            <a:r>
              <a:rPr lang="en-US" sz="1800" dirty="0">
                <a:latin typeface="Times New Roman" panose="02020603050405020304" pitchFamily="18" charset="0"/>
                <a:cs typeface="Times New Roman" panose="02020603050405020304" pitchFamily="18" charset="0"/>
              </a:rPr>
              <a:t>An original technique </a:t>
            </a:r>
            <a:r>
              <a:rPr lang="en-US" sz="1800" b="1" dirty="0">
                <a:latin typeface="Times New Roman" panose="02020603050405020304" pitchFamily="18" charset="0"/>
                <a:cs typeface="Times New Roman" panose="02020603050405020304" pitchFamily="18" charset="0"/>
              </a:rPr>
              <a:t>for producing fine optical fiber waveguides </a:t>
            </a:r>
            <a:r>
              <a:rPr lang="en-US" sz="1800" dirty="0">
                <a:latin typeface="Times New Roman" panose="02020603050405020304" pitchFamily="18" charset="0"/>
                <a:cs typeface="Times New Roman" panose="02020603050405020304" pitchFamily="18" charset="0"/>
              </a:rPr>
              <a:t>was to make a preform using </a:t>
            </a:r>
            <a:r>
              <a:rPr lang="en-US" sz="1800" b="1" dirty="0">
                <a:latin typeface="Times New Roman" panose="02020603050405020304" pitchFamily="18" charset="0"/>
                <a:cs typeface="Times New Roman" panose="02020603050405020304" pitchFamily="18" charset="0"/>
              </a:rPr>
              <a:t>the rod in tube process</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rod of core glass </a:t>
            </a:r>
            <a:r>
              <a:rPr lang="en-US" sz="1800" dirty="0">
                <a:latin typeface="Times New Roman" panose="02020603050405020304" pitchFamily="18" charset="0"/>
                <a:cs typeface="Times New Roman" panose="02020603050405020304" pitchFamily="18" charset="0"/>
              </a:rPr>
              <a:t>was inserted into a tube of cladding glass and the preform was drawn in a </a:t>
            </a:r>
            <a:r>
              <a:rPr lang="en-US" sz="1800" b="1" dirty="0">
                <a:latin typeface="Times New Roman" panose="02020603050405020304" pitchFamily="18" charset="0"/>
                <a:cs typeface="Times New Roman" panose="02020603050405020304" pitchFamily="18" charset="0"/>
              </a:rPr>
              <a:t>vertical muffle furnace</a:t>
            </a:r>
          </a:p>
          <a:p>
            <a:r>
              <a:rPr lang="en-US" sz="1800" dirty="0">
                <a:latin typeface="Times New Roman" panose="02020603050405020304" pitchFamily="18" charset="0"/>
                <a:cs typeface="Times New Roman" panose="02020603050405020304" pitchFamily="18" charset="0"/>
              </a:rPr>
              <a:t>Subsequent development in the drawing of optical fibers (especially graded index) </a:t>
            </a:r>
            <a:r>
              <a:rPr lang="en-US" sz="1800" b="1" dirty="0">
                <a:latin typeface="Times New Roman" panose="02020603050405020304" pitchFamily="18" charset="0"/>
                <a:cs typeface="Times New Roman" panose="02020603050405020304" pitchFamily="18" charset="0"/>
              </a:rPr>
              <a:t>produced by liquid-phase techniques </a:t>
            </a:r>
            <a:r>
              <a:rPr lang="en-US" sz="1800" dirty="0">
                <a:latin typeface="Times New Roman" panose="02020603050405020304" pitchFamily="18" charset="0"/>
                <a:cs typeface="Times New Roman" panose="02020603050405020304" pitchFamily="18" charset="0"/>
              </a:rPr>
              <a:t>has concentrated on the </a:t>
            </a:r>
            <a:r>
              <a:rPr lang="en-US" sz="1800" b="1" dirty="0">
                <a:latin typeface="Times New Roman" panose="02020603050405020304" pitchFamily="18" charset="0"/>
                <a:cs typeface="Times New Roman" panose="02020603050405020304" pitchFamily="18" charset="0"/>
              </a:rPr>
              <a:t>double-crucible method. </a:t>
            </a:r>
          </a:p>
          <a:p>
            <a:r>
              <a:rPr lang="en-US" sz="1800" dirty="0">
                <a:latin typeface="Times New Roman" panose="02020603050405020304" pitchFamily="18" charset="0"/>
                <a:cs typeface="Times New Roman" panose="02020603050405020304" pitchFamily="18" charset="0"/>
              </a:rPr>
              <a:t>In this </a:t>
            </a:r>
            <a:r>
              <a:rPr lang="en-US" sz="1800" b="1" dirty="0">
                <a:latin typeface="Times New Roman" panose="02020603050405020304" pitchFamily="18" charset="0"/>
                <a:cs typeface="Times New Roman" panose="02020603050405020304" pitchFamily="18" charset="0"/>
              </a:rPr>
              <a:t>method the core and cladding </a:t>
            </a:r>
            <a:r>
              <a:rPr lang="en-US" sz="1800" dirty="0">
                <a:latin typeface="Times New Roman" panose="02020603050405020304" pitchFamily="18" charset="0"/>
                <a:cs typeface="Times New Roman" panose="02020603050405020304" pitchFamily="18" charset="0"/>
              </a:rPr>
              <a:t>glass in the form of </a:t>
            </a:r>
            <a:r>
              <a:rPr lang="en-US" sz="1800" b="1" dirty="0">
                <a:latin typeface="Times New Roman" panose="02020603050405020304" pitchFamily="18" charset="0"/>
                <a:cs typeface="Times New Roman" panose="02020603050405020304" pitchFamily="18" charset="0"/>
              </a:rPr>
              <a:t>separate rods is fed into two concentric platinum crucibles</a:t>
            </a:r>
          </a:p>
          <a:p>
            <a:r>
              <a:rPr lang="en-US" sz="1800" dirty="0">
                <a:latin typeface="Times New Roman" panose="02020603050405020304" pitchFamily="18" charset="0"/>
                <a:cs typeface="Times New Roman" panose="02020603050405020304" pitchFamily="18" charset="0"/>
              </a:rPr>
              <a:t>The crucibles </a:t>
            </a:r>
            <a:r>
              <a:rPr lang="en-US" sz="1800" b="1" dirty="0">
                <a:latin typeface="Times New Roman" panose="02020603050405020304" pitchFamily="18" charset="0"/>
                <a:cs typeface="Times New Roman" panose="02020603050405020304" pitchFamily="18" charset="0"/>
              </a:rPr>
              <a:t>have nozzles </a:t>
            </a:r>
            <a:r>
              <a:rPr lang="en-US" sz="1800" dirty="0">
                <a:latin typeface="Times New Roman" panose="02020603050405020304" pitchFamily="18" charset="0"/>
                <a:cs typeface="Times New Roman" panose="02020603050405020304" pitchFamily="18" charset="0"/>
              </a:rPr>
              <a:t>in their bases from which the </a:t>
            </a:r>
            <a:r>
              <a:rPr lang="en-US" sz="1800" b="1" dirty="0">
                <a:latin typeface="Times New Roman" panose="02020603050405020304" pitchFamily="18" charset="0"/>
                <a:cs typeface="Times New Roman" panose="02020603050405020304" pitchFamily="18" charset="0"/>
              </a:rPr>
              <a:t>clad fiber is drawn directly from the melt</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7</a:t>
            </a:fld>
            <a:endParaRPr kumimoji="0" lang="en-US"/>
          </a:p>
        </p:txBody>
      </p:sp>
      <p:sp>
        <p:nvSpPr>
          <p:cNvPr id="6" name="Date Placeholder 5"/>
          <p:cNvSpPr>
            <a:spLocks noGrp="1"/>
          </p:cNvSpPr>
          <p:nvPr>
            <p:ph type="dt" sz="half" idx="10"/>
          </p:nvPr>
        </p:nvSpPr>
        <p:spPr/>
        <p:txBody>
          <a:bodyPr/>
          <a:lstStyle/>
          <a:p>
            <a:fld id="{1A1E117E-4276-4653-972D-DDF14B0B2E1E}" type="datetime1">
              <a:rPr lang="en-US" smtClean="0"/>
              <a:t>11/2/2024</a:t>
            </a:fld>
            <a:endParaRPr lang="en-US"/>
          </a:p>
        </p:txBody>
      </p:sp>
    </p:spTree>
    <p:extLst>
      <p:ext uri="{BB962C8B-B14F-4D97-AF65-F5344CB8AC3E}">
        <p14:creationId xmlns:p14="http://schemas.microsoft.com/office/powerpoint/2010/main" val="2568104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6F42FDE4-A7DD-41A7-A0A6-9B649FB43336}" type="slidenum">
              <a:rPr kumimoji="0" lang="en-US" smtClean="0"/>
              <a:pPr/>
              <a:t>8</a:t>
            </a:fld>
            <a:endParaRPr kumimoji="0" lang="en-US"/>
          </a:p>
        </p:txBody>
      </p:sp>
      <p:pic>
        <p:nvPicPr>
          <p:cNvPr id="6" name="Picture 5"/>
          <p:cNvPicPr>
            <a:picLocks noChangeAspect="1"/>
          </p:cNvPicPr>
          <p:nvPr/>
        </p:nvPicPr>
        <p:blipFill>
          <a:blip r:embed="rId2"/>
          <a:stretch>
            <a:fillRect/>
          </a:stretch>
        </p:blipFill>
        <p:spPr>
          <a:xfrm>
            <a:off x="24581" y="95865"/>
            <a:ext cx="4038600" cy="4117479"/>
          </a:xfrm>
          <a:prstGeom prst="rect">
            <a:avLst/>
          </a:prstGeom>
        </p:spPr>
      </p:pic>
      <p:pic>
        <p:nvPicPr>
          <p:cNvPr id="7" name="Picture 6"/>
          <p:cNvPicPr>
            <a:picLocks noChangeAspect="1"/>
          </p:cNvPicPr>
          <p:nvPr/>
        </p:nvPicPr>
        <p:blipFill>
          <a:blip r:embed="rId3"/>
          <a:stretch>
            <a:fillRect/>
          </a:stretch>
        </p:blipFill>
        <p:spPr>
          <a:xfrm>
            <a:off x="4391002" y="120446"/>
            <a:ext cx="4324395" cy="5638800"/>
          </a:xfrm>
          <a:prstGeom prst="rect">
            <a:avLst/>
          </a:prstGeom>
        </p:spPr>
      </p:pic>
      <p:sp>
        <p:nvSpPr>
          <p:cNvPr id="8" name="TextBox 7"/>
          <p:cNvSpPr txBox="1"/>
          <p:nvPr/>
        </p:nvSpPr>
        <p:spPr>
          <a:xfrm>
            <a:off x="4535129" y="5962437"/>
            <a:ext cx="452277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The double-crucible method for fiber drawing </a:t>
            </a:r>
          </a:p>
        </p:txBody>
      </p:sp>
      <p:sp>
        <p:nvSpPr>
          <p:cNvPr id="9" name="TextBox 8"/>
          <p:cNvSpPr txBox="1"/>
          <p:nvPr/>
        </p:nvSpPr>
        <p:spPr>
          <a:xfrm>
            <a:off x="609601" y="4915515"/>
            <a:ext cx="28956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Optical fiber from a preform </a:t>
            </a:r>
          </a:p>
        </p:txBody>
      </p:sp>
      <p:sp>
        <p:nvSpPr>
          <p:cNvPr id="2" name="Date Placeholder 1"/>
          <p:cNvSpPr>
            <a:spLocks noGrp="1"/>
          </p:cNvSpPr>
          <p:nvPr>
            <p:ph type="dt" sz="half" idx="10"/>
          </p:nvPr>
        </p:nvSpPr>
        <p:spPr/>
        <p:txBody>
          <a:bodyPr/>
          <a:lstStyle/>
          <a:p>
            <a:fld id="{4A42657B-0773-4CD3-A483-E138346EABB2}" type="datetime1">
              <a:rPr lang="en-US" smtClean="0"/>
              <a:t>11/2/2024</a:t>
            </a:fld>
            <a:endParaRPr lang="en-US"/>
          </a:p>
        </p:txBody>
      </p:sp>
    </p:spTree>
    <p:extLst>
      <p:ext uri="{BB962C8B-B14F-4D97-AF65-F5344CB8AC3E}">
        <p14:creationId xmlns:p14="http://schemas.microsoft.com/office/powerpoint/2010/main" val="30835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05775"/>
            <a:ext cx="6705600" cy="640445"/>
          </a:xfrm>
        </p:spPr>
        <p:txBody>
          <a:bodyPr>
            <a:normAutofit/>
          </a:bodyPr>
          <a:lstStyle/>
          <a:p>
            <a:r>
              <a:rPr lang="en-US" dirty="0">
                <a:latin typeface="Times New Roman" panose="02020603050405020304" pitchFamily="18" charset="0"/>
                <a:cs typeface="Times New Roman" panose="02020603050405020304" pitchFamily="18" charset="0"/>
              </a:rPr>
              <a:t>Vapor-phase deposition techniques </a:t>
            </a:r>
          </a:p>
        </p:txBody>
      </p:sp>
      <p:sp>
        <p:nvSpPr>
          <p:cNvPr id="3" name="Content Placeholder 2"/>
          <p:cNvSpPr>
            <a:spLocks noGrp="1"/>
          </p:cNvSpPr>
          <p:nvPr>
            <p:ph idx="1"/>
          </p:nvPr>
        </p:nvSpPr>
        <p:spPr>
          <a:xfrm>
            <a:off x="762000" y="1447800"/>
            <a:ext cx="7696200" cy="4572000"/>
          </a:xfrm>
        </p:spPr>
        <p:txBody>
          <a:bodyPr>
            <a:normAutofit/>
          </a:bodyPr>
          <a:lstStyle/>
          <a:p>
            <a:r>
              <a:rPr lang="en-US" sz="2000" dirty="0">
                <a:highlight>
                  <a:srgbClr val="00FF00"/>
                </a:highlight>
                <a:latin typeface="Times New Roman" panose="02020603050405020304" pitchFamily="18" charset="0"/>
                <a:cs typeface="Times New Roman" panose="02020603050405020304" pitchFamily="18" charset="0"/>
              </a:rPr>
              <a:t>Vapor Phase Deposition (VPD) technique is a method of preparing the extremely pure optical glasses. </a:t>
            </a:r>
          </a:p>
          <a:p>
            <a:r>
              <a:rPr lang="en-US" sz="2000" dirty="0">
                <a:latin typeface="Times New Roman" panose="02020603050405020304" pitchFamily="18" charset="0"/>
                <a:cs typeface="Times New Roman" panose="02020603050405020304" pitchFamily="18" charset="0"/>
              </a:rPr>
              <a:t>Vapor Phase methods are the ones that are </a:t>
            </a:r>
            <a:r>
              <a:rPr lang="en-US" sz="2000" dirty="0">
                <a:highlight>
                  <a:srgbClr val="00FF00"/>
                </a:highlight>
                <a:latin typeface="Times New Roman" panose="02020603050405020304" pitchFamily="18" charset="0"/>
                <a:cs typeface="Times New Roman" panose="02020603050405020304" pitchFamily="18" charset="0"/>
              </a:rPr>
              <a:t>now used to produce silica-based fibers with very low attenuation, highest transparency with the optimal optical properties.</a:t>
            </a:r>
          </a:p>
          <a:p>
            <a:r>
              <a:rPr lang="en-US" sz="2000" dirty="0">
                <a:latin typeface="Times New Roman" panose="02020603050405020304" pitchFamily="18" charset="0"/>
                <a:cs typeface="Times New Roman" panose="02020603050405020304" pitchFamily="18" charset="0"/>
              </a:rPr>
              <a:t>Ingredients: </a:t>
            </a:r>
            <a:r>
              <a:rPr lang="en-US" sz="2000" dirty="0">
                <a:highlight>
                  <a:srgbClr val="00FF00"/>
                </a:highlight>
                <a:latin typeface="Times New Roman" panose="02020603050405020304" pitchFamily="18" charset="0"/>
                <a:cs typeface="Times New Roman" panose="02020603050405020304" pitchFamily="18" charset="0"/>
              </a:rPr>
              <a:t>Starting materials are volatile organic compounds such as: SiCl</a:t>
            </a:r>
            <a:r>
              <a:rPr lang="en-US" sz="2000" baseline="-25000" dirty="0">
                <a:highlight>
                  <a:srgbClr val="00FF00"/>
                </a:highlight>
                <a:latin typeface="Times New Roman" panose="02020603050405020304" pitchFamily="18" charset="0"/>
                <a:cs typeface="Times New Roman" panose="02020603050405020304" pitchFamily="18" charset="0"/>
              </a:rPr>
              <a:t>4</a:t>
            </a:r>
            <a:r>
              <a:rPr lang="en-US" sz="2000" dirty="0">
                <a:highlight>
                  <a:srgbClr val="00FF00"/>
                </a:highlight>
                <a:latin typeface="Times New Roman" panose="02020603050405020304" pitchFamily="18" charset="0"/>
                <a:cs typeface="Times New Roman" panose="02020603050405020304" pitchFamily="18" charset="0"/>
              </a:rPr>
              <a:t>, GeCl</a:t>
            </a:r>
            <a:r>
              <a:rPr lang="en-US" sz="2000" baseline="-25000" dirty="0">
                <a:highlight>
                  <a:srgbClr val="00FF00"/>
                </a:highlight>
                <a:latin typeface="Times New Roman" panose="02020603050405020304" pitchFamily="18" charset="0"/>
                <a:cs typeface="Times New Roman" panose="02020603050405020304" pitchFamily="18" charset="0"/>
              </a:rPr>
              <a:t>4</a:t>
            </a:r>
            <a:r>
              <a:rPr lang="en-US" sz="2000" dirty="0">
                <a:highlight>
                  <a:srgbClr val="00FF00"/>
                </a:highlight>
                <a:latin typeface="Times New Roman" panose="02020603050405020304" pitchFamily="18" charset="0"/>
                <a:cs typeface="Times New Roman" panose="02020603050405020304" pitchFamily="18" charset="0"/>
              </a:rPr>
              <a:t>, SiF</a:t>
            </a:r>
            <a:r>
              <a:rPr lang="en-US" sz="2000" baseline="-25000" dirty="0">
                <a:highlight>
                  <a:srgbClr val="00FF00"/>
                </a:highlight>
                <a:latin typeface="Times New Roman" panose="02020603050405020304" pitchFamily="18" charset="0"/>
                <a:cs typeface="Times New Roman" panose="02020603050405020304" pitchFamily="18" charset="0"/>
              </a:rPr>
              <a:t>4</a:t>
            </a:r>
            <a:r>
              <a:rPr lang="en-US" sz="2000" dirty="0">
                <a:highlight>
                  <a:srgbClr val="00FF00"/>
                </a:highlight>
                <a:latin typeface="Times New Roman" panose="02020603050405020304" pitchFamily="18" charset="0"/>
                <a:cs typeface="Times New Roman" panose="02020603050405020304" pitchFamily="18" charset="0"/>
              </a:rPr>
              <a:t>, BCL</a:t>
            </a:r>
            <a:r>
              <a:rPr lang="en-US" sz="2000" baseline="-25000" dirty="0">
                <a:highlight>
                  <a:srgbClr val="00FF00"/>
                </a:highlight>
                <a:latin typeface="Times New Roman" panose="02020603050405020304" pitchFamily="18" charset="0"/>
                <a:cs typeface="Times New Roman" panose="02020603050405020304" pitchFamily="18" charset="0"/>
              </a:rPr>
              <a:t>3</a:t>
            </a:r>
            <a:r>
              <a:rPr lang="en-US" sz="2000" dirty="0">
                <a:highlight>
                  <a:srgbClr val="00FF00"/>
                </a:highlight>
                <a:latin typeface="Times New Roman" panose="02020603050405020304" pitchFamily="18" charset="0"/>
                <a:cs typeface="Times New Roman" panose="02020603050405020304" pitchFamily="18" charset="0"/>
              </a:rPr>
              <a:t>, O</a:t>
            </a:r>
            <a:r>
              <a:rPr lang="en-US" sz="2000" baseline="-25000" dirty="0">
                <a:highlight>
                  <a:srgbClr val="00FF00"/>
                </a:highlight>
                <a:latin typeface="Times New Roman" panose="02020603050405020304" pitchFamily="18" charset="0"/>
                <a:cs typeface="Times New Roman" panose="02020603050405020304" pitchFamily="18" charset="0"/>
              </a:rPr>
              <a:t>2</a:t>
            </a:r>
            <a:r>
              <a:rPr lang="en-US" sz="2000" dirty="0">
                <a:highlight>
                  <a:srgbClr val="00FF00"/>
                </a:highlight>
                <a:latin typeface="Times New Roman" panose="02020603050405020304" pitchFamily="18" charset="0"/>
                <a:cs typeface="Times New Roman" panose="02020603050405020304" pitchFamily="18" charset="0"/>
              </a:rPr>
              <a:t>,  BBr</a:t>
            </a:r>
            <a:r>
              <a:rPr lang="en-US" sz="2000" baseline="-25000" dirty="0">
                <a:highlight>
                  <a:srgbClr val="00FF00"/>
                </a:highlight>
                <a:latin typeface="Times New Roman" panose="02020603050405020304" pitchFamily="18" charset="0"/>
                <a:cs typeface="Times New Roman" panose="02020603050405020304" pitchFamily="18" charset="0"/>
              </a:rPr>
              <a:t>3</a:t>
            </a:r>
            <a:r>
              <a:rPr lang="en-US" sz="2000" dirty="0">
                <a:highlight>
                  <a:srgbClr val="00FF00"/>
                </a:highlight>
                <a:latin typeface="Times New Roman" panose="02020603050405020304" pitchFamily="18" charset="0"/>
                <a:cs typeface="Times New Roman" panose="02020603050405020304" pitchFamily="18" charset="0"/>
              </a:rPr>
              <a:t>, POCl</a:t>
            </a:r>
            <a:r>
              <a:rPr lang="en-US" sz="2000" baseline="-25000" dirty="0">
                <a:highlight>
                  <a:srgbClr val="00FF00"/>
                </a:highlight>
                <a:latin typeface="Times New Roman" panose="02020603050405020304" pitchFamily="18" charset="0"/>
                <a:cs typeface="Times New Roman" panose="02020603050405020304" pitchFamily="18" charset="0"/>
              </a:rPr>
              <a:t>3</a:t>
            </a:r>
            <a:r>
              <a:rPr lang="en-US" sz="2000" dirty="0">
                <a:highlight>
                  <a:srgbClr val="00FF00"/>
                </a:highlight>
                <a:latin typeface="Times New Roman" panose="02020603050405020304" pitchFamily="18" charset="0"/>
                <a:cs typeface="Times New Roman" panose="02020603050405020304" pitchFamily="18" charset="0"/>
              </a:rPr>
              <a:t> </a:t>
            </a:r>
          </a:p>
          <a:p>
            <a:r>
              <a:rPr lang="en-US" sz="2000" dirty="0">
                <a:highlight>
                  <a:srgbClr val="00FF00"/>
                </a:highlight>
                <a:latin typeface="Times New Roman" panose="02020603050405020304" pitchFamily="18" charset="0"/>
                <a:cs typeface="Times New Roman" panose="02020603050405020304" pitchFamily="18" charset="0"/>
              </a:rPr>
              <a:t>Refractive index modification is achieved through the formation of dopants from the non-silica starting materials: TiO2 ,GeO2 , P2O5,Al2O3 ,B2O3 , F</a:t>
            </a:r>
          </a:p>
          <a:p>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9</a:t>
            </a:fld>
            <a:endParaRPr kumimoji="0" lang="en-US"/>
          </a:p>
        </p:txBody>
      </p:sp>
    </p:spTree>
    <p:extLst>
      <p:ext uri="{BB962C8B-B14F-4D97-AF65-F5344CB8AC3E}">
        <p14:creationId xmlns:p14="http://schemas.microsoft.com/office/powerpoint/2010/main" val="3221541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05775"/>
            <a:ext cx="6705600" cy="640445"/>
          </a:xfrm>
        </p:spPr>
        <p:txBody>
          <a:bodyPr>
            <a:normAutofit/>
          </a:bodyPr>
          <a:lstStyle/>
          <a:p>
            <a:r>
              <a:rPr lang="en-US" dirty="0">
                <a:latin typeface="Times New Roman" panose="02020603050405020304" pitchFamily="18" charset="0"/>
                <a:cs typeface="Times New Roman" panose="02020603050405020304" pitchFamily="18" charset="0"/>
              </a:rPr>
              <a:t>Vapor-phase deposition techniques </a:t>
            </a: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10</a:t>
            </a:fld>
            <a:endParaRPr kumimoji="0" lang="en-US"/>
          </a:p>
        </p:txBody>
      </p:sp>
      <p:pic>
        <p:nvPicPr>
          <p:cNvPr id="6" name="Picture 5"/>
          <p:cNvPicPr>
            <a:picLocks noChangeAspect="1"/>
          </p:cNvPicPr>
          <p:nvPr/>
        </p:nvPicPr>
        <p:blipFill>
          <a:blip r:embed="rId2"/>
          <a:stretch>
            <a:fillRect/>
          </a:stretch>
        </p:blipFill>
        <p:spPr>
          <a:xfrm>
            <a:off x="1809407" y="1246220"/>
            <a:ext cx="5982385" cy="5284440"/>
          </a:xfrm>
          <a:prstGeom prst="rect">
            <a:avLst/>
          </a:prstGeom>
        </p:spPr>
      </p:pic>
    </p:spTree>
    <p:extLst>
      <p:ext uri="{BB962C8B-B14F-4D97-AF65-F5344CB8AC3E}">
        <p14:creationId xmlns:p14="http://schemas.microsoft.com/office/powerpoint/2010/main" val="1718725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05775"/>
            <a:ext cx="6705600" cy="640445"/>
          </a:xfrm>
        </p:spPr>
        <p:txBody>
          <a:bodyPr>
            <a:normAutofit fontScale="90000"/>
          </a:bodyPr>
          <a:lstStyle/>
          <a:p>
            <a:r>
              <a:rPr lang="en-US" dirty="0">
                <a:latin typeface="Times New Roman" panose="02020603050405020304" pitchFamily="18" charset="0"/>
                <a:cs typeface="Times New Roman" panose="02020603050405020304" pitchFamily="18" charset="0"/>
              </a:rPr>
              <a:t> Outside vapor-phase oxidation process</a:t>
            </a:r>
          </a:p>
        </p:txBody>
      </p:sp>
      <p:sp>
        <p:nvSpPr>
          <p:cNvPr id="3" name="Content Placeholder 2"/>
          <p:cNvSpPr>
            <a:spLocks noGrp="1"/>
          </p:cNvSpPr>
          <p:nvPr>
            <p:ph idx="1"/>
          </p:nvPr>
        </p:nvSpPr>
        <p:spPr>
          <a:xfrm>
            <a:off x="762001" y="1371600"/>
            <a:ext cx="7772400" cy="4539622"/>
          </a:xfrm>
        </p:spPr>
        <p:txBody>
          <a:bodyPr>
            <a:normAutofit/>
          </a:bodyPr>
          <a:lstStyle/>
          <a:p>
            <a:r>
              <a:rPr lang="en-US" sz="2000" dirty="0">
                <a:highlight>
                  <a:srgbClr val="00FF00"/>
                </a:highlight>
                <a:latin typeface="Times New Roman" panose="02020603050405020304" pitchFamily="18" charset="0"/>
                <a:cs typeface="Times New Roman" panose="02020603050405020304" pitchFamily="18" charset="0"/>
              </a:rPr>
              <a:t>Uses flame hydrolysis stems</a:t>
            </a:r>
            <a:r>
              <a:rPr lang="en-US" sz="2000" dirty="0">
                <a:latin typeface="Times New Roman" panose="02020603050405020304" pitchFamily="18" charset="0"/>
                <a:cs typeface="Times New Roman" panose="02020603050405020304" pitchFamily="18" charset="0"/>
              </a:rPr>
              <a:t> from work on soot processes which were used to produce the </a:t>
            </a:r>
            <a:r>
              <a:rPr lang="en-US" sz="2000" dirty="0">
                <a:highlight>
                  <a:srgbClr val="00FF00"/>
                </a:highlight>
                <a:latin typeface="Times New Roman" panose="02020603050405020304" pitchFamily="18" charset="0"/>
                <a:cs typeface="Times New Roman" panose="02020603050405020304" pitchFamily="18" charset="0"/>
              </a:rPr>
              <a:t>first fiber with losses of less than 20 dBKm</a:t>
            </a:r>
            <a:r>
              <a:rPr lang="en-US" sz="2000" baseline="30000" dirty="0">
                <a:highlight>
                  <a:srgbClr val="00FF00"/>
                </a:highlight>
                <a:latin typeface="Times New Roman" panose="02020603050405020304" pitchFamily="18" charset="0"/>
                <a:cs typeface="Times New Roman" panose="02020603050405020304" pitchFamily="18" charset="0"/>
              </a:rPr>
              <a:t>-1</a:t>
            </a:r>
            <a:r>
              <a:rPr lang="en-US" sz="2000" dirty="0">
                <a:highlight>
                  <a:srgbClr val="00FF00"/>
                </a:highlight>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Oxygen is passed through the silicon compound which is vaporized, removing impurities. </a:t>
            </a:r>
          </a:p>
          <a:p>
            <a:r>
              <a:rPr lang="en-US" sz="2000" dirty="0">
                <a:latin typeface="Times New Roman" panose="02020603050405020304" pitchFamily="18" charset="0"/>
                <a:cs typeface="Times New Roman" panose="02020603050405020304" pitchFamily="18" charset="0"/>
              </a:rPr>
              <a:t>Dopants are added and gave following reactions: </a:t>
            </a:r>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11</a:t>
            </a:fld>
            <a:endParaRPr kumimoji="0"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5491" y="3352799"/>
            <a:ext cx="3390900"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8725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05775"/>
            <a:ext cx="6705600" cy="640445"/>
          </a:xfrm>
        </p:spPr>
        <p:txBody>
          <a:bodyPr>
            <a:normAutofit fontScale="90000"/>
          </a:bodyPr>
          <a:lstStyle/>
          <a:p>
            <a:r>
              <a:rPr lang="en-US" dirty="0">
                <a:latin typeface="Times New Roman" panose="02020603050405020304" pitchFamily="18" charset="0"/>
                <a:cs typeface="Times New Roman" panose="02020603050405020304" pitchFamily="18" charset="0"/>
              </a:rPr>
              <a:t> Outside vapor-phase oxidation process</a:t>
            </a:r>
          </a:p>
        </p:txBody>
      </p:sp>
      <p:sp>
        <p:nvSpPr>
          <p:cNvPr id="3" name="Content Placeholder 2"/>
          <p:cNvSpPr>
            <a:spLocks noGrp="1"/>
          </p:cNvSpPr>
          <p:nvPr>
            <p:ph idx="1"/>
          </p:nvPr>
        </p:nvSpPr>
        <p:spPr>
          <a:xfrm>
            <a:off x="762001" y="1371600"/>
            <a:ext cx="7772400" cy="4539622"/>
          </a:xfrm>
        </p:spPr>
        <p:txBody>
          <a:bodyPr>
            <a:normAutofit/>
          </a:bodyPr>
          <a:lstStyle/>
          <a:p>
            <a:r>
              <a:rPr lang="en-US" sz="2000" dirty="0">
                <a:latin typeface="Times New Roman" panose="02020603050405020304" pitchFamily="18" charset="0"/>
                <a:cs typeface="Times New Roman" panose="02020603050405020304" pitchFamily="18" charset="0"/>
              </a:rPr>
              <a:t>The silica is regenerated as a fine soot which is deposited on a cool rotating mandrel. The flame is reversed back and forth over the length of the mandrel for getting sufficient numbers of silica layers. </a:t>
            </a:r>
          </a:p>
          <a:p>
            <a:r>
              <a:rPr lang="en-US" sz="2000" dirty="0">
                <a:latin typeface="Times New Roman" panose="02020603050405020304" pitchFamily="18" charset="0"/>
                <a:cs typeface="Times New Roman" panose="02020603050405020304" pitchFamily="18" charset="0"/>
              </a:rPr>
              <a:t>After the process ends, the mandrel is removed and the porous mass of silica soot is sintered.</a:t>
            </a:r>
          </a:p>
          <a:p>
            <a:r>
              <a:rPr lang="en-US" sz="2000" dirty="0">
                <a:latin typeface="Times New Roman" panose="02020603050405020304" pitchFamily="18" charset="0"/>
                <a:cs typeface="Times New Roman" panose="02020603050405020304" pitchFamily="18" charset="0"/>
              </a:rPr>
              <a:t>The preform may contain both core and cladding glasses by properly varying the dopant concentrations during the deposition process</a:t>
            </a:r>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12</a:t>
            </a:fld>
            <a:endParaRPr kumimoji="0"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810000"/>
            <a:ext cx="3429000" cy="2846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821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05775"/>
            <a:ext cx="6705600" cy="640445"/>
          </a:xfrm>
        </p:spPr>
        <p:txBody>
          <a:bodyPr>
            <a:normAutofit/>
          </a:bodyPr>
          <a:lstStyle/>
          <a:p>
            <a:r>
              <a:rPr lang="en-US" dirty="0">
                <a:latin typeface="Times New Roman" panose="02020603050405020304" pitchFamily="18" charset="0"/>
                <a:cs typeface="Times New Roman" panose="02020603050405020304" pitchFamily="18" charset="0"/>
              </a:rPr>
              <a:t>Vapor axial deposition (VAD) </a:t>
            </a:r>
          </a:p>
        </p:txBody>
      </p:sp>
      <p:sp>
        <p:nvSpPr>
          <p:cNvPr id="3" name="Content Placeholder 2"/>
          <p:cNvSpPr>
            <a:spLocks noGrp="1"/>
          </p:cNvSpPr>
          <p:nvPr>
            <p:ph idx="1"/>
          </p:nvPr>
        </p:nvSpPr>
        <p:spPr>
          <a:xfrm>
            <a:off x="762001" y="1371600"/>
            <a:ext cx="4038599" cy="5410200"/>
          </a:xfrm>
        </p:spPr>
        <p:txBody>
          <a:bodyPr>
            <a:normAutofit/>
          </a:bodyPr>
          <a:lstStyle/>
          <a:p>
            <a:r>
              <a:rPr lang="en-US" sz="2000" dirty="0">
                <a:latin typeface="Times New Roman" panose="02020603050405020304" pitchFamily="18" charset="0"/>
                <a:cs typeface="Times New Roman" panose="02020603050405020304" pitchFamily="18" charset="0"/>
              </a:rPr>
              <a:t>Continuous technique for producing low loss optical fibers.</a:t>
            </a:r>
          </a:p>
          <a:p>
            <a:r>
              <a:rPr lang="en-US" sz="2000" dirty="0">
                <a:latin typeface="Times New Roman" panose="02020603050405020304" pitchFamily="18" charset="0"/>
                <a:cs typeface="Times New Roman" panose="02020603050405020304" pitchFamily="18" charset="0"/>
              </a:rPr>
              <a:t>uses an end-on deposition onto a </a:t>
            </a:r>
            <a:r>
              <a:rPr lang="en-US" sz="2000" b="1" dirty="0">
                <a:latin typeface="Times New Roman" panose="02020603050405020304" pitchFamily="18" charset="0"/>
                <a:cs typeface="Times New Roman" panose="02020603050405020304" pitchFamily="18" charset="0"/>
              </a:rPr>
              <a:t>rotating fused silica target </a:t>
            </a:r>
          </a:p>
          <a:p>
            <a:r>
              <a:rPr lang="en-US" sz="2000" dirty="0">
                <a:latin typeface="Times New Roman" panose="02020603050405020304" pitchFamily="18" charset="0"/>
                <a:cs typeface="Times New Roman" panose="02020603050405020304" pitchFamily="18" charset="0"/>
              </a:rPr>
              <a:t>Vaporized constituents are injected from burners and react to form silica soot by flame hydrolysis and makes a solid porous glass preform.</a:t>
            </a:r>
          </a:p>
          <a:p>
            <a:r>
              <a:rPr lang="en-US" sz="2000" dirty="0">
                <a:latin typeface="Times New Roman" panose="02020603050405020304" pitchFamily="18" charset="0"/>
                <a:cs typeface="Times New Roman" panose="02020603050405020304" pitchFamily="18" charset="0"/>
              </a:rPr>
              <a:t>deposited on the end of the starting target in the axial direction forming a solid porous glass preform in the shape of a boule</a:t>
            </a:r>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13</a:t>
            </a:fld>
            <a:endParaRPr kumimoji="0" lang="en-US"/>
          </a:p>
        </p:txBody>
      </p:sp>
      <p:pic>
        <p:nvPicPr>
          <p:cNvPr id="7" name="Picture 6"/>
          <p:cNvPicPr>
            <a:picLocks noChangeAspect="1"/>
          </p:cNvPicPr>
          <p:nvPr/>
        </p:nvPicPr>
        <p:blipFill>
          <a:blip r:embed="rId2"/>
          <a:stretch>
            <a:fillRect/>
          </a:stretch>
        </p:blipFill>
        <p:spPr>
          <a:xfrm>
            <a:off x="5257799" y="1371600"/>
            <a:ext cx="3152775" cy="5133975"/>
          </a:xfrm>
          <a:prstGeom prst="rect">
            <a:avLst/>
          </a:prstGeom>
        </p:spPr>
      </p:pic>
    </p:spTree>
    <p:extLst>
      <p:ext uri="{BB962C8B-B14F-4D97-AF65-F5344CB8AC3E}">
        <p14:creationId xmlns:p14="http://schemas.microsoft.com/office/powerpoint/2010/main" val="3706974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05775"/>
            <a:ext cx="6705600" cy="640445"/>
          </a:xfrm>
        </p:spPr>
        <p:txBody>
          <a:bodyPr>
            <a:normAutofit/>
          </a:bodyPr>
          <a:lstStyle/>
          <a:p>
            <a:r>
              <a:rPr lang="en-US" dirty="0">
                <a:latin typeface="Times New Roman" panose="02020603050405020304" pitchFamily="18" charset="0"/>
                <a:cs typeface="Times New Roman" panose="02020603050405020304" pitchFamily="18" charset="0"/>
              </a:rPr>
              <a:t>Vapor axial deposition (VAD) </a:t>
            </a:r>
          </a:p>
        </p:txBody>
      </p:sp>
      <p:sp>
        <p:nvSpPr>
          <p:cNvPr id="3" name="Content Placeholder 2"/>
          <p:cNvSpPr>
            <a:spLocks noGrp="1"/>
          </p:cNvSpPr>
          <p:nvPr>
            <p:ph idx="1"/>
          </p:nvPr>
        </p:nvSpPr>
        <p:spPr>
          <a:xfrm>
            <a:off x="762001" y="1371600"/>
            <a:ext cx="4038599" cy="5486400"/>
          </a:xfrm>
        </p:spPr>
        <p:txBody>
          <a:bodyPr>
            <a:normAutofit/>
          </a:bodyPr>
          <a:lstStyle/>
          <a:p>
            <a:r>
              <a:rPr lang="en-US" sz="2000" dirty="0">
                <a:latin typeface="Times New Roman" panose="02020603050405020304" pitchFamily="18" charset="0"/>
                <a:cs typeface="Times New Roman" panose="02020603050405020304" pitchFamily="18" charset="0"/>
              </a:rPr>
              <a:t>The preform is pulled upwards. </a:t>
            </a:r>
          </a:p>
          <a:p>
            <a:r>
              <a:rPr lang="en-US" sz="2000" dirty="0">
                <a:latin typeface="Times New Roman" panose="02020603050405020304" pitchFamily="18" charset="0"/>
                <a:cs typeface="Times New Roman" panose="02020603050405020304" pitchFamily="18" charset="0"/>
              </a:rPr>
              <a:t>Dehydrated by heating with SOCl2 using the reaction: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sintered into a solid preform in a graphite resistance furnace at an elevated temperature of around 1500 °C</a:t>
            </a:r>
          </a:p>
          <a:p>
            <a:r>
              <a:rPr lang="en-US" sz="2000" dirty="0">
                <a:latin typeface="Times New Roman" panose="02020603050405020304" pitchFamily="18" charset="0"/>
                <a:cs typeface="Times New Roman" panose="02020603050405020304" pitchFamily="18" charset="0"/>
              </a:rPr>
              <a:t>process may be adapted to draw fiber continuously</a:t>
            </a:r>
          </a:p>
          <a:p>
            <a:r>
              <a:rPr lang="en-US" sz="2000" dirty="0">
                <a:latin typeface="Times New Roman" panose="02020603050405020304" pitchFamily="18" charset="0"/>
                <a:cs typeface="Times New Roman" panose="02020603050405020304" pitchFamily="18" charset="0"/>
              </a:rPr>
              <a:t>spatial refractive index profile may be achieved using the deposition properties of SiO</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–GeO</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particles within the oxygen–hydrogen flame</a:t>
            </a:r>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14</a:t>
            </a:fld>
            <a:endParaRPr kumimoji="0" lang="en-US"/>
          </a:p>
        </p:txBody>
      </p:sp>
      <p:pic>
        <p:nvPicPr>
          <p:cNvPr id="6" name="Picture 5"/>
          <p:cNvPicPr>
            <a:picLocks noChangeAspect="1"/>
          </p:cNvPicPr>
          <p:nvPr/>
        </p:nvPicPr>
        <p:blipFill>
          <a:blip r:embed="rId2"/>
          <a:stretch>
            <a:fillRect/>
          </a:stretch>
        </p:blipFill>
        <p:spPr>
          <a:xfrm>
            <a:off x="1321403" y="2438400"/>
            <a:ext cx="2362200" cy="555171"/>
          </a:xfrm>
          <a:prstGeom prst="rect">
            <a:avLst/>
          </a:prstGeom>
        </p:spPr>
      </p:pic>
      <p:pic>
        <p:nvPicPr>
          <p:cNvPr id="7" name="Picture 6"/>
          <p:cNvPicPr>
            <a:picLocks noChangeAspect="1"/>
          </p:cNvPicPr>
          <p:nvPr/>
        </p:nvPicPr>
        <p:blipFill>
          <a:blip r:embed="rId3"/>
          <a:stretch>
            <a:fillRect/>
          </a:stretch>
        </p:blipFill>
        <p:spPr>
          <a:xfrm>
            <a:off x="5242476" y="1246220"/>
            <a:ext cx="3152775" cy="5133975"/>
          </a:xfrm>
          <a:prstGeom prst="rect">
            <a:avLst/>
          </a:prstGeom>
        </p:spPr>
      </p:pic>
    </p:spTree>
    <p:extLst>
      <p:ext uri="{BB962C8B-B14F-4D97-AF65-F5344CB8AC3E}">
        <p14:creationId xmlns:p14="http://schemas.microsoft.com/office/powerpoint/2010/main" val="1783539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1" y="624110"/>
            <a:ext cx="7086600" cy="528798"/>
          </a:xfrm>
        </p:spPr>
        <p:txBody>
          <a:bodyPr>
            <a:normAutofit fontScale="90000"/>
          </a:bodyPr>
          <a:lstStyle/>
          <a:p>
            <a:r>
              <a:rPr lang="en-US" dirty="0">
                <a:latin typeface="Times New Roman" panose="02020603050405020304" pitchFamily="18" charset="0"/>
                <a:cs typeface="Times New Roman" panose="02020603050405020304" pitchFamily="18" charset="0"/>
              </a:rPr>
              <a:t>Modified chemical vapor deposition </a:t>
            </a:r>
          </a:p>
        </p:txBody>
      </p:sp>
      <p:sp>
        <p:nvSpPr>
          <p:cNvPr id="3" name="Content Placeholder 2"/>
          <p:cNvSpPr>
            <a:spLocks noGrp="1"/>
          </p:cNvSpPr>
          <p:nvPr>
            <p:ph idx="1"/>
          </p:nvPr>
        </p:nvSpPr>
        <p:spPr>
          <a:xfrm>
            <a:off x="609601" y="1295400"/>
            <a:ext cx="4265167" cy="5410200"/>
          </a:xfrm>
        </p:spPr>
        <p:txBody>
          <a:bodyPr>
            <a:normAutofit/>
          </a:bodyPr>
          <a:lstStyle/>
          <a:p>
            <a:r>
              <a:rPr lang="en-US" sz="2000" dirty="0">
                <a:latin typeface="Times New Roman" panose="02020603050405020304" pitchFamily="18" charset="0"/>
                <a:cs typeface="Times New Roman" panose="02020603050405020304" pitchFamily="18" charset="0"/>
              </a:rPr>
              <a:t>Vapor-phase reactants (halide and oxygen) pass through a hot zone. </a:t>
            </a:r>
          </a:p>
          <a:p>
            <a:r>
              <a:rPr lang="en-US" sz="2000" dirty="0">
                <a:latin typeface="Times New Roman" panose="02020603050405020304" pitchFamily="18" charset="0"/>
                <a:cs typeface="Times New Roman" panose="02020603050405020304" pitchFamily="18" charset="0"/>
              </a:rPr>
              <a:t>Glass particles formed during this reaction travel with the gas flow and are deposited on the walls of the silica tube. </a:t>
            </a:r>
          </a:p>
          <a:p>
            <a:r>
              <a:rPr lang="en-US" sz="2000" dirty="0">
                <a:latin typeface="Times New Roman" panose="02020603050405020304" pitchFamily="18" charset="0"/>
                <a:cs typeface="Times New Roman" panose="02020603050405020304" pitchFamily="18" charset="0"/>
              </a:rPr>
              <a:t>The hot zone is moved back and forth along the tube allowing the particles to be deposited on a layer-by-layer basis giving a sintered transparent silica film on the walls of the tube.</a:t>
            </a:r>
          </a:p>
          <a:p>
            <a:r>
              <a:rPr lang="en-US" dirty="0">
                <a:latin typeface="Times New Roman" panose="02020603050405020304" pitchFamily="18" charset="0"/>
                <a:cs typeface="Times New Roman" panose="02020603050405020304" pitchFamily="18" charset="0"/>
              </a:rPr>
              <a:t>Vaporized GeCl</a:t>
            </a:r>
            <a:r>
              <a:rPr lang="en-US" baseline="-25000"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and POCl</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are added to the gas flow. </a:t>
            </a:r>
          </a:p>
          <a:p>
            <a:endParaRPr lang="en-US" dirty="0"/>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15</a:t>
            </a:fld>
            <a:endParaRPr kumimoji="0" lang="en-US"/>
          </a:p>
        </p:txBody>
      </p:sp>
      <p:pic>
        <p:nvPicPr>
          <p:cNvPr id="6" name="Picture 5"/>
          <p:cNvPicPr>
            <a:picLocks noChangeAspect="1"/>
          </p:cNvPicPr>
          <p:nvPr/>
        </p:nvPicPr>
        <p:blipFill>
          <a:blip r:embed="rId2"/>
          <a:stretch>
            <a:fillRect/>
          </a:stretch>
        </p:blipFill>
        <p:spPr>
          <a:xfrm>
            <a:off x="4798568" y="1600200"/>
            <a:ext cx="4269232" cy="3352800"/>
          </a:xfrm>
          <a:prstGeom prst="rect">
            <a:avLst/>
          </a:prstGeom>
        </p:spPr>
      </p:pic>
    </p:spTree>
    <p:extLst>
      <p:ext uri="{BB962C8B-B14F-4D97-AF65-F5344CB8AC3E}">
        <p14:creationId xmlns:p14="http://schemas.microsoft.com/office/powerpoint/2010/main" val="4200183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1" y="624110"/>
            <a:ext cx="7086600" cy="528798"/>
          </a:xfrm>
        </p:spPr>
        <p:txBody>
          <a:bodyPr>
            <a:normAutofit fontScale="90000"/>
          </a:bodyPr>
          <a:lstStyle/>
          <a:p>
            <a:r>
              <a:rPr lang="en-US" dirty="0">
                <a:latin typeface="Times New Roman" panose="02020603050405020304" pitchFamily="18" charset="0"/>
                <a:cs typeface="Times New Roman" panose="02020603050405020304" pitchFamily="18" charset="0"/>
              </a:rPr>
              <a:t>Modified chemical vapor deposition </a:t>
            </a:r>
          </a:p>
        </p:txBody>
      </p:sp>
      <p:sp>
        <p:nvSpPr>
          <p:cNvPr id="3" name="Content Placeholder 2"/>
          <p:cNvSpPr>
            <a:spLocks noGrp="1"/>
          </p:cNvSpPr>
          <p:nvPr>
            <p:ph idx="1"/>
          </p:nvPr>
        </p:nvSpPr>
        <p:spPr>
          <a:xfrm>
            <a:off x="609601" y="1295400"/>
            <a:ext cx="4038599" cy="5410200"/>
          </a:xfrm>
        </p:spPr>
        <p:txBody>
          <a:bodyPr>
            <a:normAutofit/>
          </a:bodyPr>
          <a:lstStyle/>
          <a:p>
            <a:r>
              <a:rPr lang="en-US" sz="2000" dirty="0">
                <a:latin typeface="Times New Roman" panose="02020603050405020304" pitchFamily="18" charset="0"/>
                <a:cs typeface="Times New Roman" panose="02020603050405020304" pitchFamily="18" charset="0"/>
              </a:rPr>
              <a:t>The core glass is then formed by the deposition of successive layers of germane-silicate or phosphor-silicate glass. </a:t>
            </a:r>
          </a:p>
          <a:p>
            <a:r>
              <a:rPr lang="en-US" sz="2000" dirty="0">
                <a:latin typeface="Times New Roman" panose="02020603050405020304" pitchFamily="18" charset="0"/>
                <a:cs typeface="Times New Roman" panose="02020603050405020304" pitchFamily="18" charset="0"/>
              </a:rPr>
              <a:t>After the deposition is completed the temperature is increased to between 1700 and 1900 °C.</a:t>
            </a:r>
          </a:p>
          <a:p>
            <a:r>
              <a:rPr lang="en-US" sz="2000" dirty="0">
                <a:latin typeface="Times New Roman" panose="02020603050405020304" pitchFamily="18" charset="0"/>
                <a:cs typeface="Times New Roman" panose="02020603050405020304" pitchFamily="18" charset="0"/>
              </a:rPr>
              <a:t> The tube is then collapsed to give a solid preform which may then be drawn into fiber  at temperatures of 2000 to 2200 °C</a:t>
            </a:r>
            <a:r>
              <a:rPr lang="en-US" dirty="0"/>
              <a:t>.</a:t>
            </a:r>
          </a:p>
          <a:p>
            <a:r>
              <a:rPr lang="en-US" sz="2000" dirty="0">
                <a:latin typeface="Times New Roman" panose="02020603050405020304" pitchFamily="18" charset="0"/>
                <a:cs typeface="Times New Roman" panose="02020603050405020304" pitchFamily="18" charset="0"/>
              </a:rPr>
              <a:t>MCVD technique has proved suitable for the widespread</a:t>
            </a:r>
          </a:p>
          <a:p>
            <a:r>
              <a:rPr lang="en-US" sz="2000" dirty="0">
                <a:latin typeface="Times New Roman" panose="02020603050405020304" pitchFamily="18" charset="0"/>
                <a:cs typeface="Times New Roman" panose="02020603050405020304" pitchFamily="18" charset="0"/>
              </a:rPr>
              <a:t>mass production of high-performance optical fibers </a:t>
            </a:r>
            <a:r>
              <a:rPr lang="en-US" dirty="0"/>
              <a:t> </a:t>
            </a:r>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16</a:t>
            </a:fld>
            <a:endParaRPr kumimoji="0" lang="en-US"/>
          </a:p>
        </p:txBody>
      </p:sp>
      <p:pic>
        <p:nvPicPr>
          <p:cNvPr id="6" name="Picture 5"/>
          <p:cNvPicPr>
            <a:picLocks noChangeAspect="1"/>
          </p:cNvPicPr>
          <p:nvPr/>
        </p:nvPicPr>
        <p:blipFill>
          <a:blip r:embed="rId2"/>
          <a:stretch>
            <a:fillRect/>
          </a:stretch>
        </p:blipFill>
        <p:spPr>
          <a:xfrm>
            <a:off x="4910582" y="1524000"/>
            <a:ext cx="4220718" cy="3314700"/>
          </a:xfrm>
          <a:prstGeom prst="rect">
            <a:avLst/>
          </a:prstGeom>
        </p:spPr>
      </p:pic>
    </p:spTree>
    <p:extLst>
      <p:ext uri="{BB962C8B-B14F-4D97-AF65-F5344CB8AC3E}">
        <p14:creationId xmlns:p14="http://schemas.microsoft.com/office/powerpoint/2010/main" val="2606177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17</a:t>
            </a:fld>
            <a:endParaRPr kumimoji="0" lang="en-US"/>
          </a:p>
        </p:txBody>
      </p:sp>
      <p:pic>
        <p:nvPicPr>
          <p:cNvPr id="6" name="Picture 5"/>
          <p:cNvPicPr>
            <a:picLocks noChangeAspect="1"/>
          </p:cNvPicPr>
          <p:nvPr/>
        </p:nvPicPr>
        <p:blipFill>
          <a:blip r:embed="rId2"/>
          <a:stretch>
            <a:fillRect/>
          </a:stretch>
        </p:blipFill>
        <p:spPr>
          <a:xfrm>
            <a:off x="1967815" y="2120900"/>
            <a:ext cx="6203453" cy="3790322"/>
          </a:xfrm>
          <a:prstGeom prst="rect">
            <a:avLst/>
          </a:prstGeom>
        </p:spPr>
      </p:pic>
      <p:sp>
        <p:nvSpPr>
          <p:cNvPr id="7" name="Title 1"/>
          <p:cNvSpPr>
            <a:spLocks noGrp="1"/>
          </p:cNvSpPr>
          <p:nvPr>
            <p:ph type="title"/>
          </p:nvPr>
        </p:nvSpPr>
        <p:spPr>
          <a:xfrm>
            <a:off x="1447801" y="624110"/>
            <a:ext cx="7086600" cy="528798"/>
          </a:xfrm>
        </p:spPr>
        <p:txBody>
          <a:bodyPr>
            <a:normAutofit fontScale="90000"/>
          </a:bodyPr>
          <a:lstStyle/>
          <a:p>
            <a:r>
              <a:rPr lang="en-US" dirty="0">
                <a:latin typeface="Times New Roman" panose="02020603050405020304" pitchFamily="18" charset="0"/>
                <a:cs typeface="Times New Roman" panose="02020603050405020304" pitchFamily="18" charset="0"/>
              </a:rPr>
              <a:t>Modified chemical vapor deposition </a:t>
            </a:r>
          </a:p>
        </p:txBody>
      </p:sp>
    </p:spTree>
    <p:extLst>
      <p:ext uri="{BB962C8B-B14F-4D97-AF65-F5344CB8AC3E}">
        <p14:creationId xmlns:p14="http://schemas.microsoft.com/office/powerpoint/2010/main" val="1163007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18</a:t>
            </a:fld>
            <a:endParaRPr kumimoji="0" lang="en-US"/>
          </a:p>
        </p:txBody>
      </p:sp>
      <p:sp>
        <p:nvSpPr>
          <p:cNvPr id="6" name="Title 1"/>
          <p:cNvSpPr>
            <a:spLocks noGrp="1"/>
          </p:cNvSpPr>
          <p:nvPr>
            <p:ph type="title"/>
          </p:nvPr>
        </p:nvSpPr>
        <p:spPr>
          <a:xfrm>
            <a:off x="1447800" y="624110"/>
            <a:ext cx="7619999" cy="528798"/>
          </a:xfrm>
        </p:spPr>
        <p:txBody>
          <a:bodyPr>
            <a:normAutofit fontScale="90000"/>
          </a:bodyPr>
          <a:lstStyle/>
          <a:p>
            <a:r>
              <a:rPr lang="en-US" dirty="0">
                <a:latin typeface="Times New Roman" panose="02020603050405020304" pitchFamily="18" charset="0"/>
                <a:cs typeface="Times New Roman" panose="02020603050405020304" pitchFamily="18" charset="0"/>
              </a:rPr>
              <a:t>Plasma-activated chemical vapor deposition</a:t>
            </a:r>
          </a:p>
        </p:txBody>
      </p:sp>
      <p:sp>
        <p:nvSpPr>
          <p:cNvPr id="7" name="Content Placeholder 2"/>
          <p:cNvSpPr>
            <a:spLocks noGrp="1"/>
          </p:cNvSpPr>
          <p:nvPr>
            <p:ph idx="1"/>
          </p:nvPr>
        </p:nvSpPr>
        <p:spPr>
          <a:xfrm>
            <a:off x="609601" y="1295400"/>
            <a:ext cx="8229599" cy="5410200"/>
          </a:xfrm>
        </p:spPr>
        <p:txBody>
          <a:bodyPr>
            <a:normAutofit/>
          </a:bodyPr>
          <a:lstStyle/>
          <a:p>
            <a:r>
              <a:rPr lang="en-US" sz="2000" dirty="0">
                <a:latin typeface="Times New Roman" panose="02020603050405020304" pitchFamily="18" charset="0"/>
                <a:cs typeface="Times New Roman" panose="02020603050405020304" pitchFamily="18" charset="0"/>
              </a:rPr>
              <a:t>PCVD is the stimulation of oxide formation by means of a non-isothermal plasma maintained at low pressure in a microwave cavity (2.45 GHz) which surrounds the tube. </a:t>
            </a:r>
          </a:p>
          <a:p>
            <a:r>
              <a:rPr lang="en-US" sz="2000" dirty="0">
                <a:latin typeface="Times New Roman" panose="02020603050405020304" pitchFamily="18" charset="0"/>
                <a:cs typeface="Times New Roman" panose="02020603050405020304" pitchFamily="18" charset="0"/>
              </a:rPr>
              <a:t>Volatile reactants are introduced into the tube where they react heterogeneously. </a:t>
            </a:r>
          </a:p>
          <a:p>
            <a:r>
              <a:rPr lang="en-US" sz="2000" dirty="0">
                <a:latin typeface="Times New Roman" panose="02020603050405020304" pitchFamily="18" charset="0"/>
                <a:cs typeface="Times New Roman" panose="02020603050405020304" pitchFamily="18" charset="0"/>
              </a:rPr>
              <a:t>The reaction zone is moved backwards and forwards along the tube by control of the microwave cavity and a circularly symmetric layer growth is formed. </a:t>
            </a:r>
          </a:p>
        </p:txBody>
      </p:sp>
      <p:pic>
        <p:nvPicPr>
          <p:cNvPr id="9" name="Picture 8"/>
          <p:cNvPicPr>
            <a:picLocks noChangeAspect="1"/>
          </p:cNvPicPr>
          <p:nvPr/>
        </p:nvPicPr>
        <p:blipFill>
          <a:blip r:embed="rId2"/>
          <a:stretch>
            <a:fillRect/>
          </a:stretch>
        </p:blipFill>
        <p:spPr>
          <a:xfrm>
            <a:off x="2131851" y="4000500"/>
            <a:ext cx="5365529" cy="2598401"/>
          </a:xfrm>
          <a:prstGeom prst="rect">
            <a:avLst/>
          </a:prstGeom>
        </p:spPr>
      </p:pic>
    </p:spTree>
    <p:extLst>
      <p:ext uri="{BB962C8B-B14F-4D97-AF65-F5344CB8AC3E}">
        <p14:creationId xmlns:p14="http://schemas.microsoft.com/office/powerpoint/2010/main" val="2238563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1" y="624110"/>
            <a:ext cx="7086600" cy="1280890"/>
          </a:xfrm>
        </p:spPr>
        <p:txBody>
          <a:bodyPr/>
          <a:lstStyle/>
          <a:p>
            <a:r>
              <a:rPr lang="en-US" sz="3200" dirty="0">
                <a:latin typeface="Times New Roman" panose="02020603050405020304" pitchFamily="18" charset="0"/>
                <a:cs typeface="Times New Roman" panose="02020603050405020304" pitchFamily="18" charset="0"/>
              </a:rPr>
              <a:t>General Optical Fiber Making Process</a:t>
            </a:r>
            <a:r>
              <a:rPr lang="en-US" dirty="0"/>
              <a:t> </a:t>
            </a: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19</a:t>
            </a:fld>
            <a:endParaRPr kumimoji="0" lang="en-US"/>
          </a:p>
        </p:txBody>
      </p:sp>
      <p:pic>
        <p:nvPicPr>
          <p:cNvPr id="6" name="Picture 5"/>
          <p:cNvPicPr>
            <a:picLocks noChangeAspect="1"/>
          </p:cNvPicPr>
          <p:nvPr/>
        </p:nvPicPr>
        <p:blipFill>
          <a:blip r:embed="rId2"/>
          <a:stretch>
            <a:fillRect/>
          </a:stretch>
        </p:blipFill>
        <p:spPr>
          <a:xfrm>
            <a:off x="1121606" y="1600200"/>
            <a:ext cx="3659258" cy="4224110"/>
          </a:xfrm>
          <a:prstGeom prst="rect">
            <a:avLst/>
          </a:prstGeom>
        </p:spPr>
      </p:pic>
      <p:pic>
        <p:nvPicPr>
          <p:cNvPr id="7" name="Picture 6"/>
          <p:cNvPicPr>
            <a:picLocks noChangeAspect="1"/>
          </p:cNvPicPr>
          <p:nvPr/>
        </p:nvPicPr>
        <p:blipFill>
          <a:blip r:embed="rId3"/>
          <a:stretch>
            <a:fillRect/>
          </a:stretch>
        </p:blipFill>
        <p:spPr>
          <a:xfrm>
            <a:off x="5225706" y="1612900"/>
            <a:ext cx="3156293" cy="4204375"/>
          </a:xfrm>
          <a:prstGeom prst="rect">
            <a:avLst/>
          </a:prstGeom>
        </p:spPr>
      </p:pic>
    </p:spTree>
    <p:extLst>
      <p:ext uri="{BB962C8B-B14F-4D97-AF65-F5344CB8AC3E}">
        <p14:creationId xmlns:p14="http://schemas.microsoft.com/office/powerpoint/2010/main" val="1256804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1" y="624110"/>
            <a:ext cx="7086600" cy="1280890"/>
          </a:xfrm>
        </p:spPr>
        <p:txBody>
          <a:bodyPr>
            <a:normAutofit/>
          </a:bodyPr>
          <a:lstStyle/>
          <a:p>
            <a:r>
              <a:rPr lang="en-US" sz="2800" dirty="0">
                <a:latin typeface="Times New Roman" panose="02020603050405020304" pitchFamily="18" charset="0"/>
                <a:cs typeface="Times New Roman" panose="02020603050405020304" pitchFamily="18" charset="0"/>
              </a:rPr>
              <a:t>Summary of vapor-phase deposition techniques </a:t>
            </a:r>
          </a:p>
        </p:txBody>
      </p:sp>
      <p:sp>
        <p:nvSpPr>
          <p:cNvPr id="3" name="Content Placeholder 2"/>
          <p:cNvSpPr>
            <a:spLocks noGrp="1"/>
          </p:cNvSpPr>
          <p:nvPr>
            <p:ph idx="1"/>
          </p:nvPr>
        </p:nvSpPr>
        <p:spPr>
          <a:xfrm>
            <a:off x="1096206" y="1524000"/>
            <a:ext cx="6591985" cy="3777622"/>
          </a:xfrm>
        </p:spPr>
        <p:txBody>
          <a:bodyPr/>
          <a:lstStyle/>
          <a:p>
            <a:r>
              <a:rPr lang="en-US" sz="2000" dirty="0">
                <a:latin typeface="Times New Roman" panose="02020603050405020304" pitchFamily="18" charset="0"/>
                <a:cs typeface="Times New Roman" panose="02020603050405020304" pitchFamily="18" charset="0"/>
              </a:rPr>
              <a:t>Both step index and graded index fibers are made with these processes. </a:t>
            </a:r>
          </a:p>
          <a:p>
            <a:r>
              <a:rPr lang="en-US" sz="2000" dirty="0">
                <a:latin typeface="Times New Roman" panose="02020603050405020304" pitchFamily="18" charset="0"/>
                <a:cs typeface="Times New Roman" panose="02020603050405020304" pitchFamily="18" charset="0"/>
              </a:rPr>
              <a:t>Gives relatively similar performance for the fabrication of both multi-mode and single-mode fibers. </a:t>
            </a:r>
          </a:p>
          <a:p>
            <a:r>
              <a:rPr lang="en-US" sz="2000" dirty="0">
                <a:latin typeface="Times New Roman" panose="02020603050405020304" pitchFamily="18" charset="0"/>
                <a:cs typeface="Times New Roman" panose="02020603050405020304" pitchFamily="18" charset="0"/>
              </a:rPr>
              <a:t>MCVD and VAD technique employed together as MCVD-VAD hybrid technique for producing polarization maintaining fiber.</a:t>
            </a:r>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20</a:t>
            </a:fld>
            <a:endParaRPr kumimoji="0" lang="en-US"/>
          </a:p>
        </p:txBody>
      </p:sp>
    </p:spTree>
    <p:extLst>
      <p:ext uri="{BB962C8B-B14F-4D97-AF65-F5344CB8AC3E}">
        <p14:creationId xmlns:p14="http://schemas.microsoft.com/office/powerpoint/2010/main" val="2042256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56815"/>
            <a:ext cx="8229600" cy="639762"/>
          </a:xfrm>
        </p:spPr>
        <p:txBody>
          <a:bodyPr>
            <a:normAutofit fontScale="90000"/>
          </a:bodyPr>
          <a:lstStyle/>
          <a:p>
            <a:r>
              <a:rPr lang="en-US" sz="3600" b="1" dirty="0">
                <a:latin typeface="Times New Roman" panose="02020603050405020304" pitchFamily="18" charset="0"/>
                <a:cs typeface="Times New Roman" panose="02020603050405020304" pitchFamily="18" charset="0"/>
              </a:rPr>
              <a:t>Optical fiber cables</a:t>
            </a:r>
            <a:r>
              <a:rPr lang="en-US" sz="36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511228" y="1440245"/>
            <a:ext cx="8229600" cy="5105400"/>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The functions of the optical cable may be summarized into </a:t>
            </a:r>
            <a:r>
              <a:rPr lang="en-US" sz="2000" b="1" dirty="0">
                <a:latin typeface="Times New Roman" panose="02020603050405020304" pitchFamily="18" charset="0"/>
                <a:cs typeface="Times New Roman" panose="02020603050405020304" pitchFamily="18" charset="0"/>
              </a:rPr>
              <a:t>four main areas.</a:t>
            </a:r>
            <a:r>
              <a:rPr lang="en-US" sz="2000" dirty="0">
                <a:latin typeface="Times New Roman" panose="02020603050405020304" pitchFamily="18" charset="0"/>
                <a:cs typeface="Times New Roman" panose="02020603050405020304" pitchFamily="18" charset="0"/>
              </a:rPr>
              <a:t> These are as follows:</a:t>
            </a:r>
          </a:p>
          <a:p>
            <a:pPr algn="just"/>
            <a:r>
              <a:rPr lang="en-US" sz="2000" b="1" dirty="0">
                <a:latin typeface="Times New Roman" panose="02020603050405020304" pitchFamily="18" charset="0"/>
                <a:cs typeface="Times New Roman" panose="02020603050405020304" pitchFamily="18" charset="0"/>
              </a:rPr>
              <a:t>Fiber protection</a:t>
            </a:r>
            <a:r>
              <a:rPr lang="en-US" sz="2000" dirty="0">
                <a:latin typeface="Times New Roman" panose="02020603050405020304" pitchFamily="18" charset="0"/>
                <a:cs typeface="Times New Roman" panose="02020603050405020304" pitchFamily="18" charset="0"/>
              </a:rPr>
              <a:t>. The major function of the optical cable is to protect against fiber </a:t>
            </a:r>
            <a:r>
              <a:rPr lang="en-US" sz="2000" b="1" dirty="0">
                <a:latin typeface="Times New Roman" panose="02020603050405020304" pitchFamily="18" charset="0"/>
                <a:cs typeface="Times New Roman" panose="02020603050405020304" pitchFamily="18" charset="0"/>
              </a:rPr>
              <a:t>damage and breakage </a:t>
            </a:r>
            <a:r>
              <a:rPr lang="en-US" sz="2000" dirty="0">
                <a:latin typeface="Times New Roman" panose="02020603050405020304" pitchFamily="18" charset="0"/>
                <a:cs typeface="Times New Roman" panose="02020603050405020304" pitchFamily="18" charset="0"/>
              </a:rPr>
              <a:t>both during installation and throughout the life of the fiber.</a:t>
            </a:r>
          </a:p>
          <a:p>
            <a:pPr algn="just"/>
            <a:r>
              <a:rPr lang="en-US" sz="2000" b="1" dirty="0">
                <a:latin typeface="Times New Roman" panose="02020603050405020304" pitchFamily="18" charset="0"/>
                <a:cs typeface="Times New Roman" panose="02020603050405020304" pitchFamily="18" charset="0"/>
              </a:rPr>
              <a:t>Stability of the fiber transmission characteristics</a:t>
            </a:r>
            <a:r>
              <a:rPr lang="en-US" sz="2000" dirty="0">
                <a:latin typeface="Times New Roman" panose="02020603050405020304" pitchFamily="18" charset="0"/>
                <a:cs typeface="Times New Roman" panose="02020603050405020304" pitchFamily="18" charset="0"/>
              </a:rPr>
              <a:t>. The cabled fiber must have </a:t>
            </a:r>
            <a:r>
              <a:rPr lang="en-US" sz="2000" b="1" dirty="0">
                <a:latin typeface="Times New Roman" panose="02020603050405020304" pitchFamily="18" charset="0"/>
                <a:cs typeface="Times New Roman" panose="02020603050405020304" pitchFamily="18" charset="0"/>
              </a:rPr>
              <a:t>good stable transmission characteristics </a:t>
            </a:r>
            <a:r>
              <a:rPr lang="en-US" sz="2000" dirty="0">
                <a:latin typeface="Times New Roman" panose="02020603050405020304" pitchFamily="18" charset="0"/>
                <a:cs typeface="Times New Roman" panose="02020603050405020304" pitchFamily="18" charset="0"/>
              </a:rPr>
              <a:t>which are comparable with the un-cabled fiber. Increases in optical </a:t>
            </a:r>
            <a:r>
              <a:rPr lang="en-US" sz="2000" b="1" dirty="0">
                <a:latin typeface="Times New Roman" panose="02020603050405020304" pitchFamily="18" charset="0"/>
                <a:cs typeface="Times New Roman" panose="02020603050405020304" pitchFamily="18" charset="0"/>
              </a:rPr>
              <a:t>attenuation</a:t>
            </a:r>
            <a:r>
              <a:rPr lang="en-US" sz="2000" dirty="0">
                <a:latin typeface="Times New Roman" panose="02020603050405020304" pitchFamily="18" charset="0"/>
                <a:cs typeface="Times New Roman" panose="02020603050405020304" pitchFamily="18" charset="0"/>
              </a:rPr>
              <a:t> due to cabling are quite usual and must be </a:t>
            </a:r>
            <a:r>
              <a:rPr lang="en-US" sz="2000" b="1" dirty="0">
                <a:latin typeface="Times New Roman" panose="02020603050405020304" pitchFamily="18" charset="0"/>
                <a:cs typeface="Times New Roman" panose="02020603050405020304" pitchFamily="18" charset="0"/>
              </a:rPr>
              <a:t>minimized within the cable design</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21</a:t>
            </a:fld>
            <a:endParaRPr kumimoji="0" lang="en-US"/>
          </a:p>
        </p:txBody>
      </p:sp>
      <p:sp>
        <p:nvSpPr>
          <p:cNvPr id="6" name="Date Placeholder 5"/>
          <p:cNvSpPr>
            <a:spLocks noGrp="1"/>
          </p:cNvSpPr>
          <p:nvPr>
            <p:ph type="dt" sz="half" idx="10"/>
          </p:nvPr>
        </p:nvSpPr>
        <p:spPr/>
        <p:txBody>
          <a:bodyPr/>
          <a:lstStyle/>
          <a:p>
            <a:fld id="{897CC122-A739-4562-8C8A-E75D824765A2}" type="datetime1">
              <a:rPr lang="en-US" smtClean="0"/>
              <a:t>11/2/2024</a:t>
            </a:fld>
            <a:endParaRPr lang="en-US"/>
          </a:p>
        </p:txBody>
      </p:sp>
    </p:spTree>
    <p:extLst>
      <p:ext uri="{BB962C8B-B14F-4D97-AF65-F5344CB8AC3E}">
        <p14:creationId xmlns:p14="http://schemas.microsoft.com/office/powerpoint/2010/main" val="2465041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28937"/>
            <a:ext cx="8229600" cy="639762"/>
          </a:xfrm>
        </p:spPr>
        <p:txBody>
          <a:bodyPr>
            <a:normAutofit fontScale="90000"/>
          </a:bodyPr>
          <a:lstStyle/>
          <a:p>
            <a:r>
              <a:rPr lang="en-US" sz="3600" b="1" dirty="0">
                <a:latin typeface="Times New Roman" panose="02020603050405020304" pitchFamily="18" charset="0"/>
                <a:cs typeface="Times New Roman" panose="02020603050405020304" pitchFamily="18" charset="0"/>
              </a:rPr>
              <a:t>Optical fiber cables</a:t>
            </a:r>
            <a:r>
              <a:rPr lang="en-US" sz="36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511228" y="1308291"/>
            <a:ext cx="8229600" cy="5105400"/>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The functions of the optical cable may be summarized into four main areas. These are as follows:</a:t>
            </a:r>
          </a:p>
          <a:p>
            <a:r>
              <a:rPr lang="en-US" sz="2000" b="1" dirty="0">
                <a:latin typeface="Times New Roman" panose="02020603050405020304" pitchFamily="18" charset="0"/>
                <a:cs typeface="Times New Roman" panose="02020603050405020304" pitchFamily="18" charset="0"/>
              </a:rPr>
              <a:t>Cable strength</a:t>
            </a:r>
            <a:r>
              <a:rPr lang="en-US" sz="2000" dirty="0">
                <a:latin typeface="Times New Roman" panose="02020603050405020304" pitchFamily="18" charset="0"/>
                <a:cs typeface="Times New Roman" panose="02020603050405020304" pitchFamily="18" charset="0"/>
              </a:rPr>
              <a:t>. Optical cables must have </a:t>
            </a:r>
            <a:r>
              <a:rPr lang="en-US" sz="2000" b="1" dirty="0">
                <a:latin typeface="Times New Roman" panose="02020603050405020304" pitchFamily="18" charset="0"/>
                <a:cs typeface="Times New Roman" panose="02020603050405020304" pitchFamily="18" charset="0"/>
              </a:rPr>
              <a:t>similar mechanical properties to electrical transmission cables </a:t>
            </a:r>
            <a:r>
              <a:rPr lang="en-US" sz="2000" dirty="0">
                <a:latin typeface="Times New Roman" panose="02020603050405020304" pitchFamily="18" charset="0"/>
                <a:cs typeface="Times New Roman" panose="02020603050405020304" pitchFamily="18" charset="0"/>
              </a:rPr>
              <a:t>in order that they may be handled in the same manner. These mechanical properties include tension, torsion, compression, bending, squeezing and vibration. Hence the cable strength may be improved by incorporating a </a:t>
            </a:r>
            <a:r>
              <a:rPr lang="en-US" sz="2000" b="1" dirty="0">
                <a:latin typeface="Times New Roman" panose="02020603050405020304" pitchFamily="18" charset="0"/>
                <a:cs typeface="Times New Roman" panose="02020603050405020304" pitchFamily="18" charset="0"/>
              </a:rPr>
              <a:t>suitable strength member </a:t>
            </a:r>
            <a:r>
              <a:rPr lang="en-US" sz="2000" dirty="0">
                <a:latin typeface="Times New Roman" panose="02020603050405020304" pitchFamily="18" charset="0"/>
                <a:cs typeface="Times New Roman" panose="02020603050405020304" pitchFamily="18" charset="0"/>
              </a:rPr>
              <a:t>and by giving the cable a properly designed thick outer sheath.</a:t>
            </a:r>
          </a:p>
          <a:p>
            <a:r>
              <a:rPr lang="en-US" sz="2000" b="1" dirty="0">
                <a:latin typeface="Times New Roman" panose="02020603050405020304" pitchFamily="18" charset="0"/>
                <a:cs typeface="Times New Roman" panose="02020603050405020304" pitchFamily="18" charset="0"/>
              </a:rPr>
              <a:t>Identification and jointing </a:t>
            </a:r>
            <a:r>
              <a:rPr lang="en-US" sz="2000" dirty="0">
                <a:latin typeface="Times New Roman" panose="02020603050405020304" pitchFamily="18" charset="0"/>
                <a:cs typeface="Times New Roman" panose="02020603050405020304" pitchFamily="18" charset="0"/>
              </a:rPr>
              <a:t>of the fibers within the cable. This is especially important for cables including a large number of optical fibers. If the fibers are arranged in a suitable geometry it may be </a:t>
            </a:r>
            <a:r>
              <a:rPr lang="en-US" sz="2000" b="1" dirty="0">
                <a:latin typeface="Times New Roman" panose="02020603050405020304" pitchFamily="18" charset="0"/>
                <a:cs typeface="Times New Roman" panose="02020603050405020304" pitchFamily="18" charset="0"/>
              </a:rPr>
              <a:t>possible to use multiple jointing techniques </a:t>
            </a:r>
            <a:r>
              <a:rPr lang="en-US" sz="2000" dirty="0">
                <a:latin typeface="Times New Roman" panose="02020603050405020304" pitchFamily="18" charset="0"/>
                <a:cs typeface="Times New Roman" panose="02020603050405020304" pitchFamily="18" charset="0"/>
              </a:rPr>
              <a:t>rather than jointing each fiber individually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22</a:t>
            </a:fld>
            <a:endParaRPr kumimoji="0" lang="en-US"/>
          </a:p>
        </p:txBody>
      </p:sp>
      <p:sp>
        <p:nvSpPr>
          <p:cNvPr id="6" name="Date Placeholder 5"/>
          <p:cNvSpPr>
            <a:spLocks noGrp="1"/>
          </p:cNvSpPr>
          <p:nvPr>
            <p:ph type="dt" sz="half" idx="10"/>
          </p:nvPr>
        </p:nvSpPr>
        <p:spPr/>
        <p:txBody>
          <a:bodyPr/>
          <a:lstStyle/>
          <a:p>
            <a:fld id="{DE8E36F7-4102-4B15-8DF2-86EAF447AF17}" type="datetime1">
              <a:rPr lang="en-US" smtClean="0"/>
              <a:t>11/2/2024</a:t>
            </a:fld>
            <a:endParaRPr lang="en-US"/>
          </a:p>
        </p:txBody>
      </p:sp>
    </p:spTree>
    <p:extLst>
      <p:ext uri="{BB962C8B-B14F-4D97-AF65-F5344CB8AC3E}">
        <p14:creationId xmlns:p14="http://schemas.microsoft.com/office/powerpoint/2010/main" val="2319243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650464"/>
            <a:ext cx="7480300" cy="639762"/>
          </a:xfrm>
        </p:spPr>
        <p:txBody>
          <a:bodyPr>
            <a:normAutofit fontScale="90000"/>
          </a:bodyPr>
          <a:lstStyle/>
          <a:p>
            <a:r>
              <a:rPr lang="en-US" b="1" dirty="0">
                <a:latin typeface="Times New Roman" panose="02020603050405020304" pitchFamily="18" charset="0"/>
                <a:cs typeface="Times New Roman" panose="02020603050405020304" pitchFamily="18" charset="0"/>
              </a:rPr>
              <a:t>Micro bending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1228" y="1308291"/>
            <a:ext cx="8556572" cy="5105400"/>
          </a:xfrm>
        </p:spPr>
        <p:txBody>
          <a:bodyPr>
            <a:noAutofit/>
          </a:bodyPr>
          <a:lstStyle/>
          <a:p>
            <a:r>
              <a:rPr lang="en-US" sz="2000" dirty="0">
                <a:latin typeface="Times New Roman" panose="02020603050405020304" pitchFamily="18" charset="0"/>
                <a:cs typeface="Times New Roman" panose="02020603050405020304" pitchFamily="18" charset="0"/>
              </a:rPr>
              <a:t>Certain problems can occur either within the cabling process which  is the meandering of the fiber core axis on a microscopic scale within the cable form, known as micro bending</a:t>
            </a:r>
          </a:p>
          <a:p>
            <a:r>
              <a:rPr lang="en-US" sz="2000" dirty="0">
                <a:latin typeface="Times New Roman" panose="02020603050405020304" pitchFamily="18" charset="0"/>
                <a:cs typeface="Times New Roman" panose="02020603050405020304" pitchFamily="18" charset="0"/>
              </a:rPr>
              <a:t>This problem can be generated at any stage during the manufacturing process, the cable installation process or during service, small lateral forces exerted on the fiber during the cabling process</a:t>
            </a:r>
          </a:p>
          <a:p>
            <a:r>
              <a:rPr lang="en-US" sz="2000" dirty="0">
                <a:latin typeface="Times New Roman" panose="02020603050405020304" pitchFamily="18" charset="0"/>
                <a:cs typeface="Times New Roman" panose="02020603050405020304" pitchFamily="18" charset="0"/>
              </a:rPr>
              <a:t>it causes losses due to radiation in both multimode and single-mode fibers where losses caused by fiber stress and deformation on a micron scale</a:t>
            </a:r>
          </a:p>
          <a:p>
            <a:r>
              <a:rPr lang="en-US" sz="2000" dirty="0">
                <a:latin typeface="Times New Roman" panose="02020603050405020304" pitchFamily="18" charset="0"/>
                <a:cs typeface="Times New Roman" panose="02020603050405020304" pitchFamily="18" charset="0"/>
              </a:rPr>
              <a:t>Micro bending losses are mode dependent and wavelength dependent</a:t>
            </a:r>
          </a:p>
          <a:p>
            <a:r>
              <a:rPr lang="en-US" sz="2000" dirty="0">
                <a:latin typeface="Times New Roman" panose="02020603050405020304" pitchFamily="18" charset="0"/>
                <a:cs typeface="Times New Roman" panose="02020603050405020304" pitchFamily="18" charset="0"/>
              </a:rPr>
              <a:t>The first form occurs when a fiber is excited by a diffuse </a:t>
            </a:r>
            <a:r>
              <a:rPr lang="en-US" sz="2000" dirty="0" err="1">
                <a:latin typeface="Times New Roman" panose="02020603050405020304" pitchFamily="18" charset="0"/>
                <a:cs typeface="Times New Roman" panose="02020603050405020304" pitchFamily="18" charset="0"/>
              </a:rPr>
              <a:t>Lambertian</a:t>
            </a:r>
            <a:r>
              <a:rPr lang="en-US" sz="2000" dirty="0">
                <a:latin typeface="Times New Roman" panose="02020603050405020304" pitchFamily="18" charset="0"/>
                <a:cs typeface="Times New Roman" panose="02020603050405020304" pitchFamily="18" charset="0"/>
              </a:rPr>
              <a:t> source, launching all possible modes, and is referred to as a uniform or fully filled mode distribution. </a:t>
            </a:r>
          </a:p>
          <a:p>
            <a:r>
              <a:rPr lang="en-US" sz="2000" dirty="0">
                <a:latin typeface="Times New Roman" panose="02020603050405020304" pitchFamily="18" charset="0"/>
                <a:cs typeface="Times New Roman" panose="02020603050405020304" pitchFamily="18" charset="0"/>
              </a:rPr>
              <a:t>The second form occurs due to a significant amount of mode coupling and mode attenuation, referred to as a steady state or equilibrium mode distribution</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23</a:t>
            </a:fld>
            <a:endParaRPr kumimoji="0" lang="en-US"/>
          </a:p>
        </p:txBody>
      </p:sp>
      <p:sp>
        <p:nvSpPr>
          <p:cNvPr id="6" name="Date Placeholder 5"/>
          <p:cNvSpPr>
            <a:spLocks noGrp="1"/>
          </p:cNvSpPr>
          <p:nvPr>
            <p:ph type="dt" sz="half" idx="10"/>
          </p:nvPr>
        </p:nvSpPr>
        <p:spPr/>
        <p:txBody>
          <a:bodyPr/>
          <a:lstStyle/>
          <a:p>
            <a:fld id="{DE8E36F7-4102-4B15-8DF2-86EAF447AF17}" type="datetime1">
              <a:rPr lang="en-US" smtClean="0"/>
              <a:t>11/2/2024</a:t>
            </a:fld>
            <a:endParaRPr lang="en-US"/>
          </a:p>
        </p:txBody>
      </p:sp>
    </p:spTree>
    <p:extLst>
      <p:ext uri="{BB962C8B-B14F-4D97-AF65-F5344CB8AC3E}">
        <p14:creationId xmlns:p14="http://schemas.microsoft.com/office/powerpoint/2010/main" val="4201001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9990" y="645511"/>
            <a:ext cx="6705600" cy="639762"/>
          </a:xfrm>
        </p:spPr>
        <p:txBody>
          <a:bodyPr>
            <a:normAutofit fontScale="90000"/>
          </a:bodyPr>
          <a:lstStyle/>
          <a:p>
            <a:r>
              <a:rPr lang="en-US" sz="3600" b="1" dirty="0">
                <a:latin typeface="Times New Roman" panose="02020603050405020304" pitchFamily="18" charset="0"/>
                <a:cs typeface="Times New Roman" panose="02020603050405020304" pitchFamily="18" charset="0"/>
              </a:rPr>
              <a:t>Cable design</a:t>
            </a:r>
            <a:r>
              <a:rPr lang="en-US" sz="36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457200" y="1417637"/>
            <a:ext cx="8229600" cy="5059363"/>
          </a:xfrm>
        </p:spPr>
        <p:txBody>
          <a:bodyPr>
            <a:noAutofit/>
          </a:bodyPr>
          <a:lstStyle/>
          <a:p>
            <a:r>
              <a:rPr lang="en-US" sz="2000" dirty="0">
                <a:latin typeface="Times New Roman" panose="02020603050405020304" pitchFamily="18" charset="0"/>
                <a:cs typeface="Times New Roman" panose="02020603050405020304" pitchFamily="18" charset="0"/>
              </a:rPr>
              <a:t>The cable must be designed so that the </a:t>
            </a:r>
            <a:r>
              <a:rPr lang="en-US" sz="2000" b="1" dirty="0">
                <a:latin typeface="Times New Roman" panose="02020603050405020304" pitchFamily="18" charset="0"/>
                <a:cs typeface="Times New Roman" panose="02020603050405020304" pitchFamily="18" charset="0"/>
              </a:rPr>
              <a:t>strain on the fiber </a:t>
            </a:r>
            <a:r>
              <a:rPr lang="en-US" sz="2000" dirty="0">
                <a:latin typeface="Times New Roman" panose="02020603050405020304" pitchFamily="18" charset="0"/>
                <a:cs typeface="Times New Roman" panose="02020603050405020304" pitchFamily="18" charset="0"/>
              </a:rPr>
              <a:t>in the cable does not exceed 0.2% </a:t>
            </a:r>
          </a:p>
          <a:p>
            <a:r>
              <a:rPr lang="en-US" sz="2000" dirty="0">
                <a:latin typeface="Times New Roman" panose="02020603050405020304" pitchFamily="18" charset="0"/>
                <a:cs typeface="Times New Roman" panose="02020603050405020304" pitchFamily="18" charset="0"/>
              </a:rPr>
              <a:t>Alternatively, it is suggested that the permanent strain on the fiber should be less than 0.1% </a:t>
            </a:r>
          </a:p>
          <a:p>
            <a:r>
              <a:rPr lang="en-US" sz="2000" dirty="0">
                <a:latin typeface="Times New Roman" panose="02020603050405020304" pitchFamily="18" charset="0"/>
                <a:cs typeface="Times New Roman" panose="02020603050405020304" pitchFamily="18" charset="0"/>
              </a:rPr>
              <a:t>In practice, these constraints may be overcome in various ways which are, to some extent, dependent upon the cable’s application.</a:t>
            </a:r>
          </a:p>
          <a:p>
            <a:r>
              <a:rPr lang="en-US" sz="2000" b="1" dirty="0">
                <a:latin typeface="Times New Roman" panose="02020603050405020304" pitchFamily="18" charset="0"/>
                <a:cs typeface="Times New Roman" panose="02020603050405020304" pitchFamily="18" charset="0"/>
              </a:rPr>
              <a:t>Cable design </a:t>
            </a:r>
            <a:r>
              <a:rPr lang="en-US" sz="2000" dirty="0">
                <a:latin typeface="Times New Roman" panose="02020603050405020304" pitchFamily="18" charset="0"/>
                <a:cs typeface="Times New Roman" panose="02020603050405020304" pitchFamily="18" charset="0"/>
              </a:rPr>
              <a:t>may generally be separated into a number of major considerations.</a:t>
            </a:r>
          </a:p>
          <a:p>
            <a:pPr lvl="1"/>
            <a:r>
              <a:rPr lang="en-US" sz="2000" dirty="0">
                <a:latin typeface="Times New Roman" panose="02020603050405020304" pitchFamily="18" charset="0"/>
                <a:cs typeface="Times New Roman" panose="02020603050405020304" pitchFamily="18" charset="0"/>
              </a:rPr>
              <a:t>Fiber buffering, </a:t>
            </a:r>
          </a:p>
          <a:p>
            <a:pPr lvl="1"/>
            <a:r>
              <a:rPr lang="en-US" sz="2000" dirty="0">
                <a:latin typeface="Times New Roman" panose="02020603050405020304" pitchFamily="18" charset="0"/>
                <a:cs typeface="Times New Roman" panose="02020603050405020304" pitchFamily="18" charset="0"/>
              </a:rPr>
              <a:t>Cable structural and strength members</a:t>
            </a:r>
          </a:p>
          <a:p>
            <a:pPr lvl="1"/>
            <a:r>
              <a:rPr lang="en-US" sz="2000" dirty="0">
                <a:latin typeface="Times New Roman" panose="02020603050405020304" pitchFamily="18" charset="0"/>
                <a:cs typeface="Times New Roman" panose="02020603050405020304" pitchFamily="18" charset="0"/>
              </a:rPr>
              <a:t>Cable sheath, water barrier and cable core</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24</a:t>
            </a:fld>
            <a:endParaRPr kumimoji="0" lang="en-US"/>
          </a:p>
        </p:txBody>
      </p:sp>
      <p:sp>
        <p:nvSpPr>
          <p:cNvPr id="6" name="Date Placeholder 5"/>
          <p:cNvSpPr>
            <a:spLocks noGrp="1"/>
          </p:cNvSpPr>
          <p:nvPr>
            <p:ph type="dt" sz="half" idx="10"/>
          </p:nvPr>
        </p:nvSpPr>
        <p:spPr/>
        <p:txBody>
          <a:bodyPr/>
          <a:lstStyle/>
          <a:p>
            <a:fld id="{0419BA91-AC6B-437E-86B1-BE9FC7C144A3}" type="datetime1">
              <a:rPr lang="en-US" smtClean="0"/>
              <a:t>11/2/2024</a:t>
            </a:fld>
            <a:endParaRPr lang="en-US"/>
          </a:p>
        </p:txBody>
      </p:sp>
    </p:spTree>
    <p:extLst>
      <p:ext uri="{BB962C8B-B14F-4D97-AF65-F5344CB8AC3E}">
        <p14:creationId xmlns:p14="http://schemas.microsoft.com/office/powerpoint/2010/main" val="3669715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ED6A3899-AF80-428A-9939-59A5292709FB}" type="datetime1">
              <a:rPr lang="en-US" smtClean="0"/>
              <a:t>11/2/2024</a:t>
            </a:fld>
            <a:endParaRPr lang="en-US"/>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25</a:t>
            </a:fld>
            <a:endParaRPr kumimoji="0" lang="en-US"/>
          </a:p>
        </p:txBody>
      </p:sp>
      <p:pic>
        <p:nvPicPr>
          <p:cNvPr id="6" name="Picture 5"/>
          <p:cNvPicPr>
            <a:picLocks noChangeAspect="1"/>
          </p:cNvPicPr>
          <p:nvPr/>
        </p:nvPicPr>
        <p:blipFill>
          <a:blip r:embed="rId2"/>
          <a:stretch>
            <a:fillRect/>
          </a:stretch>
        </p:blipFill>
        <p:spPr>
          <a:xfrm>
            <a:off x="1304925" y="1314450"/>
            <a:ext cx="6534150" cy="4476750"/>
          </a:xfrm>
          <a:prstGeom prst="rect">
            <a:avLst/>
          </a:prstGeom>
        </p:spPr>
      </p:pic>
      <p:pic>
        <p:nvPicPr>
          <p:cNvPr id="7" name="Picture 6"/>
          <p:cNvPicPr>
            <a:picLocks noChangeAspect="1"/>
          </p:cNvPicPr>
          <p:nvPr/>
        </p:nvPicPr>
        <p:blipFill>
          <a:blip r:embed="rId3"/>
          <a:stretch>
            <a:fillRect/>
          </a:stretch>
        </p:blipFill>
        <p:spPr>
          <a:xfrm>
            <a:off x="661987" y="1257300"/>
            <a:ext cx="7820025" cy="4533900"/>
          </a:xfrm>
          <a:prstGeom prst="rect">
            <a:avLst/>
          </a:prstGeom>
        </p:spPr>
      </p:pic>
      <p:pic>
        <p:nvPicPr>
          <p:cNvPr id="8" name="Picture 7"/>
          <p:cNvPicPr>
            <a:picLocks noChangeAspect="1"/>
          </p:cNvPicPr>
          <p:nvPr/>
        </p:nvPicPr>
        <p:blipFill>
          <a:blip r:embed="rId4"/>
          <a:stretch>
            <a:fillRect/>
          </a:stretch>
        </p:blipFill>
        <p:spPr>
          <a:xfrm>
            <a:off x="669924" y="1260858"/>
            <a:ext cx="8033948" cy="4530342"/>
          </a:xfrm>
          <a:prstGeom prst="rect">
            <a:avLst/>
          </a:prstGeom>
        </p:spPr>
      </p:pic>
    </p:spTree>
    <p:extLst>
      <p:ext uri="{BB962C8B-B14F-4D97-AF65-F5344CB8AC3E}">
        <p14:creationId xmlns:p14="http://schemas.microsoft.com/office/powerpoint/2010/main" val="50513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12364"/>
            <a:ext cx="6934200" cy="715962"/>
          </a:xfrm>
        </p:spPr>
        <p:txBody>
          <a:bodyPr>
            <a:normAutofit/>
          </a:bodyPr>
          <a:lstStyle/>
          <a:p>
            <a:r>
              <a:rPr lang="en-US" dirty="0">
                <a:latin typeface="Times New Roman" panose="02020603050405020304" pitchFamily="18" charset="0"/>
                <a:cs typeface="Times New Roman" panose="02020603050405020304" pitchFamily="18" charset="0"/>
              </a:rPr>
              <a:t>Fiber Buffering</a:t>
            </a:r>
            <a:endParaRPr lang="en-US" dirty="0"/>
          </a:p>
        </p:txBody>
      </p:sp>
      <p:sp>
        <p:nvSpPr>
          <p:cNvPr id="3" name="Content Placeholder 2"/>
          <p:cNvSpPr>
            <a:spLocks noGrp="1"/>
          </p:cNvSpPr>
          <p:nvPr>
            <p:ph idx="1"/>
          </p:nvPr>
        </p:nvSpPr>
        <p:spPr>
          <a:xfrm>
            <a:off x="457200" y="1314234"/>
            <a:ext cx="8458200" cy="4983163"/>
          </a:xfrm>
        </p:spPr>
        <p:txBody>
          <a:bodyPr>
            <a:normAutofit/>
          </a:bodyPr>
          <a:lstStyle/>
          <a:p>
            <a:r>
              <a:rPr lang="en-US" dirty="0">
                <a:latin typeface="Times New Roman" panose="02020603050405020304" pitchFamily="18" charset="0"/>
                <a:cs typeface="Times New Roman" panose="02020603050405020304" pitchFamily="18" charset="0"/>
              </a:rPr>
              <a:t>Fiber is given a primary coating (jacket) during production (typically 5 to 10 </a:t>
            </a:r>
            <a:r>
              <a:rPr lang="en-US" dirty="0" err="1">
                <a:latin typeface="Times New Roman" panose="02020603050405020304" pitchFamily="18" charset="0"/>
                <a:cs typeface="Times New Roman" panose="02020603050405020304" pitchFamily="18" charset="0"/>
              </a:rPr>
              <a:t>μm</a:t>
            </a:r>
            <a:r>
              <a:rPr lang="en-US" dirty="0">
                <a:latin typeface="Times New Roman" panose="02020603050405020304" pitchFamily="18" charset="0"/>
                <a:cs typeface="Times New Roman" panose="02020603050405020304" pitchFamily="18" charset="0"/>
              </a:rPr>
              <a:t> of Teflon) in order </a:t>
            </a:r>
            <a:r>
              <a:rPr lang="en-US" b="1" dirty="0">
                <a:latin typeface="Times New Roman" panose="02020603050405020304" pitchFamily="18" charset="0"/>
                <a:cs typeface="Times New Roman" panose="02020603050405020304" pitchFamily="18" charset="0"/>
              </a:rPr>
              <a:t>to prevent abrasion </a:t>
            </a:r>
            <a:r>
              <a:rPr lang="en-US" dirty="0">
                <a:latin typeface="Times New Roman" panose="02020603050405020304" pitchFamily="18" charset="0"/>
                <a:cs typeface="Times New Roman" panose="02020603050405020304" pitchFamily="18" charset="0"/>
              </a:rPr>
              <a:t>of the glass surface and subsequent flaws in the material. </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primary coated fiber is then given a secondary </a:t>
            </a:r>
            <a:r>
              <a:rPr lang="en-US" b="1">
                <a:latin typeface="Times New Roman" panose="02020603050405020304" pitchFamily="18" charset="0"/>
                <a:cs typeface="Times New Roman" panose="02020603050405020304" pitchFamily="18" charset="0"/>
              </a:rPr>
              <a:t>or buffer coating </a:t>
            </a:r>
            <a:r>
              <a:rPr lang="en-US" dirty="0">
                <a:latin typeface="Times New Roman" panose="02020603050405020304" pitchFamily="18" charset="0"/>
                <a:cs typeface="Times New Roman" panose="02020603050405020304" pitchFamily="18" charset="0"/>
              </a:rPr>
              <a:t>(jacket) to provide protection against external mechanical and environmental influences. </a:t>
            </a:r>
          </a:p>
          <a:p>
            <a:r>
              <a:rPr lang="en-US" dirty="0">
                <a:latin typeface="Times New Roman" panose="02020603050405020304" pitchFamily="18" charset="0"/>
                <a:cs typeface="Times New Roman" panose="02020603050405020304" pitchFamily="18" charset="0"/>
              </a:rPr>
              <a:t>Buffer jacket is designed to protect the fiber from micro-bending losses and may take several different forms </a:t>
            </a:r>
          </a:p>
          <a:p>
            <a:r>
              <a:rPr lang="en-US" dirty="0">
                <a:latin typeface="Times New Roman" panose="02020603050405020304" pitchFamily="18" charset="0"/>
                <a:cs typeface="Times New Roman" panose="02020603050405020304" pitchFamily="18" charset="0"/>
              </a:rPr>
              <a:t>These generally fall into one of three distinct types </a:t>
            </a:r>
            <a:endParaRPr lang="en-US" dirty="0"/>
          </a:p>
          <a:p>
            <a:pPr lvl="1"/>
            <a:r>
              <a:rPr lang="en-US" sz="1800" b="1" dirty="0">
                <a:latin typeface="Times New Roman" panose="02020603050405020304" pitchFamily="18" charset="0"/>
                <a:cs typeface="Times New Roman" panose="02020603050405020304" pitchFamily="18" charset="0"/>
              </a:rPr>
              <a:t>Tight buffer jacket; </a:t>
            </a:r>
          </a:p>
          <a:p>
            <a:pPr lvl="1"/>
            <a:r>
              <a:rPr lang="en-US" sz="1800" b="1" dirty="0">
                <a:latin typeface="Times New Roman" panose="02020603050405020304" pitchFamily="18" charset="0"/>
                <a:cs typeface="Times New Roman" panose="02020603050405020304" pitchFamily="18" charset="0"/>
              </a:rPr>
              <a:t>Loose tube buffer jacket; </a:t>
            </a:r>
          </a:p>
          <a:p>
            <a:pPr lvl="1"/>
            <a:r>
              <a:rPr lang="en-US" sz="1800" b="1" dirty="0">
                <a:latin typeface="Times New Roman" panose="02020603050405020304" pitchFamily="18" charset="0"/>
                <a:cs typeface="Times New Roman" panose="02020603050405020304" pitchFamily="18" charset="0"/>
              </a:rPr>
              <a:t>Filled loose tube buffer jacket</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26</a:t>
            </a:fld>
            <a:endParaRPr kumimoji="0" lang="en-US"/>
          </a:p>
        </p:txBody>
      </p:sp>
      <p:sp>
        <p:nvSpPr>
          <p:cNvPr id="6" name="Date Placeholder 5"/>
          <p:cNvSpPr>
            <a:spLocks noGrp="1"/>
          </p:cNvSpPr>
          <p:nvPr>
            <p:ph type="dt" sz="half" idx="10"/>
          </p:nvPr>
        </p:nvSpPr>
        <p:spPr/>
        <p:txBody>
          <a:bodyPr/>
          <a:lstStyle/>
          <a:p>
            <a:fld id="{B8EF5184-B154-43E5-97EF-1ECE59A96B65}" type="datetime1">
              <a:rPr lang="en-US" smtClean="0"/>
              <a:t>11/2/2024</a:t>
            </a:fld>
            <a:endParaRPr lang="en-US"/>
          </a:p>
        </p:txBody>
      </p:sp>
    </p:spTree>
    <p:extLst>
      <p:ext uri="{BB962C8B-B14F-4D97-AF65-F5344CB8AC3E}">
        <p14:creationId xmlns:p14="http://schemas.microsoft.com/office/powerpoint/2010/main" val="3723791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4150" y="621049"/>
            <a:ext cx="5708650" cy="715962"/>
          </a:xfrm>
        </p:spPr>
        <p:txBody>
          <a:bodyPr>
            <a:normAutofit/>
          </a:bodyPr>
          <a:lstStyle/>
          <a:p>
            <a:r>
              <a:rPr lang="en-US" dirty="0">
                <a:latin typeface="Times New Roman" panose="02020603050405020304" pitchFamily="18" charset="0"/>
                <a:cs typeface="Times New Roman" panose="02020603050405020304" pitchFamily="18" charset="0"/>
              </a:rPr>
              <a:t>Fiber Buffering</a:t>
            </a:r>
            <a:endParaRPr lang="en-US" dirty="0"/>
          </a:p>
        </p:txBody>
      </p:sp>
      <p:sp>
        <p:nvSpPr>
          <p:cNvPr id="3" name="Content Placeholder 2"/>
          <p:cNvSpPr>
            <a:spLocks noGrp="1"/>
          </p:cNvSpPr>
          <p:nvPr>
            <p:ph idx="1"/>
          </p:nvPr>
        </p:nvSpPr>
        <p:spPr>
          <a:xfrm>
            <a:off x="444500" y="1337011"/>
            <a:ext cx="5029200" cy="4983163"/>
          </a:xfrm>
        </p:spPr>
        <p:txBody>
          <a:bodyPr>
            <a:normAutofit/>
          </a:bodyPr>
          <a:lstStyle/>
          <a:p>
            <a:r>
              <a:rPr lang="en-US" sz="2000" b="1" dirty="0">
                <a:latin typeface="Times New Roman" panose="02020603050405020304" pitchFamily="18" charset="0"/>
                <a:cs typeface="Times New Roman" panose="02020603050405020304" pitchFamily="18" charset="0"/>
              </a:rPr>
              <a:t>Tight buffer jacket: </a:t>
            </a:r>
          </a:p>
          <a:p>
            <a:pPr lvl="1"/>
            <a:r>
              <a:rPr lang="en-US" sz="1800" dirty="0">
                <a:latin typeface="Times New Roman" panose="02020603050405020304" pitchFamily="18" charset="0"/>
                <a:cs typeface="Times New Roman" panose="02020603050405020304" pitchFamily="18" charset="0"/>
              </a:rPr>
              <a:t>consists of </a:t>
            </a:r>
            <a:r>
              <a:rPr lang="en-US" sz="1800" b="1" dirty="0">
                <a:latin typeface="Times New Roman" panose="02020603050405020304" pitchFamily="18" charset="0"/>
                <a:cs typeface="Times New Roman" panose="02020603050405020304" pitchFamily="18" charset="0"/>
              </a:rPr>
              <a:t>a hard plastic </a:t>
            </a:r>
            <a:r>
              <a:rPr lang="en-US" sz="1800" dirty="0">
                <a:latin typeface="Times New Roman" panose="02020603050405020304" pitchFamily="18" charset="0"/>
                <a:cs typeface="Times New Roman" panose="02020603050405020304" pitchFamily="18" charset="0"/>
              </a:rPr>
              <a:t>(e.g. nylon, </a:t>
            </a:r>
            <a:r>
              <a:rPr lang="en-US" sz="1800" dirty="0" err="1">
                <a:latin typeface="Times New Roman" panose="02020603050405020304" pitchFamily="18" charset="0"/>
                <a:cs typeface="Times New Roman" panose="02020603050405020304" pitchFamily="18" charset="0"/>
              </a:rPr>
              <a:t>Hytrel</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Tefzel</a:t>
            </a:r>
            <a:r>
              <a:rPr lang="en-US" sz="1800" dirty="0">
                <a:latin typeface="Times New Roman" panose="02020603050405020304" pitchFamily="18" charset="0"/>
                <a:cs typeface="Times New Roman" panose="02020603050405020304" pitchFamily="18" charset="0"/>
              </a:rPr>
              <a:t>) and is in </a:t>
            </a:r>
            <a:r>
              <a:rPr lang="en-US" sz="1800" b="1" dirty="0">
                <a:latin typeface="Times New Roman" panose="02020603050405020304" pitchFamily="18" charset="0"/>
                <a:cs typeface="Times New Roman" panose="02020603050405020304" pitchFamily="18" charset="0"/>
              </a:rPr>
              <a:t>direct contact with the primary coated </a:t>
            </a:r>
            <a:r>
              <a:rPr lang="en-US" sz="1800" dirty="0">
                <a:latin typeface="Times New Roman" panose="02020603050405020304" pitchFamily="18" charset="0"/>
                <a:cs typeface="Times New Roman" panose="02020603050405020304" pitchFamily="18" charset="0"/>
              </a:rPr>
              <a:t>fiber</a:t>
            </a:r>
          </a:p>
          <a:p>
            <a:pPr lvl="1"/>
            <a:r>
              <a:rPr lang="en-US" sz="1800" dirty="0">
                <a:latin typeface="Times New Roman" panose="02020603050405020304" pitchFamily="18" charset="0"/>
                <a:cs typeface="Times New Roman" panose="02020603050405020304" pitchFamily="18" charset="0"/>
              </a:rPr>
              <a:t>which has a typical diameter of 250 </a:t>
            </a:r>
            <a:r>
              <a:rPr lang="en-US" sz="1800" dirty="0" err="1">
                <a:latin typeface="Times New Roman" panose="02020603050405020304" pitchFamily="18" charset="0"/>
                <a:cs typeface="Times New Roman" panose="02020603050405020304" pitchFamily="18" charset="0"/>
              </a:rPr>
              <a:t>μm</a:t>
            </a:r>
            <a:r>
              <a:rPr lang="en-US" sz="1800" dirty="0">
                <a:latin typeface="Times New Roman" panose="02020603050405020304" pitchFamily="18" charset="0"/>
                <a:cs typeface="Times New Roman" panose="02020603050405020304" pitchFamily="18" charset="0"/>
              </a:rPr>
              <a:t>. </a:t>
            </a:r>
          </a:p>
          <a:p>
            <a:pPr lvl="1"/>
            <a:r>
              <a:rPr lang="en-US" sz="1800" dirty="0">
                <a:latin typeface="Times New Roman" panose="02020603050405020304" pitchFamily="18" charset="0"/>
                <a:cs typeface="Times New Roman" panose="02020603050405020304" pitchFamily="18" charset="0"/>
              </a:rPr>
              <a:t>This thick buffer coating (usually 900 </a:t>
            </a:r>
            <a:r>
              <a:rPr lang="en-US" sz="1800" dirty="0" err="1">
                <a:latin typeface="Times New Roman" panose="02020603050405020304" pitchFamily="18" charset="0"/>
                <a:cs typeface="Times New Roman" panose="02020603050405020304" pitchFamily="18" charset="0"/>
              </a:rPr>
              <a:t>μm</a:t>
            </a:r>
            <a:r>
              <a:rPr lang="en-US" sz="1800" dirty="0">
                <a:latin typeface="Times New Roman" panose="02020603050405020304" pitchFamily="18" charset="0"/>
                <a:cs typeface="Times New Roman" panose="02020603050405020304" pitchFamily="18" charset="0"/>
              </a:rPr>
              <a:t> in diameter) provides </a:t>
            </a:r>
            <a:r>
              <a:rPr lang="en-US" sz="1800" b="1" dirty="0">
                <a:latin typeface="Times New Roman" panose="02020603050405020304" pitchFamily="18" charset="0"/>
                <a:cs typeface="Times New Roman" panose="02020603050405020304" pitchFamily="18" charset="0"/>
              </a:rPr>
              <a:t>stiffenin</a:t>
            </a:r>
            <a:r>
              <a:rPr lang="en-US" sz="1800" dirty="0">
                <a:latin typeface="Times New Roman" panose="02020603050405020304" pitchFamily="18" charset="0"/>
                <a:cs typeface="Times New Roman" panose="02020603050405020304" pitchFamily="18" charset="0"/>
              </a:rPr>
              <a:t>g for the fiber </a:t>
            </a:r>
            <a:r>
              <a:rPr lang="en-US" sz="1800" b="1" dirty="0">
                <a:latin typeface="Times New Roman" panose="02020603050405020304" pitchFamily="18" charset="0"/>
                <a:cs typeface="Times New Roman" panose="02020603050405020304" pitchFamily="18" charset="0"/>
              </a:rPr>
              <a:t>against outside micro-bending influences,</a:t>
            </a:r>
            <a:r>
              <a:rPr lang="en-US" sz="1800" dirty="0">
                <a:latin typeface="Times New Roman" panose="02020603050405020304" pitchFamily="18" charset="0"/>
                <a:cs typeface="Times New Roman" panose="02020603050405020304" pitchFamily="18" charset="0"/>
              </a:rPr>
              <a:t> </a:t>
            </a:r>
          </a:p>
          <a:p>
            <a:pPr lvl="1"/>
            <a:r>
              <a:rPr lang="en-US" sz="1800" dirty="0">
                <a:latin typeface="Times New Roman" panose="02020603050405020304" pitchFamily="18" charset="0"/>
                <a:cs typeface="Times New Roman" panose="02020603050405020304" pitchFamily="18" charset="0"/>
              </a:rPr>
              <a:t>but it must be applied in such a manner as not to cause micro-bending losses itself</a:t>
            </a:r>
            <a:br>
              <a:rPr lang="en-US" sz="1800" dirty="0"/>
            </a:br>
            <a:r>
              <a:rPr lang="en-US" dirty="0">
                <a:latin typeface="Times New Roman" panose="02020603050405020304" pitchFamily="18" charset="0"/>
                <a:cs typeface="Times New Roman" panose="02020603050405020304" pitchFamily="18" charset="0"/>
              </a:rPr>
              <a:t>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27</a:t>
            </a:fld>
            <a:endParaRPr kumimoji="0" lang="en-US"/>
          </a:p>
        </p:txBody>
      </p:sp>
      <p:pic>
        <p:nvPicPr>
          <p:cNvPr id="7" name="Picture 6"/>
          <p:cNvPicPr>
            <a:picLocks noChangeAspect="1"/>
          </p:cNvPicPr>
          <p:nvPr/>
        </p:nvPicPr>
        <p:blipFill>
          <a:blip r:embed="rId2"/>
          <a:stretch>
            <a:fillRect/>
          </a:stretch>
        </p:blipFill>
        <p:spPr>
          <a:xfrm>
            <a:off x="5715000" y="1219200"/>
            <a:ext cx="2743200" cy="4286250"/>
          </a:xfrm>
          <a:prstGeom prst="rect">
            <a:avLst/>
          </a:prstGeom>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105400"/>
            <a:ext cx="44577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Date Placeholder 5"/>
          <p:cNvSpPr>
            <a:spLocks noGrp="1"/>
          </p:cNvSpPr>
          <p:nvPr>
            <p:ph type="dt" sz="half" idx="10"/>
          </p:nvPr>
        </p:nvSpPr>
        <p:spPr/>
        <p:txBody>
          <a:bodyPr/>
          <a:lstStyle/>
          <a:p>
            <a:fld id="{1DCF5697-FC03-4AC1-97CF-868AFA5705B6}" type="datetime1">
              <a:rPr lang="en-US" smtClean="0"/>
              <a:t>11/2/2024</a:t>
            </a:fld>
            <a:endParaRPr lang="en-US"/>
          </a:p>
        </p:txBody>
      </p:sp>
    </p:spTree>
    <p:extLst>
      <p:ext uri="{BB962C8B-B14F-4D97-AF65-F5344CB8AC3E}">
        <p14:creationId xmlns:p14="http://schemas.microsoft.com/office/powerpoint/2010/main" val="1024360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12364"/>
            <a:ext cx="6400800" cy="715962"/>
          </a:xfrm>
        </p:spPr>
        <p:txBody>
          <a:bodyPr>
            <a:normAutofit/>
          </a:bodyPr>
          <a:lstStyle/>
          <a:p>
            <a:r>
              <a:rPr lang="en-US" dirty="0">
                <a:latin typeface="Times New Roman" panose="02020603050405020304" pitchFamily="18" charset="0"/>
                <a:cs typeface="Times New Roman" panose="02020603050405020304" pitchFamily="18" charset="0"/>
              </a:rPr>
              <a:t>Fiber Buffering</a:t>
            </a:r>
            <a:endParaRPr lang="en-US" dirty="0"/>
          </a:p>
        </p:txBody>
      </p:sp>
      <p:sp>
        <p:nvSpPr>
          <p:cNvPr id="3" name="Content Placeholder 2"/>
          <p:cNvSpPr>
            <a:spLocks noGrp="1"/>
          </p:cNvSpPr>
          <p:nvPr>
            <p:ph idx="1"/>
          </p:nvPr>
        </p:nvSpPr>
        <p:spPr>
          <a:xfrm>
            <a:off x="152400" y="1371600"/>
            <a:ext cx="4800600" cy="5334000"/>
          </a:xfrm>
        </p:spPr>
        <p:txBody>
          <a:bodyPr>
            <a:normAutofit/>
          </a:bodyPr>
          <a:lstStyle/>
          <a:p>
            <a:r>
              <a:rPr lang="en-US" sz="2000" b="1" dirty="0">
                <a:latin typeface="Times New Roman" panose="02020603050405020304" pitchFamily="18" charset="0"/>
                <a:cs typeface="Times New Roman" panose="02020603050405020304" pitchFamily="18" charset="0"/>
              </a:rPr>
              <a:t>Loose tube buffer jacket: </a:t>
            </a:r>
          </a:p>
          <a:p>
            <a:pPr lvl="1"/>
            <a:r>
              <a:rPr lang="en-US" dirty="0">
                <a:latin typeface="Times New Roman" panose="02020603050405020304" pitchFamily="18" charset="0"/>
                <a:cs typeface="Times New Roman" panose="02020603050405020304" pitchFamily="18" charset="0"/>
              </a:rPr>
              <a:t>Produces </a:t>
            </a:r>
            <a:r>
              <a:rPr lang="en-US" b="1" dirty="0">
                <a:latin typeface="Times New Roman" panose="02020603050405020304" pitchFamily="18" charset="0"/>
                <a:cs typeface="Times New Roman" panose="02020603050405020304" pitchFamily="18" charset="0"/>
              </a:rPr>
              <a:t>an over sized cavity </a:t>
            </a:r>
            <a:r>
              <a:rPr lang="en-US" dirty="0">
                <a:latin typeface="Times New Roman" panose="02020603050405020304" pitchFamily="18" charset="0"/>
                <a:cs typeface="Times New Roman" panose="02020603050405020304" pitchFamily="18" charset="0"/>
              </a:rPr>
              <a:t>in which the fiber is placed and which mechanically isolates the fiber from external forces.</a:t>
            </a:r>
          </a:p>
          <a:p>
            <a:pPr lvl="1"/>
            <a:r>
              <a:rPr lang="en-US" dirty="0">
                <a:latin typeface="Times New Roman" panose="02020603050405020304" pitchFamily="18" charset="0"/>
                <a:cs typeface="Times New Roman" panose="02020603050405020304" pitchFamily="18" charset="0"/>
              </a:rPr>
              <a:t>Generally achieved by using a hard, smooth, flexible material, or combination of materials (e.g. polyester and polyamide)</a:t>
            </a:r>
          </a:p>
          <a:p>
            <a:pPr lvl="1"/>
            <a:r>
              <a:rPr lang="en-US" dirty="0">
                <a:latin typeface="Times New Roman" panose="02020603050405020304" pitchFamily="18" charset="0"/>
                <a:cs typeface="Times New Roman" panose="02020603050405020304" pitchFamily="18" charset="0"/>
              </a:rPr>
              <a:t>Outer diameter of typically 1.4 mm. </a:t>
            </a:r>
          </a:p>
          <a:p>
            <a:pPr lvl="1"/>
            <a:r>
              <a:rPr lang="en-US" dirty="0">
                <a:latin typeface="Times New Roman" panose="02020603050405020304" pitchFamily="18" charset="0"/>
                <a:cs typeface="Times New Roman" panose="02020603050405020304" pitchFamily="18" charset="0"/>
              </a:rPr>
              <a:t>As </a:t>
            </a:r>
            <a:r>
              <a:rPr lang="en-US" b="1" dirty="0">
                <a:latin typeface="Times New Roman" panose="02020603050405020304" pitchFamily="18" charset="0"/>
                <a:cs typeface="Times New Roman" panose="02020603050405020304" pitchFamily="18" charset="0"/>
              </a:rPr>
              <a:t>smooth inside</a:t>
            </a:r>
            <a:r>
              <a:rPr lang="en-US" dirty="0">
                <a:latin typeface="Times New Roman" panose="02020603050405020304" pitchFamily="18" charset="0"/>
                <a:cs typeface="Times New Roman" panose="02020603050405020304" pitchFamily="18" charset="0"/>
              </a:rPr>
              <a:t>, exhibits a low resistance to movement of the fiber.</a:t>
            </a:r>
          </a:p>
          <a:p>
            <a:pPr lvl="1"/>
            <a:r>
              <a:rPr lang="en-US" dirty="0">
                <a:latin typeface="Times New Roman" panose="02020603050405020304" pitchFamily="18" charset="0"/>
                <a:cs typeface="Times New Roman" panose="02020603050405020304" pitchFamily="18" charset="0"/>
              </a:rPr>
              <a:t>Can be easily stripped for jointing or fiber termination.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28</a:t>
            </a:fld>
            <a:endParaRPr kumimoji="0" lang="en-US"/>
          </a:p>
        </p:txBody>
      </p:sp>
      <p:sp>
        <p:nvSpPr>
          <p:cNvPr id="6" name="Date Placeholder 5"/>
          <p:cNvSpPr>
            <a:spLocks noGrp="1"/>
          </p:cNvSpPr>
          <p:nvPr>
            <p:ph type="dt" sz="half" idx="10"/>
          </p:nvPr>
        </p:nvSpPr>
        <p:spPr/>
        <p:txBody>
          <a:bodyPr/>
          <a:lstStyle/>
          <a:p>
            <a:fld id="{CDB5C5A6-C50E-45AA-BD6C-EE96F9097535}" type="datetime1">
              <a:rPr lang="en-US" smtClean="0"/>
              <a:t>11/2/2024</a:t>
            </a:fld>
            <a:endParaRPr lang="en-US"/>
          </a:p>
        </p:txBody>
      </p:sp>
      <p:pic>
        <p:nvPicPr>
          <p:cNvPr id="10" name="Picture 9"/>
          <p:cNvPicPr>
            <a:picLocks noChangeAspect="1"/>
          </p:cNvPicPr>
          <p:nvPr/>
        </p:nvPicPr>
        <p:blipFill>
          <a:blip r:embed="rId2"/>
          <a:stretch>
            <a:fillRect/>
          </a:stretch>
        </p:blipFill>
        <p:spPr>
          <a:xfrm>
            <a:off x="5334000" y="1489180"/>
            <a:ext cx="3733800" cy="4459655"/>
          </a:xfrm>
          <a:prstGeom prst="rect">
            <a:avLst/>
          </a:prstGeom>
        </p:spPr>
      </p:pic>
    </p:spTree>
    <p:extLst>
      <p:ext uri="{BB962C8B-B14F-4D97-AF65-F5344CB8AC3E}">
        <p14:creationId xmlns:p14="http://schemas.microsoft.com/office/powerpoint/2010/main" val="354542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0"/>
                                        </p:tgtEl>
                                        <p:attrNameLst>
                                          <p:attrName>ppt_x</p:attrName>
                                        </p:attrNameLst>
                                      </p:cBhvr>
                                      <p:tavLst>
                                        <p:tav tm="0">
                                          <p:val>
                                            <p:strVal val="ppt_x"/>
                                          </p:val>
                                        </p:tav>
                                        <p:tav tm="100000">
                                          <p:val>
                                            <p:strVal val="ppt_x"/>
                                          </p:val>
                                        </p:tav>
                                      </p:tavLst>
                                    </p:anim>
                                    <p:anim calcmode="lin" valueType="num">
                                      <p:cBhvr additive="base">
                                        <p:cTn id="7" dur="500"/>
                                        <p:tgtEl>
                                          <p:spTgt spid="10"/>
                                        </p:tgtEl>
                                        <p:attrNameLst>
                                          <p:attrName>ppt_y</p:attrName>
                                        </p:attrNameLst>
                                      </p:cBhvr>
                                      <p:tavLst>
                                        <p:tav tm="0">
                                          <p:val>
                                            <p:strVal val="ppt_y"/>
                                          </p:val>
                                        </p:tav>
                                        <p:tav tm="100000">
                                          <p:val>
                                            <p:strVal val="1+ppt_h/2"/>
                                          </p:val>
                                        </p:tav>
                                      </p:tavLst>
                                    </p:anim>
                                    <p:set>
                                      <p:cBhvr>
                                        <p:cTn id="8"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12364"/>
            <a:ext cx="6400800" cy="715962"/>
          </a:xfrm>
        </p:spPr>
        <p:txBody>
          <a:bodyPr>
            <a:normAutofit/>
          </a:bodyPr>
          <a:lstStyle/>
          <a:p>
            <a:r>
              <a:rPr lang="en-US" dirty="0">
                <a:latin typeface="Times New Roman" panose="02020603050405020304" pitchFamily="18" charset="0"/>
                <a:cs typeface="Times New Roman" panose="02020603050405020304" pitchFamily="18" charset="0"/>
              </a:rPr>
              <a:t>Fiber Buffering</a:t>
            </a:r>
            <a:endParaRPr lang="en-US" dirty="0"/>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29</a:t>
            </a:fld>
            <a:endParaRPr kumimoji="0" lang="en-US"/>
          </a:p>
        </p:txBody>
      </p:sp>
      <p:pic>
        <p:nvPicPr>
          <p:cNvPr id="2050" name="Picture 2" descr="Image result for Loose tube buffer jack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0994" y="1221567"/>
            <a:ext cx="5029200" cy="286105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Loose tube buffer jack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197" y="3733800"/>
            <a:ext cx="5352603" cy="277146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p:cNvSpPr>
            <a:spLocks noGrp="1"/>
          </p:cNvSpPr>
          <p:nvPr>
            <p:ph type="dt" sz="half" idx="10"/>
          </p:nvPr>
        </p:nvSpPr>
        <p:spPr/>
        <p:txBody>
          <a:bodyPr/>
          <a:lstStyle/>
          <a:p>
            <a:fld id="{CDB5C5A6-C50E-45AA-BD6C-EE96F9097535}" type="datetime1">
              <a:rPr lang="en-US" smtClean="0"/>
              <a:t>11/2/2024</a:t>
            </a:fld>
            <a:endParaRPr lang="en-US"/>
          </a:p>
        </p:txBody>
      </p:sp>
    </p:spTree>
    <p:extLst>
      <p:ext uri="{BB962C8B-B14F-4D97-AF65-F5344CB8AC3E}">
        <p14:creationId xmlns:p14="http://schemas.microsoft.com/office/powerpoint/2010/main" val="428174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12364"/>
            <a:ext cx="7090980" cy="715962"/>
          </a:xfrm>
        </p:spPr>
        <p:txBody>
          <a:bodyPr>
            <a:normAutofit/>
          </a:bodyPr>
          <a:lstStyle/>
          <a:p>
            <a:r>
              <a:rPr lang="en-US" dirty="0">
                <a:latin typeface="Times New Roman" panose="02020603050405020304" pitchFamily="18" charset="0"/>
                <a:cs typeface="Times New Roman" panose="02020603050405020304" pitchFamily="18" charset="0"/>
              </a:rPr>
              <a:t>Fiber Buffering</a:t>
            </a:r>
            <a:endParaRPr lang="en-US" dirty="0"/>
          </a:p>
        </p:txBody>
      </p:sp>
      <p:sp>
        <p:nvSpPr>
          <p:cNvPr id="3" name="Content Placeholder 2"/>
          <p:cNvSpPr>
            <a:spLocks noGrp="1"/>
          </p:cNvSpPr>
          <p:nvPr>
            <p:ph idx="1"/>
          </p:nvPr>
        </p:nvSpPr>
        <p:spPr>
          <a:xfrm>
            <a:off x="449803" y="1522097"/>
            <a:ext cx="5867400" cy="4983163"/>
          </a:xfrm>
        </p:spPr>
        <p:txBody>
          <a:bodyPr>
            <a:normAutofit/>
          </a:bodyPr>
          <a:lstStyle/>
          <a:p>
            <a:r>
              <a:rPr lang="en-US" sz="2000" b="1" dirty="0">
                <a:latin typeface="Times New Roman" panose="02020603050405020304" pitchFamily="18" charset="0"/>
                <a:cs typeface="Times New Roman" panose="02020603050405020304" pitchFamily="18" charset="0"/>
              </a:rPr>
              <a:t>Filled loose tube buffer jacket: </a:t>
            </a:r>
            <a:r>
              <a:rPr lang="en-US" sz="2000" dirty="0">
                <a:latin typeface="Times New Roman" panose="02020603050405020304" pitchFamily="18" charset="0"/>
                <a:cs typeface="Times New Roman" panose="02020603050405020304" pitchFamily="18" charset="0"/>
              </a:rPr>
              <a:t>over sized cavity is filled with a moisture-resistant compound</a:t>
            </a:r>
          </a:p>
          <a:p>
            <a:pPr lvl="1"/>
            <a:r>
              <a:rPr lang="en-US" sz="1800" dirty="0">
                <a:latin typeface="Times New Roman" panose="02020603050405020304" pitchFamily="18" charset="0"/>
                <a:cs typeface="Times New Roman" panose="02020603050405020304" pitchFamily="18" charset="0"/>
              </a:rPr>
              <a:t>which combines the advantages of the previous methods, also provides a </a:t>
            </a:r>
            <a:r>
              <a:rPr lang="en-US" sz="1800" b="1" dirty="0">
                <a:latin typeface="Times New Roman" panose="02020603050405020304" pitchFamily="18" charset="0"/>
                <a:cs typeface="Times New Roman" panose="02020603050405020304" pitchFamily="18" charset="0"/>
              </a:rPr>
              <a:t>water barrier </a:t>
            </a:r>
            <a:r>
              <a:rPr lang="en-US" sz="1800" dirty="0">
                <a:latin typeface="Times New Roman" panose="02020603050405020304" pitchFamily="18" charset="0"/>
                <a:cs typeface="Times New Roman" panose="02020603050405020304" pitchFamily="18" charset="0"/>
              </a:rPr>
              <a:t>in the immediate vicinity of the fiber.</a:t>
            </a:r>
          </a:p>
          <a:p>
            <a:pPr lvl="1"/>
            <a:r>
              <a:rPr lang="en-US" sz="1800" dirty="0">
                <a:latin typeface="Times New Roman" panose="02020603050405020304" pitchFamily="18" charset="0"/>
                <a:cs typeface="Times New Roman" panose="02020603050405020304" pitchFamily="18" charset="0"/>
              </a:rPr>
              <a:t>must be </a:t>
            </a:r>
            <a:r>
              <a:rPr lang="en-US" sz="1800" b="1" dirty="0">
                <a:latin typeface="Times New Roman" panose="02020603050405020304" pitchFamily="18" charset="0"/>
                <a:cs typeface="Times New Roman" panose="02020603050405020304" pitchFamily="18" charset="0"/>
              </a:rPr>
              <a:t>soft, self-healing and stable over a wide range of temperatures </a:t>
            </a:r>
            <a:r>
              <a:rPr lang="en-US" sz="1800" dirty="0">
                <a:latin typeface="Times New Roman" panose="02020603050405020304" pitchFamily="18" charset="0"/>
                <a:cs typeface="Times New Roman" panose="02020603050405020304" pitchFamily="18" charset="0"/>
              </a:rPr>
              <a:t>(i.e. it should not drip out or freeze between −30 and +70°C),</a:t>
            </a:r>
          </a:p>
          <a:p>
            <a:pPr lvl="1"/>
            <a:r>
              <a:rPr lang="en-US" sz="1800" dirty="0">
                <a:latin typeface="Times New Roman" panose="02020603050405020304" pitchFamily="18" charset="0"/>
                <a:cs typeface="Times New Roman" panose="02020603050405020304" pitchFamily="18" charset="0"/>
              </a:rPr>
              <a:t>consists of specially blended </a:t>
            </a:r>
            <a:r>
              <a:rPr lang="en-US" sz="1800" b="1" dirty="0">
                <a:latin typeface="Times New Roman" panose="02020603050405020304" pitchFamily="18" charset="0"/>
                <a:cs typeface="Times New Roman" panose="02020603050405020304" pitchFamily="18" charset="0"/>
              </a:rPr>
              <a:t>petroleum or silicon-based compounds</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30</a:t>
            </a:fld>
            <a:endParaRPr kumimoji="0" lang="en-US"/>
          </a:p>
        </p:txBody>
      </p:sp>
      <p:pic>
        <p:nvPicPr>
          <p:cNvPr id="7" name="Picture 6"/>
          <p:cNvPicPr>
            <a:picLocks noChangeAspect="1"/>
          </p:cNvPicPr>
          <p:nvPr/>
        </p:nvPicPr>
        <p:blipFill>
          <a:blip r:embed="rId2"/>
          <a:stretch>
            <a:fillRect/>
          </a:stretch>
        </p:blipFill>
        <p:spPr>
          <a:xfrm>
            <a:off x="6342603" y="1143000"/>
            <a:ext cx="2591847" cy="3733800"/>
          </a:xfrm>
          <a:prstGeom prst="rect">
            <a:avLst/>
          </a:prstGeom>
        </p:spPr>
      </p:pic>
      <p:sp>
        <p:nvSpPr>
          <p:cNvPr id="6" name="Date Placeholder 5"/>
          <p:cNvSpPr>
            <a:spLocks noGrp="1"/>
          </p:cNvSpPr>
          <p:nvPr>
            <p:ph type="dt" sz="half" idx="10"/>
          </p:nvPr>
        </p:nvSpPr>
        <p:spPr/>
        <p:txBody>
          <a:bodyPr/>
          <a:lstStyle/>
          <a:p>
            <a:fld id="{3E3EDD8E-3859-458D-B42B-8791C33A981E}" type="datetime1">
              <a:rPr lang="en-US" smtClean="0"/>
              <a:t>11/2/2024</a:t>
            </a:fld>
            <a:endParaRPr lang="en-US"/>
          </a:p>
        </p:txBody>
      </p:sp>
    </p:spTree>
    <p:extLst>
      <p:ext uri="{BB962C8B-B14F-4D97-AF65-F5344CB8AC3E}">
        <p14:creationId xmlns:p14="http://schemas.microsoft.com/office/powerpoint/2010/main" val="2948390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41863"/>
            <a:ext cx="6858000" cy="638175"/>
          </a:xfrm>
        </p:spPr>
        <p:txBody>
          <a:bodyPr>
            <a:normAutofit fontScale="90000"/>
          </a:bodyPr>
          <a:lstStyle/>
          <a:p>
            <a:r>
              <a:rPr lang="en-US" dirty="0">
                <a:latin typeface="Times New Roman" panose="02020603050405020304" pitchFamily="18" charset="0"/>
                <a:cs typeface="Times New Roman" panose="02020603050405020304" pitchFamily="18" charset="0"/>
              </a:rPr>
              <a:t>Fiber Buffering</a:t>
            </a:r>
            <a:endParaRPr lang="en-US" dirty="0"/>
          </a:p>
        </p:txBody>
      </p:sp>
      <p:sp>
        <p:nvSpPr>
          <p:cNvPr id="3" name="Content Placeholder 2"/>
          <p:cNvSpPr>
            <a:spLocks noGrp="1"/>
          </p:cNvSpPr>
          <p:nvPr>
            <p:ph idx="1"/>
          </p:nvPr>
        </p:nvSpPr>
        <p:spPr>
          <a:xfrm>
            <a:off x="457200" y="1315723"/>
            <a:ext cx="8686800" cy="5213350"/>
          </a:xfrm>
        </p:spPr>
        <p:txBody>
          <a:bodyPr>
            <a:normAutofit/>
          </a:bodyPr>
          <a:lstStyle/>
          <a:p>
            <a:r>
              <a:rPr lang="en-US" sz="2000" b="1" dirty="0" err="1">
                <a:latin typeface="Times New Roman" panose="02020603050405020304" pitchFamily="18" charset="0"/>
                <a:cs typeface="Times New Roman" panose="02020603050405020304" pitchFamily="18" charset="0"/>
              </a:rPr>
              <a:t>Maxitube</a:t>
            </a:r>
            <a:r>
              <a:rPr lang="en-US" sz="2000" b="1" dirty="0">
                <a:latin typeface="Times New Roman" panose="02020603050405020304" pitchFamily="18" charset="0"/>
                <a:cs typeface="Times New Roman" panose="02020603050405020304" pitchFamily="18" charset="0"/>
              </a:rPr>
              <a:t> loose buffer : </a:t>
            </a:r>
          </a:p>
          <a:p>
            <a:pPr lvl="1"/>
            <a:r>
              <a:rPr lang="en-US" sz="2000" dirty="0">
                <a:latin typeface="Times New Roman" panose="02020603050405020304" pitchFamily="18" charset="0"/>
                <a:cs typeface="Times New Roman" panose="02020603050405020304" pitchFamily="18" charset="0"/>
              </a:rPr>
              <a:t>comprises a larger buffer jacket with an outside diameter of typically 6 mm, </a:t>
            </a:r>
          </a:p>
          <a:p>
            <a:pPr lvl="1"/>
            <a:r>
              <a:rPr lang="en-US" sz="2000" dirty="0">
                <a:latin typeface="Times New Roman" panose="02020603050405020304" pitchFamily="18" charset="0"/>
                <a:cs typeface="Times New Roman" panose="02020603050405020304" pitchFamily="18" charset="0"/>
              </a:rPr>
              <a:t>inside which a greater number of either individual fibers or fibers in the form of bundles or ribbon structures can be placed</a:t>
            </a:r>
          </a:p>
          <a:p>
            <a:pPr lvl="1"/>
            <a:r>
              <a:rPr lang="en-US" sz="2000" dirty="0">
                <a:latin typeface="Times New Roman" panose="02020603050405020304" pitchFamily="18" charset="0"/>
                <a:cs typeface="Times New Roman" panose="02020603050405020304" pitchFamily="18" charset="0"/>
              </a:rPr>
              <a:t>Optical fibers located inside the multi-fiber maxi-tube are stranded and through this process an excess length of approximately 0.5% can be obtained</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31</a:t>
            </a:fld>
            <a:endParaRPr kumimoji="0" lang="en-US"/>
          </a:p>
        </p:txBody>
      </p:sp>
      <p:pic>
        <p:nvPicPr>
          <p:cNvPr id="6" name="Picture 5"/>
          <p:cNvPicPr>
            <a:picLocks noChangeAspect="1"/>
          </p:cNvPicPr>
          <p:nvPr/>
        </p:nvPicPr>
        <p:blipFill>
          <a:blip r:embed="rId2"/>
          <a:stretch>
            <a:fillRect/>
          </a:stretch>
        </p:blipFill>
        <p:spPr>
          <a:xfrm>
            <a:off x="1219200" y="4022748"/>
            <a:ext cx="7162800" cy="2457112"/>
          </a:xfrm>
          <a:prstGeom prst="rect">
            <a:avLst/>
          </a:prstGeom>
        </p:spPr>
      </p:pic>
      <p:sp>
        <p:nvSpPr>
          <p:cNvPr id="7" name="Date Placeholder 6"/>
          <p:cNvSpPr>
            <a:spLocks noGrp="1"/>
          </p:cNvSpPr>
          <p:nvPr>
            <p:ph type="dt" sz="half" idx="10"/>
          </p:nvPr>
        </p:nvSpPr>
        <p:spPr/>
        <p:txBody>
          <a:bodyPr/>
          <a:lstStyle/>
          <a:p>
            <a:fld id="{BD97571D-89FD-4F14-924D-53E56C5F97A3}" type="datetime1">
              <a:rPr lang="en-US" smtClean="0"/>
              <a:t>11/2/2024</a:t>
            </a:fld>
            <a:endParaRPr lang="en-US"/>
          </a:p>
        </p:txBody>
      </p:sp>
    </p:spTree>
    <p:extLst>
      <p:ext uri="{BB962C8B-B14F-4D97-AF65-F5344CB8AC3E}">
        <p14:creationId xmlns:p14="http://schemas.microsoft.com/office/powerpoint/2010/main" val="2006320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27234"/>
            <a:ext cx="8229600" cy="792162"/>
          </a:xfrm>
        </p:spPr>
        <p:txBody>
          <a:bodyPr>
            <a:normAutofit/>
          </a:bodyPr>
          <a:lstStyle/>
          <a:p>
            <a:r>
              <a:rPr lang="en-US" sz="3200" b="1" dirty="0">
                <a:latin typeface="Times New Roman" panose="02020603050405020304" pitchFamily="18" charset="0"/>
                <a:cs typeface="Times New Roman" panose="02020603050405020304" pitchFamily="18" charset="0"/>
              </a:rPr>
              <a:t>Cable structural and strength members</a:t>
            </a:r>
            <a:endParaRPr lang="en-US" sz="3200" b="1" dirty="0"/>
          </a:p>
        </p:txBody>
      </p:sp>
      <p:sp>
        <p:nvSpPr>
          <p:cNvPr id="3" name="Content Placeholder 2"/>
          <p:cNvSpPr>
            <a:spLocks noGrp="1"/>
          </p:cNvSpPr>
          <p:nvPr>
            <p:ph idx="1"/>
          </p:nvPr>
        </p:nvSpPr>
        <p:spPr>
          <a:xfrm>
            <a:off x="356256" y="1524000"/>
            <a:ext cx="5638800" cy="5289550"/>
          </a:xfrm>
        </p:spPr>
        <p:txBody>
          <a:bodyPr>
            <a:noAutofit/>
          </a:bodyPr>
          <a:lstStyle/>
          <a:p>
            <a:r>
              <a:rPr lang="en-US" sz="2000" dirty="0">
                <a:latin typeface="Times New Roman" panose="02020603050405020304" pitchFamily="18" charset="0"/>
                <a:cs typeface="Times New Roman" panose="02020603050405020304" pitchFamily="18" charset="0"/>
              </a:rPr>
              <a:t>One or more structural members are usually serve as a cable core foundation around which the buffered fibers may be wrapped, or into which they may be slotted.</a:t>
            </a:r>
          </a:p>
          <a:p>
            <a:r>
              <a:rPr lang="en-US" sz="2000" dirty="0">
                <a:latin typeface="Times New Roman" panose="02020603050405020304" pitchFamily="18" charset="0"/>
                <a:cs typeface="Times New Roman" panose="02020603050405020304" pitchFamily="18" charset="0"/>
              </a:rPr>
              <a:t>This approach, which is referred to as stranding:</a:t>
            </a:r>
          </a:p>
          <a:p>
            <a:pPr lvl="1"/>
            <a:r>
              <a:rPr lang="en-US" sz="2000" dirty="0">
                <a:latin typeface="Times New Roman" panose="02020603050405020304" pitchFamily="18" charset="0"/>
                <a:cs typeface="Times New Roman" panose="02020603050405020304" pitchFamily="18" charset="0"/>
              </a:rPr>
              <a:t>When the stranding is composed of individual elements (e.g. single-fiber or multi-fiber loose tube buffer, or a </a:t>
            </a:r>
            <a:r>
              <a:rPr lang="en-US" sz="2000" dirty="0" err="1">
                <a:latin typeface="Times New Roman" panose="02020603050405020304" pitchFamily="18" charset="0"/>
                <a:cs typeface="Times New Roman" panose="02020603050405020304" pitchFamily="18" charset="0"/>
              </a:rPr>
              <a:t>maxitube</a:t>
            </a:r>
            <a:r>
              <a:rPr lang="en-US" sz="2000" dirty="0">
                <a:latin typeface="Times New Roman" panose="02020603050405020304" pitchFamily="18" charset="0"/>
                <a:cs typeface="Times New Roman" panose="02020603050405020304" pitchFamily="18" charset="0"/>
              </a:rPr>
              <a:t>) then the cable is described as a layer cable </a:t>
            </a:r>
          </a:p>
          <a:p>
            <a:pPr marL="457200" lvl="1" indent="0">
              <a:buNone/>
            </a:pPr>
            <a:r>
              <a:rPr lang="en-US" sz="2000" dirty="0">
                <a:latin typeface="Times New Roman" panose="02020603050405020304" pitchFamily="18" charset="0"/>
                <a:cs typeface="Times New Roman" panose="02020603050405020304" pitchFamily="18" charset="0"/>
              </a:rPr>
              <a:t>(a) one-layer cable incorporating single fiber loose tube buffers; </a:t>
            </a:r>
          </a:p>
          <a:p>
            <a:pPr marL="457200" lvl="1" indent="0">
              <a:buNone/>
            </a:pPr>
            <a:r>
              <a:rPr lang="en-US" sz="2000" dirty="0">
                <a:latin typeface="Times New Roman" panose="02020603050405020304" pitchFamily="18" charset="0"/>
                <a:cs typeface="Times New Roman" panose="02020603050405020304" pitchFamily="18" charset="0"/>
              </a:rPr>
              <a:t>(b) layer cable incorporating single-fiber loose tube buffers in two layers; </a:t>
            </a:r>
            <a:br>
              <a:rPr lang="en-US" sz="2000" dirty="0"/>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32</a:t>
            </a:fld>
            <a:endParaRPr kumimoji="0" lang="en-US"/>
          </a:p>
        </p:txBody>
      </p:sp>
      <p:pic>
        <p:nvPicPr>
          <p:cNvPr id="6" name="Picture 5"/>
          <p:cNvPicPr>
            <a:picLocks noChangeAspect="1"/>
          </p:cNvPicPr>
          <p:nvPr/>
        </p:nvPicPr>
        <p:blipFill>
          <a:blip r:embed="rId2"/>
          <a:stretch>
            <a:fillRect/>
          </a:stretch>
        </p:blipFill>
        <p:spPr>
          <a:xfrm>
            <a:off x="6400800" y="1286254"/>
            <a:ext cx="2491248" cy="2676146"/>
          </a:xfrm>
          <a:prstGeom prst="rect">
            <a:avLst/>
          </a:prstGeom>
        </p:spPr>
      </p:pic>
      <p:pic>
        <p:nvPicPr>
          <p:cNvPr id="7" name="Picture 6"/>
          <p:cNvPicPr>
            <a:picLocks noChangeAspect="1"/>
          </p:cNvPicPr>
          <p:nvPr/>
        </p:nvPicPr>
        <p:blipFill>
          <a:blip r:embed="rId3"/>
          <a:stretch>
            <a:fillRect/>
          </a:stretch>
        </p:blipFill>
        <p:spPr>
          <a:xfrm>
            <a:off x="5967794" y="3962400"/>
            <a:ext cx="2543724" cy="2730264"/>
          </a:xfrm>
          <a:prstGeom prst="rect">
            <a:avLst/>
          </a:prstGeom>
        </p:spPr>
      </p:pic>
      <p:sp>
        <p:nvSpPr>
          <p:cNvPr id="8" name="Date Placeholder 7"/>
          <p:cNvSpPr>
            <a:spLocks noGrp="1"/>
          </p:cNvSpPr>
          <p:nvPr>
            <p:ph type="dt" sz="half" idx="10"/>
          </p:nvPr>
        </p:nvSpPr>
        <p:spPr/>
        <p:txBody>
          <a:bodyPr/>
          <a:lstStyle/>
          <a:p>
            <a:fld id="{F2B527B4-B40B-4DC9-82F3-4BEBDB2BF033}" type="datetime1">
              <a:rPr lang="en-US" smtClean="0"/>
              <a:t>11/2/2024</a:t>
            </a:fld>
            <a:endParaRPr lang="en-US"/>
          </a:p>
        </p:txBody>
      </p:sp>
    </p:spTree>
    <p:extLst>
      <p:ext uri="{BB962C8B-B14F-4D97-AF65-F5344CB8AC3E}">
        <p14:creationId xmlns:p14="http://schemas.microsoft.com/office/powerpoint/2010/main" val="2279795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675905"/>
            <a:ext cx="7467600" cy="723453"/>
          </a:xfrm>
        </p:spPr>
        <p:txBody>
          <a:bodyPr>
            <a:normAutofit/>
          </a:bodyPr>
          <a:lstStyle/>
          <a:p>
            <a:r>
              <a:rPr lang="en-US" sz="3200" b="1" dirty="0">
                <a:latin typeface="Times New Roman" panose="02020603050405020304" pitchFamily="18" charset="0"/>
                <a:cs typeface="Times New Roman" panose="02020603050405020304" pitchFamily="18" charset="0"/>
              </a:rPr>
              <a:t>Cable structural and strength members</a:t>
            </a:r>
            <a:endParaRPr lang="en-US" sz="3200" b="1" dirty="0"/>
          </a:p>
        </p:txBody>
      </p:sp>
      <p:sp>
        <p:nvSpPr>
          <p:cNvPr id="3" name="Content Placeholder 2"/>
          <p:cNvSpPr>
            <a:spLocks noGrp="1"/>
          </p:cNvSpPr>
          <p:nvPr>
            <p:ph idx="1"/>
          </p:nvPr>
        </p:nvSpPr>
        <p:spPr>
          <a:xfrm>
            <a:off x="495300" y="1297717"/>
            <a:ext cx="8458200" cy="5289550"/>
          </a:xfrm>
        </p:spPr>
        <p:txBody>
          <a:bodyPr>
            <a:noAutofit/>
          </a:bodyPr>
          <a:lstStyle/>
          <a:p>
            <a:r>
              <a:rPr lang="en-US" sz="2000" dirty="0">
                <a:latin typeface="Times New Roman" panose="02020603050405020304" pitchFamily="18" charset="0"/>
                <a:cs typeface="Times New Roman" panose="02020603050405020304" pitchFamily="18" charset="0"/>
              </a:rPr>
              <a:t>Cable core consists of stranding elements as a unit of </a:t>
            </a:r>
            <a:r>
              <a:rPr lang="en-US" sz="2000" b="1" dirty="0">
                <a:latin typeface="Times New Roman" panose="02020603050405020304" pitchFamily="18" charset="0"/>
                <a:cs typeface="Times New Roman" panose="02020603050405020304" pitchFamily="18" charset="0"/>
              </a:rPr>
              <a:t>stranded elements, termed an optical unit cable </a:t>
            </a:r>
            <a:r>
              <a:rPr lang="en-US" sz="2000" dirty="0">
                <a:latin typeface="Times New Roman" panose="02020603050405020304" pitchFamily="18" charset="0"/>
                <a:cs typeface="Times New Roman" panose="02020603050405020304" pitchFamily="18" charset="0"/>
              </a:rPr>
              <a:t>shown in Figure(c) </a:t>
            </a:r>
          </a:p>
          <a:p>
            <a:r>
              <a:rPr lang="en-US" sz="2000" dirty="0">
                <a:latin typeface="Times New Roman" panose="02020603050405020304" pitchFamily="18" charset="0"/>
                <a:cs typeface="Times New Roman" panose="02020603050405020304" pitchFamily="18" charset="0"/>
              </a:rPr>
              <a:t>Enables increased fiber packing density. </a:t>
            </a:r>
          </a:p>
          <a:p>
            <a:r>
              <a:rPr lang="en-US" sz="2000" b="1" dirty="0">
                <a:latin typeface="Times New Roman" panose="02020603050405020304" pitchFamily="18" charset="0"/>
                <a:cs typeface="Times New Roman" panose="02020603050405020304" pitchFamily="18" charset="0"/>
              </a:rPr>
              <a:t>Central steel member </a:t>
            </a:r>
            <a:r>
              <a:rPr lang="en-US" sz="2000" dirty="0">
                <a:latin typeface="Times New Roman" panose="02020603050405020304" pitchFamily="18" charset="0"/>
                <a:cs typeface="Times New Roman" panose="02020603050405020304" pitchFamily="18" charset="0"/>
              </a:rPr>
              <a:t>acts as both a </a:t>
            </a:r>
            <a:r>
              <a:rPr lang="en-US" sz="2000" b="1" dirty="0">
                <a:latin typeface="Times New Roman" panose="02020603050405020304" pitchFamily="18" charset="0"/>
                <a:cs typeface="Times New Roman" panose="02020603050405020304" pitchFamily="18" charset="0"/>
              </a:rPr>
              <a:t>structural and strength member. </a:t>
            </a:r>
          </a:p>
          <a:p>
            <a:r>
              <a:rPr lang="en-US" sz="2000" dirty="0">
                <a:latin typeface="Times New Roman" panose="02020603050405020304" pitchFamily="18" charset="0"/>
                <a:cs typeface="Times New Roman" panose="02020603050405020304" pitchFamily="18" charset="0"/>
              </a:rPr>
              <a:t>Structural member may also be a strength or tensile member if it consists of suitable material such as </a:t>
            </a:r>
            <a:r>
              <a:rPr lang="en-US" sz="2000" b="1" dirty="0">
                <a:latin typeface="Times New Roman" panose="02020603050405020304" pitchFamily="18" charset="0"/>
                <a:cs typeface="Times New Roman" panose="02020603050405020304" pitchFamily="18" charset="0"/>
              </a:rPr>
              <a:t>solid or stranded steel wire</a:t>
            </a:r>
            <a:r>
              <a:rPr lang="en-US" sz="2000" dirty="0">
                <a:latin typeface="Times New Roman" panose="02020603050405020304" pitchFamily="18" charset="0"/>
                <a:cs typeface="Times New Roman" panose="02020603050405020304" pitchFamily="18" charset="0"/>
              </a:rPr>
              <a:t>, dielectric aramid yarns</a:t>
            </a:r>
          </a:p>
          <a:p>
            <a:r>
              <a:rPr lang="en-US" sz="2000" dirty="0">
                <a:latin typeface="Times New Roman" panose="02020603050405020304" pitchFamily="18" charset="0"/>
                <a:cs typeface="Times New Roman" panose="02020603050405020304" pitchFamily="18" charset="0"/>
              </a:rPr>
              <a:t>In these cases the </a:t>
            </a:r>
            <a:r>
              <a:rPr lang="en-US" sz="2000" b="1" dirty="0">
                <a:latin typeface="Times New Roman" panose="02020603050405020304" pitchFamily="18" charset="0"/>
                <a:cs typeface="Times New Roman" panose="02020603050405020304" pitchFamily="18" charset="0"/>
              </a:rPr>
              <a:t>central steel member</a:t>
            </a:r>
          </a:p>
          <a:p>
            <a:pPr marL="0" indent="0">
              <a:buNone/>
            </a:pPr>
            <a:r>
              <a:rPr lang="en-US" sz="2000" b="1" dirty="0">
                <a:latin typeface="Times New Roman" panose="02020603050405020304" pitchFamily="18" charset="0"/>
                <a:cs typeface="Times New Roman" panose="02020603050405020304" pitchFamily="18" charset="0"/>
              </a:rPr>
              <a:t>     is the primary load-bearing element </a:t>
            </a:r>
          </a:p>
          <a:p>
            <a:pPr marL="0" indent="0">
              <a:buNone/>
            </a:pPr>
            <a:r>
              <a:rPr lang="en-US" sz="2000" b="1" dirty="0">
                <a:latin typeface="Times New Roman" panose="02020603050405020304" pitchFamily="18" charset="0"/>
                <a:cs typeface="Times New Roman" panose="02020603050405020304" pitchFamily="18" charset="0"/>
              </a:rPr>
              <a:t>     providing strain relief</a:t>
            </a:r>
            <a:r>
              <a:rPr lang="en-US" sz="2000" dirty="0">
                <a:latin typeface="Times New Roman" panose="02020603050405020304" pitchFamily="18" charset="0"/>
                <a:cs typeface="Times New Roman" panose="02020603050405020304" pitchFamily="18" charset="0"/>
              </a:rPr>
              <a:t>.</a:t>
            </a:r>
          </a:p>
          <a:p>
            <a:pPr marL="0" indent="0">
              <a:buNone/>
            </a:pP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33</a:t>
            </a:fld>
            <a:endParaRPr kumimoji="0" lang="en-US"/>
          </a:p>
        </p:txBody>
      </p:sp>
      <p:pic>
        <p:nvPicPr>
          <p:cNvPr id="8" name="Picture 7"/>
          <p:cNvPicPr>
            <a:picLocks noChangeAspect="1"/>
          </p:cNvPicPr>
          <p:nvPr/>
        </p:nvPicPr>
        <p:blipFill>
          <a:blip r:embed="rId2"/>
          <a:stretch>
            <a:fillRect/>
          </a:stretch>
        </p:blipFill>
        <p:spPr>
          <a:xfrm>
            <a:off x="5395912" y="3856384"/>
            <a:ext cx="2909888" cy="2990968"/>
          </a:xfrm>
          <a:prstGeom prst="rect">
            <a:avLst/>
          </a:prstGeom>
        </p:spPr>
      </p:pic>
      <p:sp>
        <p:nvSpPr>
          <p:cNvPr id="6" name="Date Placeholder 5"/>
          <p:cNvSpPr>
            <a:spLocks noGrp="1"/>
          </p:cNvSpPr>
          <p:nvPr>
            <p:ph type="dt" sz="half" idx="10"/>
          </p:nvPr>
        </p:nvSpPr>
        <p:spPr/>
        <p:txBody>
          <a:bodyPr/>
          <a:lstStyle/>
          <a:p>
            <a:fld id="{98DB54AE-2F3E-41E3-AE86-45E32F2DD656}" type="datetime1">
              <a:rPr lang="en-US" smtClean="0"/>
              <a:t>11/2/2024</a:t>
            </a:fld>
            <a:endParaRPr lang="en-US"/>
          </a:p>
        </p:txBody>
      </p:sp>
    </p:spTree>
    <p:extLst>
      <p:ext uri="{BB962C8B-B14F-4D97-AF65-F5344CB8AC3E}">
        <p14:creationId xmlns:p14="http://schemas.microsoft.com/office/powerpoint/2010/main" val="424882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23888"/>
            <a:ext cx="8229600" cy="792162"/>
          </a:xfrm>
        </p:spPr>
        <p:txBody>
          <a:bodyPr>
            <a:normAutofit/>
          </a:bodyPr>
          <a:lstStyle/>
          <a:p>
            <a:r>
              <a:rPr lang="en-US" sz="3200" b="1" dirty="0">
                <a:latin typeface="Times New Roman" panose="02020603050405020304" pitchFamily="18" charset="0"/>
                <a:cs typeface="Times New Roman" panose="02020603050405020304" pitchFamily="18" charset="0"/>
              </a:rPr>
              <a:t>Cable structural and strength members</a:t>
            </a:r>
            <a:endParaRPr lang="en-US" sz="3200" b="1" dirty="0"/>
          </a:p>
        </p:txBody>
      </p:sp>
      <p:sp>
        <p:nvSpPr>
          <p:cNvPr id="3" name="Content Placeholder 2"/>
          <p:cNvSpPr>
            <a:spLocks noGrp="1"/>
          </p:cNvSpPr>
          <p:nvPr>
            <p:ph idx="1"/>
          </p:nvPr>
        </p:nvSpPr>
        <p:spPr>
          <a:xfrm>
            <a:off x="762000" y="1416050"/>
            <a:ext cx="7543800" cy="5137150"/>
          </a:xfrm>
        </p:spPr>
        <p:txBody>
          <a:bodyPr>
            <a:noAutofit/>
          </a:bodyPr>
          <a:lstStyle/>
          <a:p>
            <a:r>
              <a:rPr lang="en-US" sz="2000" dirty="0">
                <a:latin typeface="Times New Roman" panose="02020603050405020304" pitchFamily="18" charset="0"/>
                <a:cs typeface="Times New Roman" panose="02020603050405020304" pitchFamily="18" charset="0"/>
              </a:rPr>
              <a:t>A slotted core cable which comprises a special design of layer cable with a single layer incorporating </a:t>
            </a:r>
            <a:r>
              <a:rPr lang="en-US" sz="2000" b="1" dirty="0">
                <a:latin typeface="Times New Roman" panose="02020603050405020304" pitchFamily="18" charset="0"/>
                <a:cs typeface="Times New Roman" panose="02020603050405020304" pitchFamily="18" charset="0"/>
              </a:rPr>
              <a:t>an extruded plastic structural member around a central steel wire strength member</a:t>
            </a:r>
          </a:p>
          <a:p>
            <a:r>
              <a:rPr lang="en-US" sz="2000" dirty="0">
                <a:latin typeface="Times New Roman" panose="02020603050405020304" pitchFamily="18" charset="0"/>
                <a:cs typeface="Times New Roman" panose="02020603050405020304" pitchFamily="18" charset="0"/>
              </a:rPr>
              <a:t>Case optical fiber </a:t>
            </a:r>
            <a:r>
              <a:rPr lang="en-US" sz="2000" b="1" dirty="0">
                <a:latin typeface="Times New Roman" panose="02020603050405020304" pitchFamily="18" charset="0"/>
                <a:cs typeface="Times New Roman" panose="02020603050405020304" pitchFamily="18" charset="0"/>
              </a:rPr>
              <a:t>ribbons lie in helical grooves or slots </a:t>
            </a:r>
            <a:r>
              <a:rPr lang="en-US" sz="2000" dirty="0">
                <a:latin typeface="Times New Roman" panose="02020603050405020304" pitchFamily="18" charset="0"/>
                <a:cs typeface="Times New Roman" panose="02020603050405020304" pitchFamily="18" charset="0"/>
              </a:rPr>
              <a:t>formed in the surface of the structural member rather than the fibers being inside buffer jackets and stranded in layers. </a:t>
            </a:r>
          </a:p>
          <a:p>
            <a:r>
              <a:rPr lang="en-US" sz="2000" dirty="0">
                <a:latin typeface="Times New Roman" panose="02020603050405020304" pitchFamily="18" charset="0"/>
                <a:cs typeface="Times New Roman" panose="02020603050405020304" pitchFamily="18" charset="0"/>
              </a:rPr>
              <a:t>Moreover, the primary function of the structural member is therefore not load bearing, but to provide suitable accommodation for the fiber ribbons within the cable. </a:t>
            </a:r>
          </a:p>
          <a:p>
            <a:r>
              <a:rPr lang="en-US" sz="2000" dirty="0">
                <a:latin typeface="Times New Roman" panose="02020603050405020304" pitchFamily="18" charset="0"/>
                <a:cs typeface="Times New Roman" panose="02020603050405020304" pitchFamily="18" charset="0"/>
              </a:rPr>
              <a:t>It should be noted that although the overall fiber count provided by this cable is 100, a unit cable construction using a similar element can incorporate 1000 fibers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34</a:t>
            </a:fld>
            <a:endParaRPr kumimoji="0" lang="en-US"/>
          </a:p>
        </p:txBody>
      </p:sp>
      <p:sp>
        <p:nvSpPr>
          <p:cNvPr id="6" name="Date Placeholder 5"/>
          <p:cNvSpPr>
            <a:spLocks noGrp="1"/>
          </p:cNvSpPr>
          <p:nvPr>
            <p:ph type="dt" sz="half" idx="10"/>
          </p:nvPr>
        </p:nvSpPr>
        <p:spPr/>
        <p:txBody>
          <a:bodyPr/>
          <a:lstStyle/>
          <a:p>
            <a:fld id="{A22CE64E-BC99-4F9E-8E3C-5A6AEE83A9A6}" type="datetime1">
              <a:rPr lang="en-US" smtClean="0"/>
              <a:t>11/2/2024</a:t>
            </a:fld>
            <a:endParaRPr lang="en-US"/>
          </a:p>
        </p:txBody>
      </p:sp>
    </p:spTree>
    <p:extLst>
      <p:ext uri="{BB962C8B-B14F-4D97-AF65-F5344CB8AC3E}">
        <p14:creationId xmlns:p14="http://schemas.microsoft.com/office/powerpoint/2010/main" val="3366502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6134" y="574264"/>
            <a:ext cx="8229600" cy="792162"/>
          </a:xfrm>
        </p:spPr>
        <p:txBody>
          <a:bodyPr>
            <a:normAutofit/>
          </a:bodyPr>
          <a:lstStyle/>
          <a:p>
            <a:r>
              <a:rPr lang="en-US" sz="3200" b="1" dirty="0">
                <a:latin typeface="Times New Roman" panose="02020603050405020304" pitchFamily="18" charset="0"/>
                <a:cs typeface="Times New Roman" panose="02020603050405020304" pitchFamily="18" charset="0"/>
              </a:rPr>
              <a:t>Cable structural and strength members</a:t>
            </a:r>
            <a:endParaRPr lang="en-US" sz="3200" b="1" dirty="0"/>
          </a:p>
        </p:txBody>
      </p:sp>
      <p:sp>
        <p:nvSpPr>
          <p:cNvPr id="3" name="Content Placeholder 2"/>
          <p:cNvSpPr>
            <a:spLocks noGrp="1"/>
          </p:cNvSpPr>
          <p:nvPr>
            <p:ph idx="1"/>
          </p:nvPr>
        </p:nvSpPr>
        <p:spPr>
          <a:xfrm>
            <a:off x="228600" y="1066800"/>
            <a:ext cx="8458200" cy="5289550"/>
          </a:xfrm>
        </p:spPr>
        <p:txBody>
          <a:bodyPr>
            <a:noAutofit/>
          </a:bodyPr>
          <a:lstStyle/>
          <a:p>
            <a:pPr marL="0" indent="0">
              <a:buNone/>
            </a:pP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35</a:t>
            </a:fld>
            <a:endParaRPr kumimoji="0" lang="en-US"/>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74000"/>
                    </a14:imgEffect>
                    <a14:imgEffect>
                      <a14:brightnessContrast contrast="42000"/>
                    </a14:imgEffect>
                  </a14:imgLayer>
                </a14:imgProps>
              </a:ext>
            </a:extLst>
          </a:blip>
          <a:stretch>
            <a:fillRect/>
          </a:stretch>
        </p:blipFill>
        <p:spPr>
          <a:xfrm>
            <a:off x="1219200" y="1603594"/>
            <a:ext cx="6553200" cy="4662441"/>
          </a:xfrm>
          <a:prstGeom prst="rect">
            <a:avLst/>
          </a:prstGeom>
        </p:spPr>
      </p:pic>
      <p:sp>
        <p:nvSpPr>
          <p:cNvPr id="7" name="TextBox 6"/>
          <p:cNvSpPr txBox="1"/>
          <p:nvPr/>
        </p:nvSpPr>
        <p:spPr>
          <a:xfrm>
            <a:off x="1083506" y="6266035"/>
            <a:ext cx="79248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Slotted core cable with four fiber ribbons incorporating a total of 100 fibers </a:t>
            </a:r>
          </a:p>
        </p:txBody>
      </p:sp>
      <p:sp>
        <p:nvSpPr>
          <p:cNvPr id="8" name="Date Placeholder 7"/>
          <p:cNvSpPr>
            <a:spLocks noGrp="1"/>
          </p:cNvSpPr>
          <p:nvPr>
            <p:ph type="dt" sz="half" idx="10"/>
          </p:nvPr>
        </p:nvSpPr>
        <p:spPr/>
        <p:txBody>
          <a:bodyPr/>
          <a:lstStyle/>
          <a:p>
            <a:fld id="{F282E487-3013-49D0-B116-EC486B860E9D}" type="datetime1">
              <a:rPr lang="en-US" smtClean="0"/>
              <a:t>11/2/2024</a:t>
            </a:fld>
            <a:endParaRPr lang="en-US"/>
          </a:p>
        </p:txBody>
      </p:sp>
    </p:spTree>
    <p:extLst>
      <p:ext uri="{BB962C8B-B14F-4D97-AF65-F5344CB8AC3E}">
        <p14:creationId xmlns:p14="http://schemas.microsoft.com/office/powerpoint/2010/main" val="2086310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73551"/>
            <a:ext cx="8229600" cy="792162"/>
          </a:xfrm>
        </p:spPr>
        <p:txBody>
          <a:bodyPr>
            <a:normAutofit/>
          </a:bodyPr>
          <a:lstStyle/>
          <a:p>
            <a:r>
              <a:rPr lang="en-US" sz="3200" b="1" dirty="0">
                <a:latin typeface="Times New Roman" panose="02020603050405020304" pitchFamily="18" charset="0"/>
                <a:cs typeface="Times New Roman" panose="02020603050405020304" pitchFamily="18" charset="0"/>
              </a:rPr>
              <a:t>Cable sheath, water barrier and cable core </a:t>
            </a:r>
            <a:endParaRPr lang="en-US" sz="3600" dirty="0"/>
          </a:p>
        </p:txBody>
      </p:sp>
      <p:sp>
        <p:nvSpPr>
          <p:cNvPr id="3" name="Content Placeholder 2"/>
          <p:cNvSpPr>
            <a:spLocks noGrp="1"/>
          </p:cNvSpPr>
          <p:nvPr>
            <p:ph idx="1"/>
          </p:nvPr>
        </p:nvSpPr>
        <p:spPr>
          <a:xfrm>
            <a:off x="511228" y="1532005"/>
            <a:ext cx="8229600" cy="4906963"/>
          </a:xfrm>
        </p:spPr>
        <p:txBody>
          <a:bodyPr>
            <a:noAutofit/>
          </a:bodyPr>
          <a:lstStyle/>
          <a:p>
            <a:r>
              <a:rPr lang="en-US" sz="2000" dirty="0">
                <a:latin typeface="Times New Roman" panose="02020603050405020304" pitchFamily="18" charset="0"/>
                <a:cs typeface="Times New Roman" panose="02020603050405020304" pitchFamily="18" charset="0"/>
              </a:rPr>
              <a:t>Covered with a substantial outer plastic case to reduce friction and to give protection against external mechanical effects such as crushing. </a:t>
            </a:r>
          </a:p>
          <a:p>
            <a:r>
              <a:rPr lang="en-US" sz="2000" dirty="0">
                <a:latin typeface="Times New Roman" panose="02020603050405020304" pitchFamily="18" charset="0"/>
                <a:cs typeface="Times New Roman" panose="02020603050405020304" pitchFamily="18" charset="0"/>
              </a:rPr>
              <a:t>Cable case contains cable core and </a:t>
            </a:r>
          </a:p>
          <a:p>
            <a:pPr lvl="1"/>
            <a:r>
              <a:rPr lang="en-US" sz="2000" dirty="0">
                <a:latin typeface="Times New Roman" panose="02020603050405020304" pitchFamily="18" charset="0"/>
                <a:cs typeface="Times New Roman" panose="02020603050405020304" pitchFamily="18" charset="0"/>
              </a:rPr>
              <a:t>complex from a single extruded plastic jacket </a:t>
            </a:r>
          </a:p>
          <a:p>
            <a:pPr lvl="1"/>
            <a:r>
              <a:rPr lang="en-US" sz="2000" dirty="0">
                <a:latin typeface="Times New Roman" panose="02020603050405020304" pitchFamily="18" charset="0"/>
                <a:cs typeface="Times New Roman" panose="02020603050405020304" pitchFamily="18" charset="0"/>
              </a:rPr>
              <a:t>multilayer structure consisting of two or more jackets with intermediate armor or wrapper</a:t>
            </a:r>
          </a:p>
          <a:p>
            <a:r>
              <a:rPr lang="en-US" sz="2000" dirty="0">
                <a:latin typeface="Times New Roman" panose="02020603050405020304" pitchFamily="18" charset="0"/>
                <a:cs typeface="Times New Roman" panose="02020603050405020304" pitchFamily="18" charset="0"/>
              </a:rPr>
              <a:t> The common and well-proven polyethylene (PE) sheath material is most often utilized, while polyvinyl chloride (PVC) finds frequent application for indoor cables </a:t>
            </a:r>
          </a:p>
          <a:p>
            <a:r>
              <a:rPr lang="en-US" sz="2000" dirty="0">
                <a:latin typeface="Times New Roman" panose="02020603050405020304" pitchFamily="18" charset="0"/>
                <a:cs typeface="Times New Roman" panose="02020603050405020304" pitchFamily="18" charset="0"/>
              </a:rPr>
              <a:t>Water </a:t>
            </a:r>
            <a:r>
              <a:rPr lang="en-US" sz="2000" b="1" dirty="0">
                <a:latin typeface="Times New Roman" panose="02020603050405020304" pitchFamily="18" charset="0"/>
                <a:cs typeface="Times New Roman" panose="02020603050405020304" pitchFamily="18" charset="0"/>
              </a:rPr>
              <a:t>barrier</a:t>
            </a:r>
            <a:r>
              <a:rPr lang="en-US" sz="2000" dirty="0">
                <a:latin typeface="Times New Roman" panose="02020603050405020304" pitchFamily="18" charset="0"/>
                <a:cs typeface="Times New Roman" panose="02020603050405020304" pitchFamily="18" charset="0"/>
              </a:rPr>
              <a:t> is incorporated for outdoor cables</a:t>
            </a:r>
          </a:p>
          <a:p>
            <a:pPr marL="0" indent="0">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36</a:t>
            </a:fld>
            <a:endParaRPr kumimoji="0" lang="en-US"/>
          </a:p>
        </p:txBody>
      </p:sp>
      <p:sp>
        <p:nvSpPr>
          <p:cNvPr id="6" name="Date Placeholder 5"/>
          <p:cNvSpPr>
            <a:spLocks noGrp="1"/>
          </p:cNvSpPr>
          <p:nvPr>
            <p:ph type="dt" sz="half" idx="10"/>
          </p:nvPr>
        </p:nvSpPr>
        <p:spPr/>
        <p:txBody>
          <a:bodyPr/>
          <a:lstStyle/>
          <a:p>
            <a:fld id="{769C642E-2D9F-4896-ADDC-67D485E5DE8C}" type="datetime1">
              <a:rPr lang="en-US" smtClean="0"/>
              <a:t>11/2/2024</a:t>
            </a:fld>
            <a:endParaRPr lang="en-US"/>
          </a:p>
        </p:txBody>
      </p:sp>
    </p:spTree>
    <p:extLst>
      <p:ext uri="{BB962C8B-B14F-4D97-AF65-F5344CB8AC3E}">
        <p14:creationId xmlns:p14="http://schemas.microsoft.com/office/powerpoint/2010/main" val="1835240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55638"/>
            <a:ext cx="7696200" cy="792162"/>
          </a:xfrm>
        </p:spPr>
        <p:txBody>
          <a:bodyPr>
            <a:normAutofit/>
          </a:bodyPr>
          <a:lstStyle/>
          <a:p>
            <a:r>
              <a:rPr lang="en-US" sz="3200" b="1" dirty="0">
                <a:latin typeface="Times New Roman" panose="02020603050405020304" pitchFamily="18" charset="0"/>
                <a:cs typeface="Times New Roman" panose="02020603050405020304" pitchFamily="18" charset="0"/>
              </a:rPr>
              <a:t>Cable sheath, water barrier and cable core </a:t>
            </a:r>
            <a:endParaRPr lang="en-US" sz="3600" dirty="0"/>
          </a:p>
        </p:txBody>
      </p:sp>
      <p:sp>
        <p:nvSpPr>
          <p:cNvPr id="3" name="Content Placeholder 2"/>
          <p:cNvSpPr>
            <a:spLocks noGrp="1"/>
          </p:cNvSpPr>
          <p:nvPr>
            <p:ph idx="1"/>
          </p:nvPr>
        </p:nvSpPr>
        <p:spPr>
          <a:xfrm>
            <a:off x="457200" y="1413211"/>
            <a:ext cx="8229600" cy="4906963"/>
          </a:xfrm>
        </p:spPr>
        <p:txBody>
          <a:bodyPr>
            <a:normAutofit/>
          </a:bodyPr>
          <a:lstStyle/>
          <a:p>
            <a:r>
              <a:rPr lang="en-US" sz="2000" dirty="0">
                <a:latin typeface="Times New Roman" panose="02020603050405020304" pitchFamily="18" charset="0"/>
                <a:cs typeface="Times New Roman" panose="02020603050405020304" pitchFamily="18" charset="0"/>
              </a:rPr>
              <a:t>Alternatively, the ingress of water may be prevented by filling the spaces in the cable with moisture-resistant compounds </a:t>
            </a:r>
          </a:p>
          <a:p>
            <a:pPr lvl="1"/>
            <a:r>
              <a:rPr lang="en-US" sz="2000" dirty="0">
                <a:latin typeface="Times New Roman" panose="02020603050405020304" pitchFamily="18" charset="0"/>
                <a:cs typeface="Times New Roman" panose="02020603050405020304" pitchFamily="18" charset="0"/>
              </a:rPr>
              <a:t>such as silicone rubber or petroleum-based compounds are often used</a:t>
            </a:r>
          </a:p>
          <a:p>
            <a:pPr lvl="1"/>
            <a:r>
              <a:rPr lang="en-US" sz="2000" dirty="0">
                <a:latin typeface="Times New Roman" panose="02020603050405020304" pitchFamily="18" charset="0"/>
                <a:cs typeface="Times New Roman" panose="02020603050405020304" pitchFamily="18" charset="0"/>
              </a:rPr>
              <a:t>filling compounds are also easily removed from the cable and provide protection from corrosion for any metallic strength members within the fiber</a:t>
            </a:r>
          </a:p>
          <a:p>
            <a:r>
              <a:rPr lang="en-US" sz="2000" dirty="0">
                <a:latin typeface="Times New Roman" panose="02020603050405020304" pitchFamily="18" charset="0"/>
                <a:cs typeface="Times New Roman" panose="02020603050405020304" pitchFamily="18" charset="0"/>
              </a:rPr>
              <a:t>if filled cables are required to have a metal-free sheath construction, then a barrier plastic layer comprising, for example, polyimide–thermoplastic adhesive can be incorporated between the cable sheath and filling compound</a:t>
            </a:r>
          </a:p>
          <a:p>
            <a:r>
              <a:rPr lang="en-US" sz="2000" dirty="0">
                <a:latin typeface="Times New Roman" panose="02020603050405020304" pitchFamily="18" charset="0"/>
                <a:cs typeface="Times New Roman" panose="02020603050405020304" pitchFamily="18" charset="0"/>
              </a:rPr>
              <a:t>This prevents migration of the filling compound into the sheath from the cable core.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37</a:t>
            </a:fld>
            <a:endParaRPr kumimoji="0" lang="en-US"/>
          </a:p>
        </p:txBody>
      </p:sp>
      <p:sp>
        <p:nvSpPr>
          <p:cNvPr id="6" name="Date Placeholder 5"/>
          <p:cNvSpPr>
            <a:spLocks noGrp="1"/>
          </p:cNvSpPr>
          <p:nvPr>
            <p:ph type="dt" sz="half" idx="10"/>
          </p:nvPr>
        </p:nvSpPr>
        <p:spPr/>
        <p:txBody>
          <a:bodyPr/>
          <a:lstStyle/>
          <a:p>
            <a:fld id="{33AA086F-E7F4-4A8F-850F-58C9E3DEC194}" type="datetime1">
              <a:rPr lang="en-US" smtClean="0"/>
              <a:t>11/2/2024</a:t>
            </a:fld>
            <a:endParaRPr lang="en-US"/>
          </a:p>
        </p:txBody>
      </p:sp>
    </p:spTree>
    <p:extLst>
      <p:ext uri="{BB962C8B-B14F-4D97-AF65-F5344CB8AC3E}">
        <p14:creationId xmlns:p14="http://schemas.microsoft.com/office/powerpoint/2010/main" val="1836851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86183"/>
            <a:ext cx="8229600" cy="568324"/>
          </a:xfrm>
        </p:spPr>
        <p:txBody>
          <a:bodyPr>
            <a:normAutofit fontScale="90000"/>
          </a:bodyPr>
          <a:lstStyle/>
          <a:p>
            <a:r>
              <a:rPr lang="en-US" sz="3600" dirty="0">
                <a:latin typeface="Times New Roman" panose="02020603050405020304" pitchFamily="18" charset="0"/>
                <a:cs typeface="Times New Roman" panose="02020603050405020304" pitchFamily="18" charset="0"/>
              </a:rPr>
              <a:t>Examples of fiber cables </a:t>
            </a:r>
          </a:p>
        </p:txBody>
      </p:sp>
      <p:sp>
        <p:nvSpPr>
          <p:cNvPr id="3" name="Content Placeholder 2"/>
          <p:cNvSpPr>
            <a:spLocks noGrp="1"/>
          </p:cNvSpPr>
          <p:nvPr>
            <p:ph idx="1"/>
          </p:nvPr>
        </p:nvSpPr>
        <p:spPr>
          <a:xfrm>
            <a:off x="457200" y="1369697"/>
            <a:ext cx="8229600" cy="5135563"/>
          </a:xfrm>
        </p:spPr>
        <p:txBody>
          <a:bodyPr>
            <a:normAutofit/>
          </a:bodyPr>
          <a:lstStyle/>
          <a:p>
            <a:r>
              <a:rPr lang="en-US" sz="2000" dirty="0">
                <a:latin typeface="Times New Roman" panose="02020603050405020304" pitchFamily="18" charset="0"/>
                <a:cs typeface="Times New Roman" panose="02020603050405020304" pitchFamily="18" charset="0"/>
              </a:rPr>
              <a:t>Two examples of cable construction for single fibers</a:t>
            </a:r>
          </a:p>
          <a:p>
            <a:r>
              <a:rPr lang="en-US" sz="2000" dirty="0">
                <a:latin typeface="Times New Roman" panose="02020603050405020304" pitchFamily="18" charset="0"/>
                <a:cs typeface="Times New Roman" panose="02020603050405020304" pitchFamily="18" charset="0"/>
              </a:rPr>
              <a:t>Fig (a) 250 </a:t>
            </a:r>
            <a:r>
              <a:rPr lang="en-US" sz="2000" dirty="0" err="1">
                <a:latin typeface="Times New Roman" panose="02020603050405020304" pitchFamily="18" charset="0"/>
                <a:cs typeface="Times New Roman" panose="02020603050405020304" pitchFamily="18" charset="0"/>
              </a:rPr>
              <a:t>μm</a:t>
            </a:r>
            <a:r>
              <a:rPr lang="en-US" sz="2000" dirty="0">
                <a:latin typeface="Times New Roman" panose="02020603050405020304" pitchFamily="18" charset="0"/>
                <a:cs typeface="Times New Roman" panose="02020603050405020304" pitchFamily="18" charset="0"/>
              </a:rPr>
              <a:t> diameter fiber protected by a tight buffer jacket and surrounded by a layer of Kevlar for strength and outer cable jacket with a typical diameter of 2.4 mm is provided</a:t>
            </a:r>
          </a:p>
          <a:p>
            <a:r>
              <a:rPr lang="en-US" sz="2000" dirty="0">
                <a:latin typeface="Times New Roman" panose="02020603050405020304" pitchFamily="18" charset="0"/>
                <a:cs typeface="Times New Roman" panose="02020603050405020304" pitchFamily="18" charset="0"/>
              </a:rPr>
              <a:t>Fig (b) uses a loose tube buffer surrounded by a Kevlar strength member which is protected by an inner sheath or jacket before the outer sheath layer</a:t>
            </a:r>
          </a:p>
          <a:p>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38</a:t>
            </a:fld>
            <a:endParaRPr kumimoji="0" lang="en-US"/>
          </a:p>
        </p:txBody>
      </p:sp>
      <p:pic>
        <p:nvPicPr>
          <p:cNvPr id="6" name="Picture 5"/>
          <p:cNvPicPr>
            <a:picLocks noChangeAspect="1"/>
          </p:cNvPicPr>
          <p:nvPr/>
        </p:nvPicPr>
        <p:blipFill>
          <a:blip r:embed="rId2"/>
          <a:stretch>
            <a:fillRect/>
          </a:stretch>
        </p:blipFill>
        <p:spPr>
          <a:xfrm>
            <a:off x="592753" y="4174133"/>
            <a:ext cx="3445848" cy="2658467"/>
          </a:xfrm>
          <a:prstGeom prst="rect">
            <a:avLst/>
          </a:prstGeom>
        </p:spPr>
      </p:pic>
      <p:pic>
        <p:nvPicPr>
          <p:cNvPr id="7" name="Picture 6"/>
          <p:cNvPicPr>
            <a:picLocks noChangeAspect="1"/>
          </p:cNvPicPr>
          <p:nvPr/>
        </p:nvPicPr>
        <p:blipFill>
          <a:blip r:embed="rId3"/>
          <a:stretch>
            <a:fillRect/>
          </a:stretch>
        </p:blipFill>
        <p:spPr>
          <a:xfrm>
            <a:off x="4876800" y="4170406"/>
            <a:ext cx="3661980" cy="2649494"/>
          </a:xfrm>
          <a:prstGeom prst="rect">
            <a:avLst/>
          </a:prstGeom>
        </p:spPr>
      </p:pic>
      <p:sp>
        <p:nvSpPr>
          <p:cNvPr id="8" name="Date Placeholder 7"/>
          <p:cNvSpPr>
            <a:spLocks noGrp="1"/>
          </p:cNvSpPr>
          <p:nvPr>
            <p:ph type="dt" sz="half" idx="10"/>
          </p:nvPr>
        </p:nvSpPr>
        <p:spPr/>
        <p:txBody>
          <a:bodyPr/>
          <a:lstStyle/>
          <a:p>
            <a:fld id="{27BDB218-DF43-43D4-BD17-6BB0AC5D7DEA}" type="datetime1">
              <a:rPr lang="en-US" smtClean="0"/>
              <a:t>11/2/2024</a:t>
            </a:fld>
            <a:endParaRPr lang="en-US"/>
          </a:p>
        </p:txBody>
      </p:sp>
    </p:spTree>
    <p:extLst>
      <p:ext uri="{BB962C8B-B14F-4D97-AF65-F5344CB8AC3E}">
        <p14:creationId xmlns:p14="http://schemas.microsoft.com/office/powerpoint/2010/main" val="36074865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686183"/>
            <a:ext cx="8229600" cy="568324"/>
          </a:xfrm>
        </p:spPr>
        <p:txBody>
          <a:bodyPr>
            <a:normAutofit fontScale="90000"/>
          </a:bodyPr>
          <a:lstStyle/>
          <a:p>
            <a:r>
              <a:rPr lang="en-US" sz="3600" dirty="0">
                <a:latin typeface="Times New Roman" panose="02020603050405020304" pitchFamily="18" charset="0"/>
                <a:cs typeface="Times New Roman" panose="02020603050405020304" pitchFamily="18" charset="0"/>
              </a:rPr>
              <a:t>Examples of fiber cables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39</a:t>
            </a:fld>
            <a:endParaRPr kumimoji="0" lang="en-US"/>
          </a:p>
        </p:txBody>
      </p:sp>
      <p:pic>
        <p:nvPicPr>
          <p:cNvPr id="8" name="Picture 7"/>
          <p:cNvPicPr>
            <a:picLocks noChangeAspect="1"/>
          </p:cNvPicPr>
          <p:nvPr/>
        </p:nvPicPr>
        <p:blipFill>
          <a:blip r:embed="rId2"/>
          <a:stretch>
            <a:fillRect/>
          </a:stretch>
        </p:blipFill>
        <p:spPr>
          <a:xfrm>
            <a:off x="3438525" y="3558381"/>
            <a:ext cx="5483817" cy="3125492"/>
          </a:xfrm>
          <a:prstGeom prst="rect">
            <a:avLst/>
          </a:prstGeom>
        </p:spPr>
      </p:pic>
      <p:pic>
        <p:nvPicPr>
          <p:cNvPr id="7" name="Picture 2" descr="http://www.cables-solutions.com/wp-content/uploads/2016/06/900um-fiber-c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1666053"/>
            <a:ext cx="3286125" cy="3095625"/>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p:cNvSpPr>
            <a:spLocks noGrp="1"/>
          </p:cNvSpPr>
          <p:nvPr>
            <p:ph type="dt" sz="half" idx="10"/>
          </p:nvPr>
        </p:nvSpPr>
        <p:spPr/>
        <p:txBody>
          <a:bodyPr/>
          <a:lstStyle/>
          <a:p>
            <a:fld id="{F0EC6FB0-B052-4879-AB23-187912782F4D}" type="datetime1">
              <a:rPr lang="en-US" smtClean="0"/>
              <a:t>11/2/2024</a:t>
            </a:fld>
            <a:endParaRPr lang="en-US"/>
          </a:p>
        </p:txBody>
      </p:sp>
    </p:spTree>
    <p:extLst>
      <p:ext uri="{BB962C8B-B14F-4D97-AF65-F5344CB8AC3E}">
        <p14:creationId xmlns:p14="http://schemas.microsoft.com/office/powerpoint/2010/main" val="15456906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6183"/>
            <a:ext cx="8229600" cy="568324"/>
          </a:xfrm>
        </p:spPr>
        <p:txBody>
          <a:bodyPr>
            <a:normAutofit fontScale="90000"/>
          </a:bodyPr>
          <a:lstStyle/>
          <a:p>
            <a:r>
              <a:rPr lang="en-US" sz="3600" dirty="0">
                <a:latin typeface="Times New Roman" panose="02020603050405020304" pitchFamily="18" charset="0"/>
                <a:cs typeface="Times New Roman" panose="02020603050405020304" pitchFamily="18" charset="0"/>
              </a:rPr>
              <a:t>Examples of fiber cables </a:t>
            </a:r>
          </a:p>
        </p:txBody>
      </p:sp>
      <p:sp>
        <p:nvSpPr>
          <p:cNvPr id="3" name="Content Placeholder 2"/>
          <p:cNvSpPr>
            <a:spLocks noGrp="1"/>
          </p:cNvSpPr>
          <p:nvPr>
            <p:ph idx="1"/>
          </p:nvPr>
        </p:nvSpPr>
        <p:spPr>
          <a:xfrm>
            <a:off x="495300" y="1394207"/>
            <a:ext cx="8229600" cy="3733800"/>
          </a:xfrm>
        </p:spPr>
        <p:txBody>
          <a:bodyPr>
            <a:normAutofit/>
          </a:bodyPr>
          <a:lstStyle/>
          <a:p>
            <a:r>
              <a:rPr lang="en-US" sz="2000" dirty="0">
                <a:latin typeface="Times New Roman" panose="02020603050405020304" pitchFamily="18" charset="0"/>
                <a:cs typeface="Times New Roman" panose="02020603050405020304" pitchFamily="18" charset="0"/>
              </a:rPr>
              <a:t>This type of layered cable design with loose tube buffers incorporating between 2 and 12 single-mode fibers per tube predominates in the core telecommunications network</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40</a:t>
            </a:fld>
            <a:endParaRPr kumimoji="0" lang="en-US"/>
          </a:p>
        </p:txBody>
      </p:sp>
      <p:pic>
        <p:nvPicPr>
          <p:cNvPr id="7" name="Picture 6"/>
          <p:cNvPicPr>
            <a:picLocks noChangeAspect="1"/>
          </p:cNvPicPr>
          <p:nvPr/>
        </p:nvPicPr>
        <p:blipFill>
          <a:blip r:embed="rId2"/>
          <a:stretch>
            <a:fillRect/>
          </a:stretch>
        </p:blipFill>
        <p:spPr>
          <a:xfrm>
            <a:off x="1181100" y="2920697"/>
            <a:ext cx="6362700" cy="3851578"/>
          </a:xfrm>
          <a:prstGeom prst="rect">
            <a:avLst/>
          </a:prstGeom>
        </p:spPr>
      </p:pic>
      <p:sp>
        <p:nvSpPr>
          <p:cNvPr id="6" name="Date Placeholder 5"/>
          <p:cNvSpPr>
            <a:spLocks noGrp="1"/>
          </p:cNvSpPr>
          <p:nvPr>
            <p:ph type="dt" sz="half" idx="10"/>
          </p:nvPr>
        </p:nvSpPr>
        <p:spPr/>
        <p:txBody>
          <a:bodyPr/>
          <a:lstStyle/>
          <a:p>
            <a:fld id="{89225544-31A5-447D-9F1F-8737E9A11ED6}" type="datetime1">
              <a:rPr lang="en-US" smtClean="0"/>
              <a:t>11/2/2024</a:t>
            </a:fld>
            <a:endParaRPr lang="en-US"/>
          </a:p>
        </p:txBody>
      </p:sp>
    </p:spTree>
    <p:extLst>
      <p:ext uri="{BB962C8B-B14F-4D97-AF65-F5344CB8AC3E}">
        <p14:creationId xmlns:p14="http://schemas.microsoft.com/office/powerpoint/2010/main" val="969408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976774"/>
            <a:ext cx="6019800" cy="4343400"/>
          </a:xfrm>
        </p:spPr>
        <p:txBody>
          <a:bodyPr/>
          <a:lstStyle/>
          <a:p>
            <a:pPr algn="ctr"/>
            <a:r>
              <a:rPr lang="en-US" b="1" i="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THANKS</a:t>
            </a:r>
            <a:br>
              <a:rPr lang="en-US" b="1" i="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br>
            <a:br>
              <a:rPr lang="en-US" b="1" i="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br>
            <a:r>
              <a:rPr lang="en-US" b="1" i="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It Feels Good When You Understand</a:t>
            </a:r>
            <a:endParaRPr lang="en-US" b="1" i="1" dirty="0">
              <a:solidFill>
                <a:srgbClr val="0070C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2667001"/>
            <a:ext cx="7848600" cy="2057400"/>
          </a:xfrm>
        </p:spPr>
        <p:txBody>
          <a:bodyPr>
            <a:normAutofit/>
          </a:bodyPr>
          <a:lstStyle/>
          <a:p>
            <a:pPr marL="0" indent="0" algn="ctr">
              <a:buNone/>
            </a:pPr>
            <a:r>
              <a:rPr lang="en-US" sz="40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p>
        </p:txBody>
      </p:sp>
      <p:sp>
        <p:nvSpPr>
          <p:cNvPr id="5" name="Slide Number Placeholder 4"/>
          <p:cNvSpPr>
            <a:spLocks noGrp="1"/>
          </p:cNvSpPr>
          <p:nvPr>
            <p:ph type="sldNum" sz="quarter" idx="12"/>
          </p:nvPr>
        </p:nvSpPr>
        <p:spPr/>
        <p:txBody>
          <a:bodyPr/>
          <a:lstStyle/>
          <a:p>
            <a:fld id="{6F42FDE4-A7DD-41A7-A0A6-9B649FB43336}" type="slidenum">
              <a:rPr kumimoji="0" lang="en-US" smtClean="0"/>
              <a:pPr/>
              <a:t>41</a:t>
            </a:fld>
            <a:endParaRPr kumimoji="0" lang="en-US"/>
          </a:p>
        </p:txBody>
      </p:sp>
      <p:sp>
        <p:nvSpPr>
          <p:cNvPr id="6" name="Date Placeholder 5"/>
          <p:cNvSpPr>
            <a:spLocks noGrp="1"/>
          </p:cNvSpPr>
          <p:nvPr>
            <p:ph type="dt" sz="half" idx="10"/>
          </p:nvPr>
        </p:nvSpPr>
        <p:spPr/>
        <p:txBody>
          <a:bodyPr/>
          <a:lstStyle/>
          <a:p>
            <a:fld id="{0B56ECFE-569F-4266-9C10-E581645509B6}" type="datetime1">
              <a:rPr lang="en-US" smtClean="0"/>
              <a:t>11/2/2024</a:t>
            </a:fld>
            <a:endParaRPr lang="en-US"/>
          </a:p>
        </p:txBody>
      </p:sp>
    </p:spTree>
    <p:extLst>
      <p:ext uri="{BB962C8B-B14F-4D97-AF65-F5344CB8AC3E}">
        <p14:creationId xmlns:p14="http://schemas.microsoft.com/office/powerpoint/2010/main" val="306385164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7877</TotalTime>
  <Words>2944</Words>
  <Application>Microsoft Office PowerPoint</Application>
  <PresentationFormat>On-screen Show (4:3)</PresentationFormat>
  <Paragraphs>267</Paragraphs>
  <Slides>41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Adobe Caslon Pro</vt:lpstr>
      <vt:lpstr>Arial</vt:lpstr>
      <vt:lpstr>Calibri</vt:lpstr>
      <vt:lpstr>Century Gothic</vt:lpstr>
      <vt:lpstr>Times New Roman</vt:lpstr>
      <vt:lpstr>Wingdings 3</vt:lpstr>
      <vt:lpstr>Wisp</vt:lpstr>
      <vt:lpstr>Optical fibers and cables</vt:lpstr>
      <vt:lpstr>Introduction</vt:lpstr>
      <vt:lpstr>PowerPoint Presentation</vt:lpstr>
      <vt:lpstr>Preparation of optical fibers</vt:lpstr>
      <vt:lpstr>Liquid-phase (melting) techniques</vt:lpstr>
      <vt:lpstr>PowerPoint Presentation</vt:lpstr>
      <vt:lpstr>Fiber drawing </vt:lpstr>
      <vt:lpstr>PowerPoint Presentation</vt:lpstr>
      <vt:lpstr>Vapor-phase deposition techniques </vt:lpstr>
      <vt:lpstr>Vapor-phase deposition techniques </vt:lpstr>
      <vt:lpstr> Outside vapor-phase oxidation process</vt:lpstr>
      <vt:lpstr> Outside vapor-phase oxidation process</vt:lpstr>
      <vt:lpstr>Vapor axial deposition (VAD) </vt:lpstr>
      <vt:lpstr>Vapor axial deposition (VAD) </vt:lpstr>
      <vt:lpstr>Modified chemical vapor deposition </vt:lpstr>
      <vt:lpstr>Modified chemical vapor deposition </vt:lpstr>
      <vt:lpstr>Modified chemical vapor deposition </vt:lpstr>
      <vt:lpstr>Plasma-activated chemical vapor deposition</vt:lpstr>
      <vt:lpstr>General Optical Fiber Making Process </vt:lpstr>
      <vt:lpstr>Summary of vapor-phase deposition techniques </vt:lpstr>
      <vt:lpstr>Optical fiber cables </vt:lpstr>
      <vt:lpstr>Optical fiber cables </vt:lpstr>
      <vt:lpstr>Micro bending</vt:lpstr>
      <vt:lpstr>Cable design </vt:lpstr>
      <vt:lpstr>PowerPoint Presentation</vt:lpstr>
      <vt:lpstr>Fiber Buffering</vt:lpstr>
      <vt:lpstr>Fiber Buffering</vt:lpstr>
      <vt:lpstr>Fiber Buffering</vt:lpstr>
      <vt:lpstr>Fiber Buffering</vt:lpstr>
      <vt:lpstr>Fiber Buffering</vt:lpstr>
      <vt:lpstr>Fiber Buffering</vt:lpstr>
      <vt:lpstr>Cable structural and strength members</vt:lpstr>
      <vt:lpstr>Cable structural and strength members</vt:lpstr>
      <vt:lpstr>Cable structural and strength members</vt:lpstr>
      <vt:lpstr>Cable structural and strength members</vt:lpstr>
      <vt:lpstr>Cable sheath, water barrier and cable core </vt:lpstr>
      <vt:lpstr>Cable sheath, water barrier and cable core </vt:lpstr>
      <vt:lpstr>Examples of fiber cables </vt:lpstr>
      <vt:lpstr>Examples of fiber cables </vt:lpstr>
      <vt:lpstr>Examples of fiber cables </vt:lpstr>
      <vt:lpstr>THANKS  It Feels Good When You Understand</vt:lpstr>
    </vt:vector>
  </TitlesOfParts>
  <Company>iitg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8085 Architecture  &amp;  Its Assembly language programming</dc:title>
  <dc:creator>asahu</dc:creator>
  <cp:lastModifiedBy>Hasan Ahammad</cp:lastModifiedBy>
  <cp:revision>800</cp:revision>
  <dcterms:created xsi:type="dcterms:W3CDTF">2010-08-03T12:41:21Z</dcterms:created>
  <dcterms:modified xsi:type="dcterms:W3CDTF">2024-11-02T02:13:21Z</dcterms:modified>
</cp:coreProperties>
</file>