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notesMasterIdLst>
    <p:notesMasterId r:id="rId63"/>
  </p:notesMasterIdLst>
  <p:handoutMasterIdLst>
    <p:handoutMasterId r:id="rId64"/>
  </p:handoutMasterIdLst>
  <p:sldIdLst>
    <p:sldId id="256" r:id="rId2"/>
    <p:sldId id="459" r:id="rId3"/>
    <p:sldId id="460" r:id="rId4"/>
    <p:sldId id="477" r:id="rId5"/>
    <p:sldId id="478" r:id="rId6"/>
    <p:sldId id="476" r:id="rId7"/>
    <p:sldId id="461" r:id="rId8"/>
    <p:sldId id="479" r:id="rId9"/>
    <p:sldId id="462" r:id="rId10"/>
    <p:sldId id="464" r:id="rId11"/>
    <p:sldId id="465" r:id="rId12"/>
    <p:sldId id="466" r:id="rId13"/>
    <p:sldId id="467" r:id="rId14"/>
    <p:sldId id="468" r:id="rId15"/>
    <p:sldId id="469" r:id="rId16"/>
    <p:sldId id="471" r:id="rId17"/>
    <p:sldId id="480" r:id="rId18"/>
    <p:sldId id="481" r:id="rId19"/>
    <p:sldId id="482" r:id="rId20"/>
    <p:sldId id="483" r:id="rId21"/>
    <p:sldId id="484" r:id="rId22"/>
    <p:sldId id="472" r:id="rId23"/>
    <p:sldId id="475" r:id="rId24"/>
    <p:sldId id="485" r:id="rId25"/>
    <p:sldId id="486" r:id="rId26"/>
    <p:sldId id="488" r:id="rId27"/>
    <p:sldId id="489" r:id="rId28"/>
    <p:sldId id="487" r:id="rId29"/>
    <p:sldId id="490" r:id="rId30"/>
    <p:sldId id="491" r:id="rId31"/>
    <p:sldId id="492" r:id="rId32"/>
    <p:sldId id="493" r:id="rId33"/>
    <p:sldId id="494" r:id="rId34"/>
    <p:sldId id="495" r:id="rId35"/>
    <p:sldId id="513" r:id="rId36"/>
    <p:sldId id="473" r:id="rId37"/>
    <p:sldId id="496" r:id="rId38"/>
    <p:sldId id="497" r:id="rId39"/>
    <p:sldId id="498" r:id="rId40"/>
    <p:sldId id="516" r:id="rId41"/>
    <p:sldId id="499" r:id="rId42"/>
    <p:sldId id="518" r:id="rId43"/>
    <p:sldId id="500" r:id="rId44"/>
    <p:sldId id="501" r:id="rId45"/>
    <p:sldId id="519" r:id="rId46"/>
    <p:sldId id="520" r:id="rId47"/>
    <p:sldId id="504" r:id="rId48"/>
    <p:sldId id="515" r:id="rId49"/>
    <p:sldId id="474" r:id="rId50"/>
    <p:sldId id="503" r:id="rId51"/>
    <p:sldId id="502" r:id="rId52"/>
    <p:sldId id="505" r:id="rId53"/>
    <p:sldId id="506" r:id="rId54"/>
    <p:sldId id="507" r:id="rId55"/>
    <p:sldId id="517" r:id="rId56"/>
    <p:sldId id="509" r:id="rId57"/>
    <p:sldId id="514" r:id="rId58"/>
    <p:sldId id="510" r:id="rId59"/>
    <p:sldId id="511" r:id="rId60"/>
    <p:sldId id="512" r:id="rId61"/>
    <p:sldId id="458" r:id="rId6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D43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09" autoAdjust="0"/>
    <p:restoredTop sz="95274" autoAdjust="0"/>
  </p:normalViewPr>
  <p:slideViewPr>
    <p:cSldViewPr>
      <p:cViewPr varScale="1">
        <p:scale>
          <a:sx n="72" d="100"/>
          <a:sy n="72" d="100"/>
        </p:scale>
        <p:origin x="1314"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8B702374-9732-47F3-AD75-024FC55FE8AE}" type="datetimeFigureOut">
              <a:rPr lang="en-US" smtClean="0"/>
              <a:pPr/>
              <a:t>11/2/2024</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AD969EC6-7096-4D1C-AE88-55614CFF9541}" type="slidenum">
              <a:rPr lang="en-US" smtClean="0"/>
              <a:pPr/>
              <a:t>‹#›</a:t>
            </a:fld>
            <a:endParaRPr lang="en-US"/>
          </a:p>
        </p:txBody>
      </p:sp>
    </p:spTree>
    <p:extLst>
      <p:ext uri="{BB962C8B-B14F-4D97-AF65-F5344CB8AC3E}">
        <p14:creationId xmlns:p14="http://schemas.microsoft.com/office/powerpoint/2010/main" val="33970501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B65BB7-332E-4273-BE5F-FC4D4769183E}" type="datetimeFigureOut">
              <a:rPr lang="en-US" smtClean="0"/>
              <a:pPr/>
              <a:t>11/2/2024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498AF3CB-16F4-4262-B562-3E0EEE24DB16}" type="slidenum">
              <a:rPr lang="en-US" smtClean="0"/>
              <a:pPr/>
              <a:t>‹#›</a:t>
            </a:fld>
            <a:endParaRPr lang="en-US"/>
          </a:p>
        </p:txBody>
      </p:sp>
    </p:spTree>
    <p:extLst>
      <p:ext uri="{BB962C8B-B14F-4D97-AF65-F5344CB8AC3E}">
        <p14:creationId xmlns:p14="http://schemas.microsoft.com/office/powerpoint/2010/main" val="2886875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r>
              <a:rPr lang="en-US"/>
              <a:t>CCE- 323 ( Optical Fiber Communication )</a:t>
            </a:r>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kumimoji="0"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6F42FDE4-A7DD-41A7-A0A6-9B649FB43336}" type="slidenum">
              <a:rPr kumimoji="0" lang="en-US" smtClean="0"/>
              <a:pPr/>
              <a:t>‹#›</a:t>
            </a:fld>
            <a:endParaRPr kumimoji="0" lang="en-US" sz="1400" dirty="0">
              <a:solidFill>
                <a:srgbClr val="FFFFFF"/>
              </a:solidFill>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p>
            <a:fld id="{6F42FDE4-A7DD-41A7-A0A6-9B649FB43336}" type="slidenum">
              <a:rPr kumimoji="0" lang="en-US" smtClean="0"/>
              <a:pPr/>
              <a:t>‹#›</a:t>
            </a:fld>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r>
              <a:rPr lang="en-US"/>
              <a:t>CCE- 323 ( Optical Fiber Communication )</a:t>
            </a:r>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F42FDE4-A7DD-41A7-A0A6-9B649FB43336}" type="slidenum">
              <a:rPr kumimoji="0" lang="en-US" smtClean="0"/>
              <a:pPr/>
              <a:t>‹#›</a:t>
            </a:fld>
            <a:endParaRPr kumimoji="0" lang="en-US"/>
          </a:p>
        </p:txBody>
      </p:sp>
      <p:sp>
        <p:nvSpPr>
          <p:cNvPr id="9" name="Content Placeholder 8"/>
          <p:cNvSpPr>
            <a:spLocks noGrp="1"/>
          </p:cNvSpPr>
          <p:nvPr>
            <p:ph sz="quarter" idx="13"/>
          </p:nvPr>
        </p:nvSpPr>
        <p:spPr>
          <a:xfrm>
            <a:off x="1042416" y="2313432"/>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CCE- 323 ( Optical Fiber Communication )</a:t>
            </a:r>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CCE- 323 ( Optical Fiber Communication )</a:t>
            </a:r>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CCE- 323 ( Optical Fiber Communication )</a:t>
            </a:r>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r>
              <a:rPr lang="en-US"/>
              <a:t>CCE- 323 ( Optical Fiber Communication )</a:t>
            </a:r>
          </a:p>
        </p:txBody>
      </p:sp>
      <p:sp>
        <p:nvSpPr>
          <p:cNvPr id="7" name="Slide Number Placeholder 6"/>
          <p:cNvSpPr>
            <a:spLocks noGrp="1"/>
          </p:cNvSpPr>
          <p:nvPr>
            <p:ph type="sldNum" sz="quarter" idx="12"/>
          </p:nvPr>
        </p:nvSpPr>
        <p:spPr/>
        <p:txBody>
          <a:bodyPr/>
          <a:lstStyle/>
          <a:p>
            <a:fld id="{6F42FDE4-A7DD-41A7-A0A6-9B649FB43336}" type="slidenum">
              <a:rPr kumimoji="0" lang="en-US" smtClean="0"/>
              <a:pPr/>
              <a:t>‹#›</a:t>
            </a:fld>
            <a:endParaRPr kumimoji="0"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kumimoji="0"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a:t>Click to edit Master title style</a:t>
            </a:r>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a:t>Click to edit Master title style</a:t>
            </a:r>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CCE- 323 ( Optical Fiber Communication )</a:t>
            </a:r>
          </a:p>
        </p:txBody>
      </p:sp>
      <p:sp>
        <p:nvSpPr>
          <p:cNvPr id="6" name="Footer Placeholder 5"/>
          <p:cNvSpPr>
            <a:spLocks noGrp="1"/>
          </p:cNvSpPr>
          <p:nvPr>
            <p:ph type="ftr" sz="quarter" idx="11"/>
          </p:nvPr>
        </p:nvSpPr>
        <p:spPr>
          <a:xfrm>
            <a:off x="4641448" y="5724835"/>
            <a:ext cx="3493664" cy="365125"/>
          </a:xfrm>
        </p:spPr>
        <p:txBody>
          <a:bodyPr>
            <a:normAutofit/>
          </a:bodyPr>
          <a:lstStyle/>
          <a:p>
            <a:endParaRPr kumimoji="0" lang="en-US" dirty="0"/>
          </a:p>
        </p:txBody>
      </p:sp>
      <p:sp>
        <p:nvSpPr>
          <p:cNvPr id="7" name="Slide Number Placeholder 6"/>
          <p:cNvSpPr>
            <a:spLocks noGrp="1"/>
          </p:cNvSpPr>
          <p:nvPr>
            <p:ph type="sldNum" sz="quarter" idx="12"/>
          </p:nvPr>
        </p:nvSpPr>
        <p:spPr/>
        <p:txBody>
          <a:bodyPr/>
          <a:lstStyle/>
          <a:p>
            <a:fld id="{6F42FDE4-A7DD-41A7-A0A6-9B649FB43336}" type="slidenum">
              <a:rPr kumimoji="0" lang="en-US" smtClean="0"/>
              <a:pPr/>
              <a:t>‹#›</a:t>
            </a:fld>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pPr algn="r" eaLnBrk="1" latinLnBrk="0" hangingPunct="1"/>
            <a:r>
              <a:rPr lang="en-US"/>
              <a:t>CCE- 323 ( Optical Fiber Communication )</a:t>
            </a:r>
            <a:endParaRPr lang="en-US" sz="1400" dirty="0">
              <a:solidFill>
                <a:schemeClr val="tx2"/>
              </a:solidFill>
            </a:endParaRPr>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kumimoji="0" lang="en-US" sz="1400" dirty="0">
              <a:solidFill>
                <a:schemeClr val="tx2"/>
              </a:solidFill>
            </a:endParaRP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pPr algn="ctr" eaLnBrk="1" latinLnBrk="0" hangingPunct="1"/>
            <a:fld id="{6F42FDE4-A7DD-41A7-A0A6-9B649FB43336}" type="slidenum">
              <a:rPr kumimoji="0" lang="en-US" smtClean="0"/>
              <a:pPr algn="ctr" eaLnBrk="1" latinLnBrk="0" hangingPunct="1"/>
              <a:t>‹#›</a:t>
            </a:fld>
            <a:endParaRPr kumimoji="0" lang="en-US" sz="1400" dirty="0">
              <a:solidFill>
                <a:srgbClr val="FFFFFF"/>
              </a:solidFill>
              <a:latin typeface="+mj-lt"/>
              <a:ea typeface="+mj-ea"/>
              <a:cs typeface="+mj-cs"/>
            </a:endParaRPr>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hf hdr="0" ftr="0"/>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228600" y="457200"/>
            <a:ext cx="4267200" cy="2075470"/>
          </a:xfr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4400" b="1" spc="50" dirty="0">
                <a:ln w="11430"/>
                <a:solidFill>
                  <a:srgbClr val="9D431F"/>
                </a:solidFill>
                <a:effectLst>
                  <a:outerShdw blurRad="76200" dist="50800" dir="5400000" algn="tl" rotWithShape="0">
                    <a:srgbClr val="000000">
                      <a:alpha val="65000"/>
                    </a:srgbClr>
                  </a:outerShdw>
                </a:effectLst>
                <a:latin typeface="Times New Roman" pitchFamily="18" charset="0"/>
                <a:cs typeface="Times New Roman" pitchFamily="18" charset="0"/>
              </a:rPr>
              <a:t>Fiber Joints and Couplers;</a:t>
            </a:r>
            <a:br>
              <a:rPr lang="en-US" sz="4400" b="1" spc="50" dirty="0">
                <a:ln w="11430"/>
                <a:solidFill>
                  <a:srgbClr val="9D431F"/>
                </a:solidFill>
                <a:effectLst>
                  <a:outerShdw blurRad="76200" dist="50800" dir="5400000" algn="tl" rotWithShape="0">
                    <a:srgbClr val="000000">
                      <a:alpha val="65000"/>
                    </a:srgbClr>
                  </a:outerShdw>
                </a:effectLst>
                <a:latin typeface="Times New Roman" pitchFamily="18" charset="0"/>
                <a:cs typeface="Times New Roman" pitchFamily="18" charset="0"/>
              </a:rPr>
            </a:br>
            <a:r>
              <a:rPr lang="en-US" sz="4400" b="1" spc="50" dirty="0">
                <a:ln w="11430"/>
                <a:solidFill>
                  <a:srgbClr val="9D431F"/>
                </a:solidFill>
                <a:effectLst>
                  <a:outerShdw blurRad="76200" dist="50800" dir="5400000" algn="tl" rotWithShape="0">
                    <a:srgbClr val="000000">
                      <a:alpha val="65000"/>
                    </a:srgbClr>
                  </a:outerShdw>
                </a:effectLst>
                <a:latin typeface="Times New Roman" pitchFamily="18" charset="0"/>
                <a:cs typeface="Times New Roman" pitchFamily="18" charset="0"/>
              </a:rPr>
              <a:t>Cable Design </a:t>
            </a:r>
          </a:p>
        </p:txBody>
      </p:sp>
      <p:sp>
        <p:nvSpPr>
          <p:cNvPr id="2" name="Subtitle 1"/>
          <p:cNvSpPr>
            <a:spLocks noGrp="1"/>
          </p:cNvSpPr>
          <p:nvPr>
            <p:ph type="subTitle" idx="1"/>
          </p:nvPr>
        </p:nvSpPr>
        <p:spPr>
          <a:xfrm>
            <a:off x="4648200" y="4419600"/>
            <a:ext cx="3505200" cy="1600200"/>
          </a:xfrm>
        </p:spPr>
        <p:txBody>
          <a:bodyPr>
            <a:normAutofit fontScale="85000" lnSpcReduction="20000"/>
          </a:bodyPr>
          <a:lstStyle/>
          <a:p>
            <a:r>
              <a:rPr lang="en-US" sz="3600" dirty="0" err="1">
                <a:latin typeface="Times New Roman" pitchFamily="18" charset="0"/>
                <a:cs typeface="Times New Roman" pitchFamily="18" charset="0"/>
              </a:rPr>
              <a:t>Arpita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howlader</a:t>
            </a:r>
            <a:endParaRPr lang="en-US" sz="3600" dirty="0">
              <a:latin typeface="Times New Roman" pitchFamily="18" charset="0"/>
              <a:cs typeface="Times New Roman" pitchFamily="18" charset="0"/>
            </a:endParaRPr>
          </a:p>
          <a:p>
            <a:r>
              <a:rPr lang="en-US" sz="2100" dirty="0">
                <a:latin typeface="Times New Roman" pitchFamily="18" charset="0"/>
                <a:cs typeface="Times New Roman" pitchFamily="18" charset="0"/>
              </a:rPr>
              <a:t>Dept of Computer &amp; Communication Engineering</a:t>
            </a:r>
          </a:p>
          <a:p>
            <a:r>
              <a:rPr lang="en-US" sz="2100" dirty="0" err="1">
                <a:solidFill>
                  <a:schemeClr val="tx1"/>
                </a:solidFill>
                <a:latin typeface="Times New Roman" pitchFamily="18" charset="0"/>
                <a:cs typeface="Times New Roman" pitchFamily="18" charset="0"/>
              </a:rPr>
              <a:t>Patuakhali</a:t>
            </a:r>
            <a:r>
              <a:rPr lang="en-US" sz="2100" dirty="0">
                <a:solidFill>
                  <a:schemeClr val="tx1"/>
                </a:solidFill>
                <a:latin typeface="Times New Roman" pitchFamily="18" charset="0"/>
                <a:cs typeface="Times New Roman" pitchFamily="18" charset="0"/>
              </a:rPr>
              <a:t> Science and Technology University</a:t>
            </a:r>
            <a:endParaRPr lang="en-US" sz="2100" dirty="0">
              <a:solidFill>
                <a:schemeClr val="tx1"/>
              </a:solidFill>
            </a:endParaRPr>
          </a:p>
          <a:p>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5105400" y="381001"/>
            <a:ext cx="2819400" cy="1143000"/>
          </a:xfrm>
        </p:spPr>
        <p:txBody>
          <a:bodyPr/>
          <a:lstStyle/>
          <a:p>
            <a:r>
              <a:rPr lang="en-US" sz="1800"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a:t>
            </a:fld>
            <a:endParaRPr kumimoji="0" lang="en-US" sz="1400"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7024744" cy="572536"/>
          </a:xfrm>
        </p:spPr>
        <p:txBody>
          <a:bodyPr>
            <a:noAutofit/>
          </a:bodyPr>
          <a:lstStyle/>
          <a:p>
            <a:r>
              <a:rPr lang="en-US" sz="3600" b="1" dirty="0">
                <a:latin typeface="Times New Roman" pitchFamily="18" charset="0"/>
                <a:cs typeface="Times New Roman" pitchFamily="18" charset="0"/>
              </a:rPr>
              <a:t>Fiber Joints and Couplers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457200" y="1447800"/>
            <a:ext cx="8229600" cy="4495800"/>
          </a:xfrm>
        </p:spPr>
        <p:txBody>
          <a:bodyPr>
            <a:normAutofit/>
          </a:bodyPr>
          <a:lstStyle/>
          <a:p>
            <a:r>
              <a:rPr lang="en-US" sz="2000" dirty="0">
                <a:latin typeface="Times New Roman" pitchFamily="18" charset="0"/>
                <a:cs typeface="Times New Roman" pitchFamily="18" charset="0"/>
              </a:rPr>
              <a:t>For fiber-fiber connection we need joints which are of two major types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Fiber splices</a:t>
            </a:r>
            <a:r>
              <a:rPr lang="en-US" sz="2000" dirty="0">
                <a:latin typeface="Times New Roman" pitchFamily="18" charset="0"/>
                <a:cs typeface="Times New Roman" pitchFamily="18" charset="0"/>
              </a:rPr>
              <a:t>: these are semi-permanent or permanent joint (like electrical soldered joints)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Demountable fiber connector or simple connector</a:t>
            </a:r>
            <a:r>
              <a:rPr lang="en-US" sz="2000" dirty="0">
                <a:latin typeface="Times New Roman" pitchFamily="18" charset="0"/>
                <a:cs typeface="Times New Roman" pitchFamily="18" charset="0"/>
              </a:rPr>
              <a:t>: these are removable joints, easy and fast coupling and uncoupling of fibers (like electrical plugs and sockets)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Purpose: fiber to fiber joints are designed to couple ideally all the light in one fiber to adjoining fiber </a:t>
            </a:r>
          </a:p>
          <a:p>
            <a:r>
              <a:rPr lang="en-US" sz="2000" dirty="0">
                <a:latin typeface="Times New Roman" pitchFamily="18" charset="0"/>
                <a:cs typeface="Times New Roman" pitchFamily="18" charset="0"/>
              </a:rPr>
              <a:t>Optical fiber links require connection in </a:t>
            </a:r>
            <a:r>
              <a:rPr lang="en-US" sz="2000" b="1" dirty="0">
                <a:latin typeface="Times New Roman" pitchFamily="18" charset="0"/>
                <a:cs typeface="Times New Roman" pitchFamily="18" charset="0"/>
              </a:rPr>
              <a:t>order to make long fiber </a:t>
            </a:r>
            <a:r>
              <a:rPr lang="en-US" sz="2000" dirty="0">
                <a:latin typeface="Times New Roman" pitchFamily="18" charset="0"/>
                <a:cs typeface="Times New Roman" pitchFamily="18" charset="0"/>
              </a:rPr>
              <a:t>or for fiber </a:t>
            </a:r>
            <a:r>
              <a:rPr lang="en-US" sz="2000" b="1" dirty="0">
                <a:latin typeface="Times New Roman" pitchFamily="18" charset="0"/>
                <a:cs typeface="Times New Roman" pitchFamily="18" charset="0"/>
              </a:rPr>
              <a:t>coupling to sources </a:t>
            </a:r>
            <a:r>
              <a:rPr lang="en-US" sz="2000" dirty="0">
                <a:latin typeface="Times New Roman" pitchFamily="18" charset="0"/>
                <a:cs typeface="Times New Roman" pitchFamily="18" charset="0"/>
              </a:rPr>
              <a:t>or amplifier or termination to receiver</a:t>
            </a:r>
          </a:p>
          <a:p>
            <a:r>
              <a:rPr lang="en-US" sz="2000" dirty="0">
                <a:latin typeface="Times New Roman" pitchFamily="18" charset="0"/>
                <a:cs typeface="Times New Roman" pitchFamily="18" charset="0"/>
              </a:rPr>
              <a:t>The number of intermediate fiber </a:t>
            </a:r>
            <a:r>
              <a:rPr lang="en-US" sz="2000" b="1" dirty="0">
                <a:latin typeface="Times New Roman" pitchFamily="18" charset="0"/>
                <a:cs typeface="Times New Roman" pitchFamily="18" charset="0"/>
              </a:rPr>
              <a:t>connections or joints depends on link length</a:t>
            </a:r>
            <a:r>
              <a:rPr lang="en-US" sz="2000" dirty="0">
                <a:latin typeface="Times New Roman" pitchFamily="18" charset="0"/>
                <a:cs typeface="Times New Roman" pitchFamily="18" charset="0"/>
              </a:rPr>
              <a:t> between repeaters </a:t>
            </a:r>
            <a:br>
              <a:rPr lang="en-US" sz="2000" dirty="0">
                <a:latin typeface="Times New Roman" pitchFamily="18" charset="0"/>
                <a:cs typeface="Times New Roman" pitchFamily="18" charset="0"/>
              </a:rPr>
            </a:b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a:t>
            </a:fld>
            <a:endParaRPr kumimoji="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472098" y="1524000"/>
            <a:ext cx="8214702" cy="4952999"/>
          </a:xfrm>
        </p:spPr>
        <p:txBody>
          <a:bodyPr>
            <a:normAutofit/>
          </a:bodyPr>
          <a:lstStyle/>
          <a:p>
            <a:r>
              <a:rPr lang="en-US" sz="2000" dirty="0">
                <a:latin typeface="Times New Roman" pitchFamily="18" charset="0"/>
                <a:cs typeface="Times New Roman" pitchFamily="18" charset="0"/>
              </a:rPr>
              <a:t>Optical power loss at the joint is the main concern</a:t>
            </a:r>
          </a:p>
          <a:p>
            <a:r>
              <a:rPr lang="en-US" sz="2000" dirty="0">
                <a:latin typeface="Times New Roman" pitchFamily="18" charset="0"/>
                <a:cs typeface="Times New Roman" pitchFamily="18" charset="0"/>
              </a:rPr>
              <a:t>Following losses are generated when joint fiber to fiber </a:t>
            </a:r>
          </a:p>
          <a:p>
            <a:pPr lvl="1"/>
            <a:r>
              <a:rPr lang="en-US" sz="2000" dirty="0" err="1">
                <a:latin typeface="Times New Roman" pitchFamily="18" charset="0"/>
                <a:cs typeface="Times New Roman" pitchFamily="18" charset="0"/>
              </a:rPr>
              <a:t>Radiative</a:t>
            </a:r>
            <a:r>
              <a:rPr lang="en-US" sz="2000" dirty="0">
                <a:latin typeface="Times New Roman" pitchFamily="18" charset="0"/>
                <a:cs typeface="Times New Roman" pitchFamily="18" charset="0"/>
              </a:rPr>
              <a:t> Loss</a:t>
            </a:r>
          </a:p>
          <a:p>
            <a:pPr lvl="2"/>
            <a:r>
              <a:rPr lang="en-US" dirty="0">
                <a:latin typeface="Times New Roman" pitchFamily="18" charset="0"/>
                <a:cs typeface="Times New Roman" pitchFamily="18" charset="0"/>
              </a:rPr>
              <a:t>Macroscopic Fiber Bending Losses</a:t>
            </a:r>
          </a:p>
          <a:p>
            <a:pPr lvl="2"/>
            <a:r>
              <a:rPr lang="en-US" dirty="0">
                <a:latin typeface="Times New Roman" pitchFamily="18" charset="0"/>
                <a:cs typeface="Times New Roman" pitchFamily="18" charset="0"/>
              </a:rPr>
              <a:t>Microscopic Fiber Bending Losses  or Mode Coupling Losses</a:t>
            </a:r>
            <a:endParaRPr lang="en-US" sz="2000" dirty="0">
              <a:latin typeface="Times New Roman" pitchFamily="18" charset="0"/>
              <a:cs typeface="Times New Roman" pitchFamily="18" charset="0"/>
            </a:endParaRPr>
          </a:p>
          <a:p>
            <a:pPr lvl="1"/>
            <a:r>
              <a:rPr lang="en-US" sz="2000" dirty="0">
                <a:latin typeface="Times New Roman" pitchFamily="18" charset="0"/>
                <a:cs typeface="Times New Roman" pitchFamily="18" charset="0"/>
              </a:rPr>
              <a:t>Core or Longitudinal misalignment</a:t>
            </a:r>
          </a:p>
          <a:p>
            <a:pPr lvl="1"/>
            <a:r>
              <a:rPr lang="en-US" sz="2000" dirty="0">
                <a:latin typeface="Times New Roman" pitchFamily="18" charset="0"/>
                <a:cs typeface="Times New Roman" pitchFamily="18" charset="0"/>
              </a:rPr>
              <a:t>Lateral misalignment</a:t>
            </a:r>
          </a:p>
          <a:p>
            <a:pPr lvl="1"/>
            <a:r>
              <a:rPr lang="en-US" sz="2000" dirty="0">
                <a:latin typeface="Times New Roman" pitchFamily="18" charset="0"/>
                <a:cs typeface="Times New Roman" pitchFamily="18" charset="0"/>
              </a:rPr>
              <a:t>Angular misalignment Losses</a:t>
            </a:r>
          </a:p>
          <a:p>
            <a:pPr lvl="1"/>
            <a:r>
              <a:rPr lang="en-US" sz="2000" dirty="0">
                <a:latin typeface="Times New Roman" pitchFamily="18" charset="0"/>
                <a:cs typeface="Times New Roman" pitchFamily="18" charset="0"/>
              </a:rPr>
              <a:t>Gap Losses</a:t>
            </a:r>
          </a:p>
          <a:p>
            <a:pPr lvl="1"/>
            <a:r>
              <a:rPr lang="en-US" sz="2000" dirty="0">
                <a:latin typeface="Times New Roman" pitchFamily="18" charset="0"/>
                <a:cs typeface="Times New Roman" pitchFamily="18" charset="0"/>
              </a:rPr>
              <a:t>Losses due to difference in diameter </a:t>
            </a:r>
          </a:p>
          <a:p>
            <a:pPr lvl="1"/>
            <a:r>
              <a:rPr lang="en-US" sz="2000" dirty="0">
                <a:latin typeface="Times New Roman" pitchFamily="18" charset="0"/>
                <a:cs typeface="Times New Roman" pitchFamily="18" charset="0"/>
              </a:rPr>
              <a:t>Losses due to change in NA (numerical aperture)</a:t>
            </a:r>
          </a:p>
        </p:txBody>
      </p:sp>
      <p:sp>
        <p:nvSpPr>
          <p:cNvPr id="4" name="Date Placeholder 3"/>
          <p:cNvSpPr>
            <a:spLocks noGrp="1"/>
          </p:cNvSpPr>
          <p:nvPr>
            <p:ph type="dt" sz="half" idx="10"/>
          </p:nvPr>
        </p:nvSpPr>
        <p:spPr>
          <a:xfrm>
            <a:off x="5315174" y="160337"/>
            <a:ext cx="2796988"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a:t>
            </a:fld>
            <a:endParaRPr kumimoji="0" lang="en-US"/>
          </a:p>
        </p:txBody>
      </p:sp>
      <p:sp>
        <p:nvSpPr>
          <p:cNvPr id="7" name="AutoShape 4" descr="Image result for Macroscopic Fiber Bending Loss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7" descr="Image result for Macroscopic Fiber Bending Loss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457200" y="1219201"/>
            <a:ext cx="8001000" cy="4952999"/>
          </a:xfrm>
        </p:spPr>
        <p:txBody>
          <a:bodyPr>
            <a:normAutofit/>
          </a:bodyPr>
          <a:lstStyle/>
          <a:p>
            <a:r>
              <a:rPr lang="en-US" sz="2000" dirty="0" err="1">
                <a:latin typeface="Times New Roman" pitchFamily="18" charset="0"/>
                <a:cs typeface="Times New Roman" pitchFamily="18" charset="0"/>
              </a:rPr>
              <a:t>Radiative</a:t>
            </a:r>
            <a:r>
              <a:rPr lang="en-US" sz="2000" dirty="0">
                <a:latin typeface="Times New Roman" pitchFamily="18" charset="0"/>
                <a:cs typeface="Times New Roman" pitchFamily="18" charset="0"/>
              </a:rPr>
              <a:t> </a:t>
            </a:r>
            <a:r>
              <a:rPr lang="en-US" sz="2400" dirty="0">
                <a:latin typeface="Times New Roman" pitchFamily="18" charset="0"/>
                <a:cs typeface="Times New Roman" pitchFamily="18" charset="0"/>
              </a:rPr>
              <a:t>Loss</a:t>
            </a:r>
            <a:endParaRPr lang="en-US" sz="2000" dirty="0">
              <a:latin typeface="Times New Roman" pitchFamily="18" charset="0"/>
              <a:cs typeface="Times New Roman" pitchFamily="18" charset="0"/>
            </a:endParaRPr>
          </a:p>
          <a:p>
            <a:pPr lvl="1"/>
            <a:r>
              <a:rPr lang="en-US" sz="2000" dirty="0">
                <a:latin typeface="Times New Roman" pitchFamily="18" charset="0"/>
                <a:cs typeface="Times New Roman" pitchFamily="18" charset="0"/>
              </a:rPr>
              <a:t>Macroscopic Fiber Bending Losses: due to greater core radius. Bending in which complete fiber undergoes bends which causes certain modes not to be reflected and therefore causes loss to the cladding.</a:t>
            </a:r>
          </a:p>
          <a:p>
            <a:pPr lvl="1"/>
            <a:r>
              <a:rPr lang="en-US" sz="2000" dirty="0">
                <a:latin typeface="Times New Roman" pitchFamily="18" charset="0"/>
                <a:cs typeface="Times New Roman" pitchFamily="18" charset="0"/>
              </a:rPr>
              <a:t>Microscopic Fiber Bending Losses  or Mode Coupling Losses: Bending Either the core or cladding undergoes slight bends at its surface. It causes light to be reflected at angles when there is no further reflection</a:t>
            </a:r>
          </a:p>
          <a:p>
            <a:endParaRPr lang="en-US" sz="2000" b="1" u="sng"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a:t>
            </a:fld>
            <a:endParaRPr kumimoji="0" lang="en-US"/>
          </a:p>
        </p:txBody>
      </p:sp>
      <p:sp>
        <p:nvSpPr>
          <p:cNvPr id="7" name="AutoShape 4" descr="Image result for Macroscopic Fiber Bending Loss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7" descr="Image result for Macroscopic Fiber Bending Loss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4138246"/>
            <a:ext cx="3686175"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619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3">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3">
                                            <p:txEl>
                                              <p:pRg st="0" end="0"/>
                                            </p:txEl>
                                          </p:spTgt>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1" dur="500"/>
                                        <p:tgtEl>
                                          <p:spTgt spid="3">
                                            <p:txEl>
                                              <p:pRg st="1" end="1"/>
                                            </p:txEl>
                                          </p:spTgt>
                                        </p:tgtEl>
                                        <p:attrNameLst>
                                          <p:attrName>ppt_y</p:attrName>
                                        </p:attrNameLst>
                                      </p:cBhvr>
                                      <p:tavLst>
                                        <p:tav tm="0">
                                          <p:val>
                                            <p:strVal val="ppt_y"/>
                                          </p:val>
                                        </p:tav>
                                        <p:tav tm="100000">
                                          <p:val>
                                            <p:strVal val="1+ppt_h/2"/>
                                          </p:val>
                                        </p:tav>
                                      </p:tavLst>
                                    </p:anim>
                                    <p:set>
                                      <p:cBhvr>
                                        <p:cTn id="12" dur="1" fill="hold">
                                          <p:stCondLst>
                                            <p:cond delay="499"/>
                                          </p:stCondLst>
                                        </p:cTn>
                                        <p:tgtEl>
                                          <p:spTgt spid="3">
                                            <p:txEl>
                                              <p:pRg st="1" end="1"/>
                                            </p:txEl>
                                          </p:spTgt>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p:tgtEl>
                                          <p:spTgt spid="3">
                                            <p:txEl>
                                              <p:pRg st="2" end="2"/>
                                            </p:txEl>
                                          </p:spTgt>
                                        </p:tgtEl>
                                        <p:attrNameLst>
                                          <p:attrName>ppt_y</p:attrName>
                                        </p:attrNameLst>
                                      </p:cBhvr>
                                      <p:tavLst>
                                        <p:tav tm="0">
                                          <p:val>
                                            <p:strVal val="ppt_y"/>
                                          </p:val>
                                        </p:tav>
                                        <p:tav tm="100000">
                                          <p:val>
                                            <p:strVal val="1+ppt_h/2"/>
                                          </p:val>
                                        </p:tav>
                                      </p:tavLst>
                                    </p:anim>
                                    <p:set>
                                      <p:cBhvr>
                                        <p:cTn id="16" dur="1" fill="hold">
                                          <p:stCondLst>
                                            <p:cond delay="499"/>
                                          </p:stCondLst>
                                        </p:cTn>
                                        <p:tgtEl>
                                          <p:spTgt spid="3">
                                            <p:txEl>
                                              <p:pRg st="2" end="2"/>
                                            </p:txEl>
                                          </p:spTgt>
                                        </p:tgtEl>
                                        <p:attrNameLst>
                                          <p:attrName>style.visibility</p:attrName>
                                        </p:attrNameLst>
                                      </p:cBhvr>
                                      <p:to>
                                        <p:strVal val="hidden"/>
                                      </p:to>
                                    </p:set>
                                  </p:childTnLst>
                                </p:cTn>
                              </p:par>
                              <p:par>
                                <p:cTn id="17" presetID="14" presetClass="entr" presetSubtype="1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randombar(horizontal)">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4" name="Date Placeholder 3"/>
          <p:cNvSpPr>
            <a:spLocks noGrp="1"/>
          </p:cNvSpPr>
          <p:nvPr>
            <p:ph type="dt" sz="half" idx="10"/>
          </p:nvPr>
        </p:nvSpPr>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a:t>
            </a:fld>
            <a:endParaRPr kumimoji="0" lang="en-US"/>
          </a:p>
        </p:txBody>
      </p:sp>
      <p:sp>
        <p:nvSpPr>
          <p:cNvPr id="7" name="AutoShape 4" descr="Image result for Macroscopic Fiber Bending Loss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7" descr="Image result for Macroscopic Fiber Bending Loss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86840"/>
            <a:ext cx="3654426" cy="2326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600200"/>
            <a:ext cx="2771775"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 y="3962400"/>
            <a:ext cx="4314825"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2769" y="4114799"/>
            <a:ext cx="3686175"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3313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2000"/>
                                        <p:tgtEl>
                                          <p:spTgt spid="14"/>
                                        </p:tgtEl>
                                      </p:cBhvr>
                                    </p:animEffect>
                                  </p:childTnLst>
                                </p:cTn>
                              </p:par>
                              <p:par>
                                <p:cTn id="8" presetID="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500" fill="hold"/>
                                        <p:tgtEl>
                                          <p:spTgt spid="15"/>
                                        </p:tgtEl>
                                        <p:attrNameLst>
                                          <p:attrName>ppt_x</p:attrName>
                                        </p:attrNameLst>
                                      </p:cBhvr>
                                      <p:tavLst>
                                        <p:tav tm="0">
                                          <p:val>
                                            <p:strVal val="#ppt_x"/>
                                          </p:val>
                                        </p:tav>
                                        <p:tav tm="100000">
                                          <p:val>
                                            <p:strVal val="#ppt_x"/>
                                          </p:val>
                                        </p:tav>
                                      </p:tavLst>
                                    </p:anim>
                                    <p:anim calcmode="lin" valueType="num">
                                      <p:cBhvr additive="base">
                                        <p:cTn id="11" dur="500" fill="hold"/>
                                        <p:tgtEl>
                                          <p:spTgt spid="15"/>
                                        </p:tgtEl>
                                        <p:attrNameLst>
                                          <p:attrName>ppt_y</p:attrName>
                                        </p:attrNameLst>
                                      </p:cBhvr>
                                      <p:tavLst>
                                        <p:tav tm="0">
                                          <p:val>
                                            <p:strVal val="1+#ppt_h/2"/>
                                          </p:val>
                                        </p:tav>
                                        <p:tav tm="100000">
                                          <p:val>
                                            <p:strVal val="#ppt_y"/>
                                          </p:val>
                                        </p:tav>
                                      </p:tavLst>
                                    </p:anim>
                                  </p:childTnLst>
                                </p:cTn>
                              </p:par>
                              <p:par>
                                <p:cTn id="12" presetID="53" presetClass="entr" presetSubtype="16"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par>
                                <p:cTn id="17" presetID="14" presetClass="entr" presetSubtype="1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randombar(horizontal)">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457200" y="1219201"/>
            <a:ext cx="8001000" cy="4952999"/>
          </a:xfrm>
        </p:spPr>
        <p:txBody>
          <a:bodyPr>
            <a:normAutofit fontScale="92500" lnSpcReduction="10000"/>
          </a:bodyPr>
          <a:lstStyle/>
          <a:p>
            <a:r>
              <a:rPr lang="en-US" sz="2000" dirty="0">
                <a:latin typeface="Times New Roman" pitchFamily="18" charset="0"/>
                <a:cs typeface="Times New Roman" pitchFamily="18" charset="0"/>
              </a:rPr>
              <a:t>Optical power loss at the joint is the main concern</a:t>
            </a:r>
          </a:p>
          <a:p>
            <a:r>
              <a:rPr lang="en-US" sz="2000" b="1" u="sng" dirty="0">
                <a:latin typeface="Times New Roman" pitchFamily="18" charset="0"/>
                <a:cs typeface="Times New Roman" pitchFamily="18" charset="0"/>
              </a:rPr>
              <a:t>Loss due to Fresnel reflection</a:t>
            </a:r>
            <a:r>
              <a:rPr lang="en-US" sz="2000" b="1" dirty="0">
                <a:latin typeface="Times New Roman" pitchFamily="18" charset="0"/>
                <a:cs typeface="Times New Roman" pitchFamily="18" charset="0"/>
              </a:rPr>
              <a:t>:</a:t>
            </a:r>
          </a:p>
          <a:p>
            <a:pPr lvl="1"/>
            <a:r>
              <a:rPr lang="en-US" sz="2000" dirty="0">
                <a:latin typeface="Times New Roman" pitchFamily="18" charset="0"/>
                <a:cs typeface="Times New Roman" pitchFamily="18" charset="0"/>
              </a:rPr>
              <a:t>Fresnel reflection </a:t>
            </a:r>
            <a:r>
              <a:rPr lang="en-US" sz="2000" b="1" dirty="0">
                <a:latin typeface="Times New Roman" pitchFamily="18" charset="0"/>
                <a:cs typeface="Times New Roman" pitchFamily="18" charset="0"/>
              </a:rPr>
              <a:t>loss is related to step changes </a:t>
            </a:r>
            <a:r>
              <a:rPr lang="en-US" sz="2000" dirty="0">
                <a:latin typeface="Times New Roman" pitchFamily="18" charset="0"/>
                <a:cs typeface="Times New Roman" pitchFamily="18" charset="0"/>
              </a:rPr>
              <a:t>in </a:t>
            </a:r>
            <a:r>
              <a:rPr lang="en-US" sz="2000" dirty="0">
                <a:solidFill>
                  <a:srgbClr val="FF0000"/>
                </a:solidFill>
                <a:latin typeface="Times New Roman" pitchFamily="18" charset="0"/>
                <a:cs typeface="Times New Roman" pitchFamily="18" charset="0"/>
              </a:rPr>
              <a:t>refractive index</a:t>
            </a:r>
            <a:r>
              <a:rPr lang="en-US" sz="2000" dirty="0">
                <a:latin typeface="Times New Roman" pitchFamily="18" charset="0"/>
                <a:cs typeface="Times New Roman" pitchFamily="18" charset="0"/>
              </a:rPr>
              <a:t> at the jointed interface.</a:t>
            </a:r>
          </a:p>
          <a:p>
            <a:pPr lvl="1"/>
            <a:r>
              <a:rPr lang="en-US" sz="2000" dirty="0">
                <a:latin typeface="Times New Roman" pitchFamily="18" charset="0"/>
                <a:cs typeface="Times New Roman" pitchFamily="18" charset="0"/>
              </a:rPr>
              <a:t>Even when two jointed fiber ends are smooth and perpendicular to fiber axis and two fiber axes are perfectly aligned, A </a:t>
            </a:r>
            <a:r>
              <a:rPr lang="en-US" sz="2000" b="1" dirty="0">
                <a:latin typeface="Times New Roman" pitchFamily="18" charset="0"/>
                <a:cs typeface="Times New Roman" pitchFamily="18" charset="0"/>
              </a:rPr>
              <a:t>small portion of light reflects back </a:t>
            </a:r>
            <a:r>
              <a:rPr lang="en-US" sz="2000" dirty="0">
                <a:latin typeface="Times New Roman" pitchFamily="18" charset="0"/>
                <a:cs typeface="Times New Roman" pitchFamily="18" charset="0"/>
              </a:rPr>
              <a:t>into the transmitting fiber </a:t>
            </a:r>
          </a:p>
          <a:p>
            <a:pPr lvl="1"/>
            <a:r>
              <a:rPr lang="en-US" sz="2000" dirty="0">
                <a:latin typeface="Times New Roman" pitchFamily="18" charset="0"/>
                <a:cs typeface="Times New Roman" pitchFamily="18" charset="0"/>
              </a:rPr>
              <a:t>The amount of this </a:t>
            </a:r>
            <a:r>
              <a:rPr lang="en-US" sz="2000" b="1" dirty="0">
                <a:solidFill>
                  <a:srgbClr val="FF0000"/>
                </a:solidFill>
                <a:latin typeface="Times New Roman" pitchFamily="18" charset="0"/>
                <a:cs typeface="Times New Roman" pitchFamily="18" charset="0"/>
              </a:rPr>
              <a:t>partial reflection </a:t>
            </a:r>
            <a:r>
              <a:rPr lang="en-US" sz="2000" dirty="0">
                <a:latin typeface="Times New Roman" pitchFamily="18" charset="0"/>
                <a:cs typeface="Times New Roman" pitchFamily="18" charset="0"/>
              </a:rPr>
              <a:t>can be estimated by using classical Fresnel formula:</a:t>
            </a:r>
          </a:p>
          <a:p>
            <a:pPr lvl="1">
              <a:buNone/>
            </a:pPr>
            <a:r>
              <a:rPr lang="en-US" sz="2000" dirty="0">
                <a:latin typeface="Times New Roman" pitchFamily="18" charset="0"/>
                <a:cs typeface="Times New Roman" pitchFamily="18" charset="0"/>
              </a:rPr>
              <a:t> </a:t>
            </a:r>
            <a:br>
              <a:rPr lang="en-US" sz="2000" b="1" dirty="0">
                <a:latin typeface="Times New Roman" pitchFamily="18" charset="0"/>
                <a:cs typeface="Times New Roman" pitchFamily="18" charset="0"/>
              </a:rPr>
            </a:br>
            <a:br>
              <a:rPr lang="en-US" sz="2000" b="1" dirty="0">
                <a:latin typeface="Times New Roman" pitchFamily="18" charset="0"/>
                <a:cs typeface="Times New Roman" pitchFamily="18" charset="0"/>
              </a:rPr>
            </a:br>
            <a:endParaRPr lang="en-US" sz="2000" b="1" dirty="0">
              <a:latin typeface="Times New Roman" pitchFamily="18" charset="0"/>
              <a:cs typeface="Times New Roman" pitchFamily="18" charset="0"/>
            </a:endParaRPr>
          </a:p>
          <a:p>
            <a:pPr lvl="1">
              <a:buNone/>
            </a:pPr>
            <a:r>
              <a:rPr lang="en-US" sz="2000" dirty="0">
                <a:latin typeface="Times New Roman" pitchFamily="18" charset="0"/>
                <a:cs typeface="Times New Roman" pitchFamily="18" charset="0"/>
              </a:rPr>
              <a:t>    </a:t>
            </a:r>
          </a:p>
          <a:p>
            <a:pPr lvl="1">
              <a:buNone/>
            </a:pPr>
            <a:r>
              <a:rPr lang="en-US" sz="2000" dirty="0">
                <a:latin typeface="Times New Roman" pitchFamily="18" charset="0"/>
                <a:cs typeface="Times New Roman" pitchFamily="18" charset="0"/>
              </a:rPr>
              <a:t>     r is the </a:t>
            </a:r>
            <a:r>
              <a:rPr lang="en-US" sz="2000" b="1" dirty="0">
                <a:latin typeface="Times New Roman" pitchFamily="18" charset="0"/>
                <a:cs typeface="Times New Roman" pitchFamily="18" charset="0"/>
              </a:rPr>
              <a:t>fraction of light </a:t>
            </a:r>
            <a:r>
              <a:rPr lang="en-US" sz="2000" dirty="0">
                <a:latin typeface="Times New Roman" pitchFamily="18" charset="0"/>
                <a:cs typeface="Times New Roman" pitchFamily="18" charset="0"/>
              </a:rPr>
              <a:t>reflected at a single interface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n</a:t>
            </a:r>
            <a:r>
              <a:rPr lang="en-US" sz="1050" dirty="0">
                <a:latin typeface="Times New Roman" pitchFamily="18" charset="0"/>
                <a:cs typeface="Times New Roman" pitchFamily="18" charset="0"/>
              </a:rPr>
              <a:t>1</a:t>
            </a:r>
            <a:r>
              <a:rPr lang="en-US" sz="2000" dirty="0">
                <a:latin typeface="Times New Roman" pitchFamily="18" charset="0"/>
                <a:cs typeface="Times New Roman" pitchFamily="18" charset="0"/>
              </a:rPr>
              <a:t> is the </a:t>
            </a:r>
            <a:r>
              <a:rPr lang="en-US" sz="2000" b="1" dirty="0">
                <a:latin typeface="Times New Roman" pitchFamily="18" charset="0"/>
                <a:cs typeface="Times New Roman" pitchFamily="18" charset="0"/>
              </a:rPr>
              <a:t>core refractive index</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n is </a:t>
            </a:r>
            <a:r>
              <a:rPr lang="en-US" sz="2000" b="1" dirty="0">
                <a:latin typeface="Times New Roman" pitchFamily="18" charset="0"/>
                <a:cs typeface="Times New Roman" pitchFamily="18" charset="0"/>
              </a:rPr>
              <a:t>refractive index of the medium </a:t>
            </a:r>
            <a:r>
              <a:rPr lang="en-US" sz="2000" dirty="0">
                <a:latin typeface="Times New Roman" pitchFamily="18" charset="0"/>
                <a:cs typeface="Times New Roman" pitchFamily="18" charset="0"/>
              </a:rPr>
              <a:t>between two Jointed fibers, say for air n =1 </a:t>
            </a:r>
            <a:endParaRPr lang="en-US" sz="3600"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6</a:t>
            </a:fld>
            <a:endParaRPr kumimoji="0" lang="en-US"/>
          </a:p>
        </p:txBody>
      </p:sp>
      <p:pic>
        <p:nvPicPr>
          <p:cNvPr id="1028" name="Picture 4"/>
          <p:cNvPicPr>
            <a:picLocks noChangeAspect="1" noChangeArrowheads="1"/>
          </p:cNvPicPr>
          <p:nvPr/>
        </p:nvPicPr>
        <p:blipFill>
          <a:blip r:embed="rId2"/>
          <a:srcRect/>
          <a:stretch>
            <a:fillRect/>
          </a:stretch>
        </p:blipFill>
        <p:spPr bwMode="auto">
          <a:xfrm>
            <a:off x="2057399" y="3810000"/>
            <a:ext cx="1851415" cy="1066800"/>
          </a:xfrm>
          <a:prstGeom prst="rect">
            <a:avLst/>
          </a:prstGeom>
          <a:noFill/>
          <a:ln w="9525">
            <a:noFill/>
            <a:miter lim="800000"/>
            <a:headEnd/>
            <a:tailEnd/>
          </a:ln>
          <a:effectLst/>
        </p:spPr>
      </p:pic>
    </p:spTree>
    <p:extLst>
      <p:ext uri="{BB962C8B-B14F-4D97-AF65-F5344CB8AC3E}">
        <p14:creationId xmlns:p14="http://schemas.microsoft.com/office/powerpoint/2010/main" val="3267172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457200" y="1295400"/>
            <a:ext cx="8229600" cy="5562600"/>
          </a:xfrm>
        </p:spPr>
        <p:txBody>
          <a:bodyPr>
            <a:normAutofit fontScale="32500" lnSpcReduction="20000"/>
          </a:bodyPr>
          <a:lstStyle/>
          <a:p>
            <a:pPr>
              <a:lnSpc>
                <a:spcPct val="120000"/>
              </a:lnSpc>
            </a:pPr>
            <a:r>
              <a:rPr lang="en-US" sz="6200" dirty="0">
                <a:latin typeface="Times New Roman" pitchFamily="18" charset="0"/>
                <a:cs typeface="Times New Roman" pitchFamily="18" charset="0"/>
              </a:rPr>
              <a:t>The </a:t>
            </a:r>
            <a:r>
              <a:rPr lang="en-US" sz="6200" b="1" dirty="0">
                <a:latin typeface="Times New Roman" pitchFamily="18" charset="0"/>
                <a:cs typeface="Times New Roman" pitchFamily="18" charset="0"/>
              </a:rPr>
              <a:t>loss due to Fresnel reflection </a:t>
            </a:r>
            <a:r>
              <a:rPr lang="en-US" sz="6200" dirty="0">
                <a:latin typeface="Times New Roman" pitchFamily="18" charset="0"/>
                <a:cs typeface="Times New Roman" pitchFamily="18" charset="0"/>
              </a:rPr>
              <a:t>at a single interface</a:t>
            </a:r>
          </a:p>
          <a:p>
            <a:pPr>
              <a:lnSpc>
                <a:spcPct val="120000"/>
              </a:lnSpc>
            </a:pPr>
            <a:endParaRPr lang="en-US" sz="6200" dirty="0">
              <a:latin typeface="Times New Roman" pitchFamily="18" charset="0"/>
              <a:cs typeface="Times New Roman" pitchFamily="18" charset="0"/>
            </a:endParaRPr>
          </a:p>
          <a:p>
            <a:pPr>
              <a:lnSpc>
                <a:spcPct val="120000"/>
              </a:lnSpc>
            </a:pPr>
            <a:r>
              <a:rPr lang="en-US" sz="6200" dirty="0">
                <a:latin typeface="Times New Roman" pitchFamily="18" charset="0"/>
                <a:cs typeface="Times New Roman" pitchFamily="18" charset="0"/>
              </a:rPr>
              <a:t>The </a:t>
            </a:r>
            <a:r>
              <a:rPr lang="en-US" sz="6200" b="1" dirty="0">
                <a:latin typeface="Times New Roman" pitchFamily="18" charset="0"/>
                <a:cs typeface="Times New Roman" pitchFamily="18" charset="0"/>
              </a:rPr>
              <a:t>effect of Fresnel reflection </a:t>
            </a:r>
            <a:r>
              <a:rPr lang="en-US" sz="6200" dirty="0">
                <a:latin typeface="Times New Roman" pitchFamily="18" charset="0"/>
                <a:cs typeface="Times New Roman" pitchFamily="18" charset="0"/>
              </a:rPr>
              <a:t>at a fiber-fiber connection can be </a:t>
            </a:r>
            <a:r>
              <a:rPr lang="en-US" sz="6200" b="1" dirty="0">
                <a:latin typeface="Times New Roman" pitchFamily="18" charset="0"/>
                <a:cs typeface="Times New Roman" pitchFamily="18" charset="0"/>
              </a:rPr>
              <a:t>reduced by using an index-matching </a:t>
            </a:r>
            <a:r>
              <a:rPr lang="en-US" sz="6200" dirty="0">
                <a:latin typeface="Times New Roman" pitchFamily="18" charset="0"/>
                <a:cs typeface="Times New Roman" pitchFamily="18" charset="0"/>
              </a:rPr>
              <a:t>fluid between the gaps </a:t>
            </a:r>
          </a:p>
          <a:p>
            <a:pPr>
              <a:lnSpc>
                <a:spcPct val="120000"/>
              </a:lnSpc>
            </a:pPr>
            <a:r>
              <a:rPr lang="en-US" sz="6200" dirty="0">
                <a:latin typeface="Times New Roman" pitchFamily="18" charset="0"/>
                <a:cs typeface="Times New Roman" pitchFamily="18" charset="0"/>
              </a:rPr>
              <a:t>For consideration of symmetry or same magnitude , the </a:t>
            </a:r>
            <a:r>
              <a:rPr lang="en-US" sz="6200" b="1" dirty="0">
                <a:solidFill>
                  <a:srgbClr val="FF0000"/>
                </a:solidFill>
                <a:latin typeface="Times New Roman" pitchFamily="18" charset="0"/>
                <a:cs typeface="Times New Roman" pitchFamily="18" charset="0"/>
              </a:rPr>
              <a:t>optical loss at first and at second interface always same. Total loss will be the addition of first  and second interface   </a:t>
            </a:r>
          </a:p>
          <a:p>
            <a:pPr>
              <a:lnSpc>
                <a:spcPct val="120000"/>
              </a:lnSpc>
            </a:pPr>
            <a:r>
              <a:rPr lang="en-US" sz="6200" dirty="0">
                <a:latin typeface="Times New Roman" pitchFamily="18" charset="0"/>
                <a:cs typeface="Times New Roman" pitchFamily="18" charset="0"/>
              </a:rPr>
              <a:t>Example:  An optical fiber has a </a:t>
            </a:r>
            <a:r>
              <a:rPr lang="en-US" sz="6200" b="1" dirty="0">
                <a:latin typeface="Times New Roman" pitchFamily="18" charset="0"/>
                <a:cs typeface="Times New Roman" pitchFamily="18" charset="0"/>
              </a:rPr>
              <a:t>core refractive index of 1.5</a:t>
            </a:r>
            <a:r>
              <a:rPr lang="en-US" sz="6200" dirty="0">
                <a:latin typeface="Times New Roman" pitchFamily="18" charset="0"/>
                <a:cs typeface="Times New Roman" pitchFamily="18" charset="0"/>
              </a:rPr>
              <a:t>. Two lengths of the fiber with smooth and perpendicular (to the core axes) end faces are butted together. Assuming the fiber axes are perfectly aligned, </a:t>
            </a:r>
            <a:r>
              <a:rPr lang="en-US" sz="6200" b="1" dirty="0">
                <a:latin typeface="Times New Roman" pitchFamily="18" charset="0"/>
                <a:cs typeface="Times New Roman" pitchFamily="18" charset="0"/>
              </a:rPr>
              <a:t>calculate the optical loss </a:t>
            </a:r>
            <a:r>
              <a:rPr lang="en-US" sz="6200" dirty="0">
                <a:latin typeface="Times New Roman" pitchFamily="18" charset="0"/>
                <a:cs typeface="Times New Roman" pitchFamily="18" charset="0"/>
              </a:rPr>
              <a:t>in decibels at the joint (due to Fresnel reflection) when there is a </a:t>
            </a:r>
            <a:r>
              <a:rPr lang="en-US" sz="6200" b="1" dirty="0">
                <a:latin typeface="Times New Roman" pitchFamily="18" charset="0"/>
                <a:cs typeface="Times New Roman" pitchFamily="18" charset="0"/>
              </a:rPr>
              <a:t>small air gap </a:t>
            </a:r>
            <a:r>
              <a:rPr lang="en-US" sz="6200" dirty="0">
                <a:latin typeface="Times New Roman" pitchFamily="18" charset="0"/>
                <a:cs typeface="Times New Roman" pitchFamily="18" charset="0"/>
              </a:rPr>
              <a:t>between the fiber end faces. </a:t>
            </a:r>
            <a:br>
              <a:rPr lang="en-US" sz="6200" dirty="0">
                <a:latin typeface="Times New Roman" pitchFamily="18" charset="0"/>
                <a:cs typeface="Times New Roman" pitchFamily="18" charset="0"/>
              </a:rPr>
            </a:b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t>
            </a:r>
            <a:br>
              <a:rPr lang="en-US" sz="3600" dirty="0"/>
            </a:br>
            <a:endParaRPr lang="en-US" sz="3600" dirty="0"/>
          </a:p>
        </p:txBody>
      </p:sp>
      <p:sp>
        <p:nvSpPr>
          <p:cNvPr id="4" name="Date Placeholder 3"/>
          <p:cNvSpPr>
            <a:spLocks noGrp="1"/>
          </p:cNvSpPr>
          <p:nvPr>
            <p:ph type="dt" sz="half" idx="10"/>
          </p:nvPr>
        </p:nvSpPr>
        <p:spPr>
          <a:xfrm>
            <a:off x="5943600" y="152400"/>
            <a:ext cx="2133600"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7</a:t>
            </a:fld>
            <a:endParaRPr kumimoji="0" lang="en-US"/>
          </a:p>
        </p:txBody>
      </p:sp>
      <p:pic>
        <p:nvPicPr>
          <p:cNvPr id="2050" name="Picture 2"/>
          <p:cNvPicPr>
            <a:picLocks noChangeAspect="1" noChangeArrowheads="1"/>
          </p:cNvPicPr>
          <p:nvPr/>
        </p:nvPicPr>
        <p:blipFill>
          <a:blip r:embed="rId2"/>
          <a:srcRect/>
          <a:stretch>
            <a:fillRect/>
          </a:stretch>
        </p:blipFill>
        <p:spPr bwMode="auto">
          <a:xfrm>
            <a:off x="1600200" y="1600200"/>
            <a:ext cx="3581400" cy="374387"/>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08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4" name="Date Placeholder 3"/>
          <p:cNvSpPr>
            <a:spLocks noGrp="1"/>
          </p:cNvSpPr>
          <p:nvPr>
            <p:ph type="dt" sz="half" idx="10"/>
          </p:nvPr>
        </p:nvSpPr>
        <p:spPr>
          <a:xfrm>
            <a:off x="5638800" y="152400"/>
            <a:ext cx="2438400"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8</a:t>
            </a:fld>
            <a:endParaRPr kumimoji="0" lang="en-US"/>
          </a:p>
        </p:txBody>
      </p:sp>
      <p:pic>
        <p:nvPicPr>
          <p:cNvPr id="2050" name="Picture 2"/>
          <p:cNvPicPr>
            <a:picLocks noChangeAspect="1" noChangeArrowheads="1"/>
          </p:cNvPicPr>
          <p:nvPr/>
        </p:nvPicPr>
        <p:blipFill>
          <a:blip r:embed="rId2"/>
          <a:srcRect/>
          <a:stretch>
            <a:fillRect/>
          </a:stretch>
        </p:blipFill>
        <p:spPr bwMode="auto">
          <a:xfrm>
            <a:off x="1600200" y="1600200"/>
            <a:ext cx="3581400" cy="374387"/>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1066800" y="1447800"/>
            <a:ext cx="6858000" cy="4891720"/>
          </a:xfrm>
          <a:prstGeom prst="rect">
            <a:avLst/>
          </a:prstGeom>
          <a:noFill/>
          <a:ln w="9525">
            <a:noFill/>
            <a:miter lim="800000"/>
            <a:headEnd/>
            <a:tailEnd/>
          </a:ln>
          <a:effectLst/>
        </p:spPr>
      </p:pic>
    </p:spTree>
    <p:extLst>
      <p:ext uri="{BB962C8B-B14F-4D97-AF65-F5344CB8AC3E}">
        <p14:creationId xmlns:p14="http://schemas.microsoft.com/office/powerpoint/2010/main" val="319302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 calcmode="lin" valueType="num">
                                      <p:cBhvr additive="base">
                                        <p:cTn id="7" dur="500" fill="hold"/>
                                        <p:tgtEl>
                                          <p:spTgt spid="2052"/>
                                        </p:tgtEl>
                                        <p:attrNameLst>
                                          <p:attrName>ppt_x</p:attrName>
                                        </p:attrNameLst>
                                      </p:cBhvr>
                                      <p:tavLst>
                                        <p:tav tm="0">
                                          <p:val>
                                            <p:strVal val="#ppt_x"/>
                                          </p:val>
                                        </p:tav>
                                        <p:tav tm="100000">
                                          <p:val>
                                            <p:strVal val="#ppt_x"/>
                                          </p:val>
                                        </p:tav>
                                      </p:tavLst>
                                    </p:anim>
                                    <p:anim calcmode="lin" valueType="num">
                                      <p:cBhvr additive="base">
                                        <p:cTn id="8"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533400" y="1447800"/>
            <a:ext cx="8153400" cy="4876800"/>
          </a:xfrm>
        </p:spPr>
        <p:txBody>
          <a:bodyPr>
            <a:normAutofit/>
          </a:bodyPr>
          <a:lstStyle/>
          <a:p>
            <a:r>
              <a:rPr lang="en-US" sz="2000" dirty="0">
                <a:latin typeface="Times New Roman" pitchFamily="18" charset="0"/>
                <a:cs typeface="Times New Roman" pitchFamily="18" charset="0"/>
              </a:rPr>
              <a:t>Loss due to </a:t>
            </a:r>
            <a:r>
              <a:rPr lang="en-US" sz="2000" b="1" dirty="0">
                <a:latin typeface="Times New Roman" pitchFamily="18" charset="0"/>
                <a:cs typeface="Times New Roman" pitchFamily="18" charset="0"/>
              </a:rPr>
              <a:t>deviations in the geometrical and optical parameters </a:t>
            </a:r>
            <a:r>
              <a:rPr lang="en-US" sz="2000" dirty="0">
                <a:latin typeface="Times New Roman" pitchFamily="18" charset="0"/>
                <a:cs typeface="Times New Roman" pitchFamily="18" charset="0"/>
              </a:rPr>
              <a:t>of the two jointed fibers.</a:t>
            </a:r>
          </a:p>
          <a:p>
            <a:r>
              <a:rPr lang="en-US" sz="2000" dirty="0">
                <a:latin typeface="Times New Roman" pitchFamily="18" charset="0"/>
                <a:cs typeface="Times New Roman" pitchFamily="18" charset="0"/>
              </a:rPr>
              <a:t>The problems may occur for</a:t>
            </a:r>
          </a:p>
          <a:p>
            <a:pPr marL="857250" lvl="1" indent="-400050">
              <a:buAutoNum type="romanLcParenBoth"/>
            </a:pPr>
            <a:r>
              <a:rPr lang="en-US" sz="2000" dirty="0">
                <a:latin typeface="Times New Roman" pitchFamily="18" charset="0"/>
                <a:cs typeface="Times New Roman" pitchFamily="18" charset="0"/>
              </a:rPr>
              <a:t>Different core and/or cladding diameters;</a:t>
            </a:r>
          </a:p>
          <a:p>
            <a:pPr marL="857250" lvl="1" indent="-400050">
              <a:buAutoNum type="romanLcParenBoth"/>
            </a:pPr>
            <a:r>
              <a:rPr lang="en-US" sz="2000" dirty="0">
                <a:latin typeface="Times New Roman" pitchFamily="18" charset="0"/>
                <a:cs typeface="Times New Roman" pitchFamily="18" charset="0"/>
              </a:rPr>
              <a:t>Different NA and/or relative refractive index differences;</a:t>
            </a:r>
          </a:p>
          <a:p>
            <a:pPr marL="857250" lvl="1" indent="-400050">
              <a:buAutoNum type="romanLcParenBoth"/>
            </a:pPr>
            <a:r>
              <a:rPr lang="en-US" sz="2000" dirty="0">
                <a:latin typeface="Times New Roman" pitchFamily="18" charset="0"/>
                <a:cs typeface="Times New Roman" pitchFamily="18" charset="0"/>
              </a:rPr>
              <a:t>Different refractive index profiles;</a:t>
            </a:r>
          </a:p>
          <a:p>
            <a:pPr marL="857250" lvl="1" indent="-400050">
              <a:buAutoNum type="romanLcParenBoth"/>
            </a:pPr>
            <a:r>
              <a:rPr lang="en-US" sz="2000" dirty="0">
                <a:latin typeface="Times New Roman" pitchFamily="18" charset="0"/>
                <a:cs typeface="Times New Roman" pitchFamily="18" charset="0"/>
              </a:rPr>
              <a:t>Fiber faults: core </a:t>
            </a:r>
            <a:r>
              <a:rPr lang="en-US" sz="2000" dirty="0" err="1">
                <a:latin typeface="Times New Roman" pitchFamily="18" charset="0"/>
                <a:cs typeface="Times New Roman" pitchFamily="18" charset="0"/>
              </a:rPr>
              <a:t>ellipticity</a:t>
            </a:r>
            <a:r>
              <a:rPr lang="en-US" sz="2000" dirty="0">
                <a:latin typeface="Times New Roman" pitchFamily="18" charset="0"/>
                <a:cs typeface="Times New Roman" pitchFamily="18" charset="0"/>
              </a:rPr>
              <a:t>, core concentricity etc</a:t>
            </a:r>
          </a:p>
          <a:p>
            <a:r>
              <a:rPr lang="en-US" sz="2000" dirty="0">
                <a:latin typeface="Times New Roman" pitchFamily="18" charset="0"/>
                <a:cs typeface="Times New Roman" pitchFamily="18" charset="0"/>
              </a:rPr>
              <a:t>The losses caused by the above factors together with those of Fresnel reflection are usually referred to as </a:t>
            </a:r>
            <a:r>
              <a:rPr lang="en-US" sz="2000" b="1" dirty="0">
                <a:latin typeface="Times New Roman" pitchFamily="18" charset="0"/>
                <a:cs typeface="Times New Roman" pitchFamily="18" charset="0"/>
              </a:rPr>
              <a:t>intrinsic joint losses</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Use </a:t>
            </a:r>
            <a:r>
              <a:rPr lang="en-US" sz="2000" b="1" dirty="0">
                <a:latin typeface="Times New Roman" pitchFamily="18" charset="0"/>
                <a:cs typeface="Times New Roman" pitchFamily="18" charset="0"/>
              </a:rPr>
              <a:t>same fibers to keep this loss minimum </a:t>
            </a:r>
          </a:p>
        </p:txBody>
      </p:sp>
      <p:sp>
        <p:nvSpPr>
          <p:cNvPr id="4" name="Date Placeholder 3"/>
          <p:cNvSpPr>
            <a:spLocks noGrp="1"/>
          </p:cNvSpPr>
          <p:nvPr>
            <p:ph type="dt" sz="half" idx="10"/>
          </p:nvPr>
        </p:nvSpPr>
        <p:spPr>
          <a:xfrm>
            <a:off x="5943600" y="152400"/>
            <a:ext cx="2133600"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9</a:t>
            </a:fld>
            <a:endParaRPr kumimoji="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533400" y="1295400"/>
            <a:ext cx="8153400" cy="4876800"/>
          </a:xfrm>
        </p:spPr>
        <p:txBody>
          <a:bodyPr>
            <a:normAutofit/>
          </a:bodyPr>
          <a:lstStyle/>
          <a:p>
            <a:r>
              <a:rPr lang="en-US" sz="2000" b="1" u="sng" dirty="0">
                <a:latin typeface="Times New Roman" pitchFamily="18" charset="0"/>
                <a:cs typeface="Times New Roman" pitchFamily="18" charset="0"/>
              </a:rPr>
              <a:t>Loss due to </a:t>
            </a:r>
            <a:r>
              <a:rPr lang="en-US" sz="2000" b="1" u="sng" dirty="0" err="1">
                <a:latin typeface="Times New Roman" pitchFamily="18" charset="0"/>
                <a:cs typeface="Times New Roman" pitchFamily="18" charset="0"/>
              </a:rPr>
              <a:t>misalignmen</a:t>
            </a:r>
            <a:r>
              <a:rPr lang="en-US" sz="2000" b="1" u="sng" dirty="0">
                <a:latin typeface="Times New Roman" pitchFamily="18" charset="0"/>
                <a:cs typeface="Times New Roman" pitchFamily="18" charset="0"/>
              </a:rPr>
              <a:t> :</a:t>
            </a:r>
          </a:p>
          <a:p>
            <a:r>
              <a:rPr lang="en-US" sz="2000" dirty="0">
                <a:latin typeface="Times New Roman" pitchFamily="18" charset="0"/>
                <a:cs typeface="Times New Roman" pitchFamily="18" charset="0"/>
              </a:rPr>
              <a:t>A major source of loss at a fiber-fiber connection is caused by misalignment of two jointed fibers</a:t>
            </a:r>
          </a:p>
          <a:p>
            <a:r>
              <a:rPr lang="en-US" sz="2000" dirty="0">
                <a:latin typeface="Times New Roman" pitchFamily="18" charset="0"/>
                <a:cs typeface="Times New Roman" pitchFamily="18" charset="0"/>
              </a:rPr>
              <a:t>Misalignment may occur in three dimensions </a:t>
            </a:r>
          </a:p>
          <a:p>
            <a:pPr marL="800100" lvl="1" indent="-342900">
              <a:buFont typeface="Arial" pitchFamily="34" charset="0"/>
              <a:buAutoNum type="alphaLcParenR"/>
            </a:pPr>
            <a:r>
              <a:rPr lang="en-US" sz="2000" dirty="0">
                <a:latin typeface="Times New Roman" pitchFamily="18" charset="0"/>
                <a:cs typeface="Times New Roman" pitchFamily="18" charset="0"/>
              </a:rPr>
              <a:t>Longitudinal misalignment: the separation between the fibers </a:t>
            </a:r>
          </a:p>
          <a:p>
            <a:pPr marL="800100" lvl="1" indent="-342900">
              <a:buFont typeface="Arial" pitchFamily="34" charset="0"/>
              <a:buAutoNum type="alphaLcParenR"/>
            </a:pPr>
            <a:r>
              <a:rPr lang="en-US" sz="2000" dirty="0">
                <a:latin typeface="Times New Roman" pitchFamily="18" charset="0"/>
                <a:cs typeface="Times New Roman" pitchFamily="18" charset="0"/>
              </a:rPr>
              <a:t>Lateral misalignment: the offset perpendicular to the fiber core axes </a:t>
            </a:r>
          </a:p>
          <a:p>
            <a:pPr marL="800100" lvl="1" indent="-342900">
              <a:buFont typeface="Arial" pitchFamily="34" charset="0"/>
              <a:buAutoNum type="alphaLcParenR"/>
            </a:pPr>
            <a:r>
              <a:rPr lang="en-US" sz="2000" dirty="0">
                <a:latin typeface="Times New Roman" pitchFamily="18" charset="0"/>
                <a:cs typeface="Times New Roman" pitchFamily="18" charset="0"/>
              </a:rPr>
              <a:t>Angular misalignment : the angle between the core axes </a:t>
            </a:r>
          </a:p>
          <a:p>
            <a:pPr marL="400050"/>
            <a:r>
              <a:rPr lang="en-US" sz="2000" b="1" dirty="0">
                <a:latin typeface="Times New Roman" pitchFamily="18" charset="0"/>
                <a:cs typeface="Times New Roman" pitchFamily="18" charset="0"/>
              </a:rPr>
              <a:t>Optical losses </a:t>
            </a:r>
            <a:r>
              <a:rPr lang="en-US" sz="2000" dirty="0">
                <a:latin typeface="Times New Roman" pitchFamily="18" charset="0"/>
                <a:cs typeface="Times New Roman" pitchFamily="18" charset="0"/>
              </a:rPr>
              <a:t>resulting from these three types of misalignment </a:t>
            </a:r>
            <a:r>
              <a:rPr lang="en-US" sz="2000" b="1" dirty="0">
                <a:latin typeface="Times New Roman" pitchFamily="18" charset="0"/>
                <a:cs typeface="Times New Roman" pitchFamily="18" charset="0"/>
              </a:rPr>
              <a:t>depend upon </a:t>
            </a:r>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fiber type</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core diameter </a:t>
            </a:r>
            <a:r>
              <a:rPr lang="en-US" sz="2000" dirty="0">
                <a:latin typeface="Times New Roman" pitchFamily="18" charset="0"/>
                <a:cs typeface="Times New Roman" pitchFamily="18" charset="0"/>
              </a:rPr>
              <a:t>and the </a:t>
            </a:r>
            <a:r>
              <a:rPr lang="en-US" sz="2000" b="1" dirty="0">
                <a:latin typeface="Times New Roman" pitchFamily="18" charset="0"/>
                <a:cs typeface="Times New Roman" pitchFamily="18" charset="0"/>
              </a:rPr>
              <a:t>distribution of the optical power</a:t>
            </a:r>
            <a:r>
              <a:rPr lang="en-US" sz="2000" dirty="0">
                <a:latin typeface="Times New Roman" pitchFamily="18" charset="0"/>
                <a:cs typeface="Times New Roman" pitchFamily="18" charset="0"/>
              </a:rPr>
              <a:t> between the propagating modes </a:t>
            </a:r>
            <a:br>
              <a:rPr lang="en-US" sz="2400" b="1" dirty="0">
                <a:latin typeface="Times New Roman" pitchFamily="18" charset="0"/>
                <a:cs typeface="Times New Roman" pitchFamily="18" charset="0"/>
              </a:rPr>
            </a:b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6019800" y="228600"/>
            <a:ext cx="2133600"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10</a:t>
            </a:fld>
            <a:endParaRPr kumimoji="0" lang="en-US"/>
          </a:p>
        </p:txBody>
      </p:sp>
      <p:pic>
        <p:nvPicPr>
          <p:cNvPr id="3074" name="Picture 2"/>
          <p:cNvPicPr>
            <a:picLocks noChangeAspect="1" noChangeArrowheads="1"/>
          </p:cNvPicPr>
          <p:nvPr/>
        </p:nvPicPr>
        <p:blipFill>
          <a:blip r:embed="rId2"/>
          <a:srcRect/>
          <a:stretch>
            <a:fillRect/>
          </a:stretch>
        </p:blipFill>
        <p:spPr bwMode="auto">
          <a:xfrm>
            <a:off x="2209800" y="4800600"/>
            <a:ext cx="5562600" cy="16764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08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457200" y="1371600"/>
            <a:ext cx="8229600" cy="5181600"/>
          </a:xfrm>
        </p:spPr>
        <p:txBody>
          <a:bodyPr>
            <a:normAutofit/>
          </a:bodyPr>
          <a:lstStyle/>
          <a:p>
            <a:r>
              <a:rPr lang="en-US" sz="2000" b="1" u="sng" dirty="0">
                <a:latin typeface="Times New Roman" pitchFamily="18" charset="0"/>
                <a:cs typeface="Times New Roman" pitchFamily="18" charset="0"/>
              </a:rPr>
              <a:t>Multimode fiber joints :</a:t>
            </a:r>
          </a:p>
          <a:p>
            <a:r>
              <a:rPr lang="en-US" sz="2000" dirty="0">
                <a:latin typeface="Times New Roman" pitchFamily="18" charset="0"/>
                <a:cs typeface="Times New Roman" pitchFamily="18" charset="0"/>
              </a:rPr>
              <a:t>Lateral misalignment reduces the overlap region between the two fiber cores. </a:t>
            </a:r>
          </a:p>
          <a:p>
            <a:r>
              <a:rPr lang="en-US" sz="2000" dirty="0">
                <a:latin typeface="Times New Roman" pitchFamily="18" charset="0"/>
                <a:cs typeface="Times New Roman" pitchFamily="18" charset="0"/>
              </a:rPr>
              <a:t>Uniform excitation of all </a:t>
            </a:r>
            <a:r>
              <a:rPr lang="en-US" sz="2000" b="1" dirty="0">
                <a:latin typeface="Times New Roman" pitchFamily="18" charset="0"/>
                <a:cs typeface="Times New Roman" pitchFamily="18" charset="0"/>
              </a:rPr>
              <a:t>optical modes in a multimode step </a:t>
            </a:r>
            <a:r>
              <a:rPr lang="en-US" sz="2000" dirty="0">
                <a:latin typeface="Times New Roman" pitchFamily="18" charset="0"/>
                <a:cs typeface="Times New Roman" pitchFamily="18" charset="0"/>
              </a:rPr>
              <a:t>index fiber, the overlapped area between both fiber cores approximately gives the </a:t>
            </a:r>
            <a:r>
              <a:rPr lang="en-US" sz="2000" b="1" dirty="0">
                <a:latin typeface="Times New Roman" pitchFamily="18" charset="0"/>
                <a:cs typeface="Times New Roman" pitchFamily="18" charset="0"/>
              </a:rPr>
              <a:t>lateral coupling efficiency </a:t>
            </a:r>
            <a:r>
              <a:rPr lang="en-US" sz="2000" dirty="0" err="1">
                <a:latin typeface="Times New Roman" pitchFamily="18" charset="0"/>
                <a:cs typeface="Times New Roman" pitchFamily="18" charset="0"/>
              </a:rPr>
              <a:t>ηlat</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May be written as </a:t>
            </a:r>
          </a:p>
          <a:p>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r>
              <a:rPr lang="en-US" sz="2000" b="1" i="1" dirty="0">
                <a:solidFill>
                  <a:srgbClr val="FF0000"/>
                </a:solidFill>
                <a:latin typeface="Times New Roman" pitchFamily="18" charset="0"/>
                <a:cs typeface="Times New Roman" pitchFamily="18" charset="0"/>
              </a:rPr>
              <a:t>y</a:t>
            </a:r>
            <a:r>
              <a:rPr lang="en-US"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is</a:t>
            </a:r>
            <a:r>
              <a:rPr lang="en-US" sz="2000" b="1" dirty="0">
                <a:latin typeface="Times New Roman" pitchFamily="18" charset="0"/>
                <a:cs typeface="Times New Roman" pitchFamily="18" charset="0"/>
              </a:rPr>
              <a:t> lateral offset of the fiber core axes</a:t>
            </a:r>
            <a:r>
              <a:rPr lang="en-US" sz="2000" dirty="0">
                <a:latin typeface="Times New Roman" pitchFamily="18" charset="0"/>
                <a:cs typeface="Times New Roman" pitchFamily="18" charset="0"/>
              </a:rPr>
              <a:t>, and </a:t>
            </a:r>
            <a:r>
              <a:rPr lang="en-US" sz="2000" b="1" i="1" dirty="0">
                <a:solidFill>
                  <a:srgbClr val="FF0000"/>
                </a:solidFill>
                <a:latin typeface="Times New Roman" pitchFamily="18" charset="0"/>
                <a:cs typeface="Times New Roman" pitchFamily="18" charset="0"/>
              </a:rPr>
              <a:t>a</a:t>
            </a:r>
            <a:r>
              <a:rPr lang="en-US" sz="2000" i="1" dirty="0">
                <a:latin typeface="Times New Roman" pitchFamily="18" charset="0"/>
                <a:cs typeface="Times New Roman" pitchFamily="18" charset="0"/>
              </a:rPr>
              <a:t> </a:t>
            </a:r>
            <a:r>
              <a:rPr lang="en-US" sz="2000" b="1" dirty="0">
                <a:latin typeface="Times New Roman" pitchFamily="18" charset="0"/>
                <a:cs typeface="Times New Roman" pitchFamily="18" charset="0"/>
              </a:rPr>
              <a:t>is fiber core radius</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Lateral misalignment loss in decibels may be determined using: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br>
              <a:rPr lang="en-US" sz="2400" dirty="0"/>
            </a:br>
            <a:r>
              <a:rPr lang="en-US" sz="2400" dirty="0"/>
              <a:t> </a:t>
            </a: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5867400" y="152400"/>
            <a:ext cx="2209801"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11</a:t>
            </a:fld>
            <a:endParaRPr kumimoji="0" lang="en-US"/>
          </a:p>
        </p:txBody>
      </p:sp>
      <p:pic>
        <p:nvPicPr>
          <p:cNvPr id="4099" name="Picture 3"/>
          <p:cNvPicPr>
            <a:picLocks noChangeAspect="1" noChangeArrowheads="1"/>
          </p:cNvPicPr>
          <p:nvPr/>
        </p:nvPicPr>
        <p:blipFill>
          <a:blip r:embed="rId2"/>
          <a:srcRect/>
          <a:stretch>
            <a:fillRect/>
          </a:stretch>
        </p:blipFill>
        <p:spPr bwMode="auto">
          <a:xfrm>
            <a:off x="1657186" y="3810000"/>
            <a:ext cx="4984652" cy="731443"/>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2514600" y="5725483"/>
            <a:ext cx="3269824" cy="51148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457200" y="1524000"/>
            <a:ext cx="8229600" cy="4876800"/>
          </a:xfrm>
        </p:spPr>
        <p:txBody>
          <a:bodyPr>
            <a:normAutofit/>
          </a:bodyPr>
          <a:lstStyle/>
          <a:p>
            <a:pPr>
              <a:lnSpc>
                <a:spcPct val="110000"/>
              </a:lnSpc>
            </a:pPr>
            <a:r>
              <a:rPr lang="en-US" sz="2000" dirty="0">
                <a:latin typeface="Times New Roman" pitchFamily="18" charset="0"/>
                <a:cs typeface="Times New Roman" pitchFamily="18" charset="0"/>
              </a:rPr>
              <a:t>A step index fiber has a </a:t>
            </a:r>
            <a:r>
              <a:rPr lang="en-US" sz="2000" b="1" dirty="0">
                <a:latin typeface="Times New Roman" pitchFamily="18" charset="0"/>
                <a:cs typeface="Times New Roman" pitchFamily="18" charset="0"/>
              </a:rPr>
              <a:t>core refractive index of 1.5 </a:t>
            </a:r>
            <a:r>
              <a:rPr lang="en-US" sz="2000" dirty="0">
                <a:latin typeface="Times New Roman" pitchFamily="18" charset="0"/>
                <a:cs typeface="Times New Roman" pitchFamily="18" charset="0"/>
              </a:rPr>
              <a:t>and a core </a:t>
            </a:r>
            <a:r>
              <a:rPr lang="en-US" sz="2000" b="1" dirty="0">
                <a:latin typeface="Times New Roman" pitchFamily="18" charset="0"/>
                <a:cs typeface="Times New Roman" pitchFamily="18" charset="0"/>
              </a:rPr>
              <a:t>diameter of 50 </a:t>
            </a:r>
            <a:r>
              <a:rPr lang="en-US" sz="2000" dirty="0" err="1">
                <a:latin typeface="Times New Roman" pitchFamily="18" charset="0"/>
                <a:cs typeface="Times New Roman" pitchFamily="18" charset="0"/>
              </a:rPr>
              <a:t>μm</a:t>
            </a:r>
            <a:r>
              <a:rPr lang="en-US" sz="2000" dirty="0">
                <a:latin typeface="Times New Roman" pitchFamily="18" charset="0"/>
                <a:cs typeface="Times New Roman" pitchFamily="18" charset="0"/>
              </a:rPr>
              <a:t>. The fiber is jointed with a lateral misalignment between the </a:t>
            </a:r>
            <a:r>
              <a:rPr lang="en-US" sz="2000" b="1" dirty="0">
                <a:latin typeface="Times New Roman" pitchFamily="18" charset="0"/>
                <a:cs typeface="Times New Roman" pitchFamily="18" charset="0"/>
              </a:rPr>
              <a:t>core axes of  5 </a:t>
            </a:r>
            <a:r>
              <a:rPr lang="en-US" sz="2000" b="1" dirty="0" err="1">
                <a:latin typeface="Times New Roman" pitchFamily="18" charset="0"/>
                <a:cs typeface="Times New Roman" pitchFamily="18" charset="0"/>
              </a:rPr>
              <a:t>μm</a:t>
            </a:r>
            <a:r>
              <a:rPr lang="en-US" sz="2000" dirty="0">
                <a:latin typeface="Times New Roman" pitchFamily="18" charset="0"/>
                <a:cs typeface="Times New Roman" pitchFamily="18" charset="0"/>
              </a:rPr>
              <a:t>.</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Estimate the insertion loss at the joint due to the lateral misalignment assuming a uniform distribution of power between all guided modes when:</a:t>
            </a:r>
          </a:p>
          <a:p>
            <a:pPr>
              <a:lnSpc>
                <a:spcPct val="150000"/>
              </a:lnSpc>
              <a:buNone/>
            </a:pPr>
            <a:r>
              <a:rPr lang="en-US" sz="2000" dirty="0">
                <a:latin typeface="Times New Roman" pitchFamily="18" charset="0"/>
                <a:cs typeface="Times New Roman" pitchFamily="18" charset="0"/>
              </a:rPr>
              <a:t>      (a) there is a </a:t>
            </a:r>
            <a:r>
              <a:rPr lang="en-US" sz="2000" b="1" dirty="0">
                <a:latin typeface="Times New Roman" pitchFamily="18" charset="0"/>
                <a:cs typeface="Times New Roman" pitchFamily="18" charset="0"/>
              </a:rPr>
              <a:t>small air gap </a:t>
            </a:r>
            <a:r>
              <a:rPr lang="en-US" sz="2000" dirty="0">
                <a:latin typeface="Times New Roman" pitchFamily="18" charset="0"/>
                <a:cs typeface="Times New Roman" pitchFamily="18" charset="0"/>
              </a:rPr>
              <a:t>at the joint;</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(b) the joint </a:t>
            </a:r>
            <a:r>
              <a:rPr lang="en-US" sz="2000" b="1" dirty="0">
                <a:latin typeface="Times New Roman" pitchFamily="18" charset="0"/>
                <a:cs typeface="Times New Roman" pitchFamily="18" charset="0"/>
              </a:rPr>
              <a:t>is considered index matched</a:t>
            </a:r>
            <a:r>
              <a:rPr lang="en-US" sz="2000" dirty="0">
                <a:latin typeface="Times New Roman" pitchFamily="18" charset="0"/>
                <a:cs typeface="Times New Roman" pitchFamily="18" charset="0"/>
              </a:rPr>
              <a:t>.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br>
              <a:rPr lang="en-US" sz="2400" dirty="0"/>
            </a:br>
            <a:r>
              <a:rPr lang="en-US" sz="2400" dirty="0"/>
              <a:t> </a:t>
            </a: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5943600" y="152400"/>
            <a:ext cx="2133600"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12</a:t>
            </a:fld>
            <a:endParaRPr kumimoji="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08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838200" y="1295400"/>
            <a:ext cx="6934200" cy="5105400"/>
          </a:xfrm>
        </p:spPr>
        <p:txBody>
          <a:bodyPr>
            <a:normAutofit/>
          </a:bodyPr>
          <a:lstStyle/>
          <a:p>
            <a:pPr>
              <a:lnSpc>
                <a:spcPct val="110000"/>
              </a:lnSpc>
            </a:pP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br>
              <a:rPr lang="en-US" sz="2400" dirty="0"/>
            </a:br>
            <a:r>
              <a:rPr lang="en-US" sz="2400" dirty="0"/>
              <a:t> </a:t>
            </a: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6019800" y="152400"/>
            <a:ext cx="2057400"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13</a:t>
            </a:fld>
            <a:endParaRPr kumimoji="0" lang="en-US"/>
          </a:p>
        </p:txBody>
      </p:sp>
      <p:pic>
        <p:nvPicPr>
          <p:cNvPr id="5122" name="Picture 2"/>
          <p:cNvPicPr>
            <a:picLocks noChangeAspect="1" noChangeArrowheads="1"/>
          </p:cNvPicPr>
          <p:nvPr/>
        </p:nvPicPr>
        <p:blipFill>
          <a:blip r:embed="rId2"/>
          <a:srcRect/>
          <a:stretch>
            <a:fillRect/>
          </a:stretch>
        </p:blipFill>
        <p:spPr bwMode="auto">
          <a:xfrm>
            <a:off x="838200" y="1447800"/>
            <a:ext cx="7683619" cy="42672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08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3" name="Content Placeholder 2"/>
          <p:cNvSpPr>
            <a:spLocks noGrp="1"/>
          </p:cNvSpPr>
          <p:nvPr>
            <p:ph idx="1"/>
          </p:nvPr>
        </p:nvSpPr>
        <p:spPr>
          <a:xfrm>
            <a:off x="838200" y="4495800"/>
            <a:ext cx="6934200" cy="1600200"/>
          </a:xfrm>
        </p:spPr>
        <p:txBody>
          <a:bodyPr>
            <a:normAutofit lnSpcReduction="10000"/>
          </a:bodyPr>
          <a:lstStyle/>
          <a:p>
            <a:pPr>
              <a:lnSpc>
                <a:spcPct val="110000"/>
              </a:lnSpc>
            </a:pPr>
            <a:r>
              <a:rPr lang="en-US" sz="1800" dirty="0">
                <a:latin typeface="Times New Roman" pitchFamily="18" charset="0"/>
                <a:cs typeface="Times New Roman" pitchFamily="18" charset="0"/>
              </a:rPr>
              <a:t>With index matching, the insertion loss at the joint in Example 5.2 is reduced to approximately 0.36 dB. </a:t>
            </a:r>
            <a:br>
              <a:rPr lang="en-US" sz="1800" dirty="0">
                <a:latin typeface="Times New Roman" pitchFamily="18" charset="0"/>
                <a:cs typeface="Times New Roman" pitchFamily="18" charset="0"/>
              </a:rPr>
            </a:b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br>
              <a:rPr lang="en-US" sz="2400" dirty="0"/>
            </a:br>
            <a:r>
              <a:rPr lang="en-US" sz="2400" dirty="0"/>
              <a:t> </a:t>
            </a:r>
            <a:endParaRPr lang="en-US" sz="24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14</a:t>
            </a:fld>
            <a:endParaRPr kumimoji="0" lang="en-US"/>
          </a:p>
        </p:txBody>
      </p:sp>
      <p:pic>
        <p:nvPicPr>
          <p:cNvPr id="6146" name="Picture 2"/>
          <p:cNvPicPr>
            <a:picLocks noChangeAspect="1" noChangeArrowheads="1"/>
          </p:cNvPicPr>
          <p:nvPr/>
        </p:nvPicPr>
        <p:blipFill>
          <a:blip r:embed="rId2"/>
          <a:srcRect/>
          <a:stretch>
            <a:fillRect/>
          </a:stretch>
        </p:blipFill>
        <p:spPr bwMode="auto">
          <a:xfrm>
            <a:off x="1066800" y="1371600"/>
            <a:ext cx="7224548" cy="2971800"/>
          </a:xfrm>
          <a:prstGeom prst="rect">
            <a:avLst/>
          </a:prstGeom>
          <a:noFill/>
          <a:ln w="9525">
            <a:noFill/>
            <a:miter lim="800000"/>
            <a:headEnd/>
            <a:tailEnd/>
          </a:ln>
          <a:effectLst/>
        </p:spPr>
      </p:pic>
      <p:sp>
        <p:nvSpPr>
          <p:cNvPr id="7" name="Date Placeholder 3"/>
          <p:cNvSpPr>
            <a:spLocks noGrp="1"/>
          </p:cNvSpPr>
          <p:nvPr>
            <p:ph type="dt" sz="half" idx="10"/>
          </p:nvPr>
        </p:nvSpPr>
        <p:spPr>
          <a:xfrm>
            <a:off x="6019800" y="152400"/>
            <a:ext cx="2057400" cy="365125"/>
          </a:xfrm>
        </p:spPr>
        <p:txBody>
          <a:bodyPr/>
          <a:lstStyle/>
          <a:p>
            <a:r>
              <a:rPr lang="en-US" dirty="0"/>
              <a:t>CCE- 323 ( Optical Fiber Communication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a:latin typeface="Times New Roman" pitchFamily="18" charset="0"/>
                <a:cs typeface="Times New Roman" pitchFamily="18" charset="0"/>
              </a:rPr>
              <a:t>Fiber alignment and joint loss</a:t>
            </a:r>
            <a:r>
              <a:rPr lang="en-US" sz="3600">
                <a:latin typeface="Times New Roman" pitchFamily="18" charset="0"/>
                <a:cs typeface="Times New Roman" pitchFamily="18" charset="0"/>
              </a:rPr>
              <a:t> </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838200" y="1295400"/>
            <a:ext cx="6934200" cy="5105400"/>
          </a:xfrm>
        </p:spPr>
        <p:txBody>
          <a:bodyPr>
            <a:normAutofit/>
          </a:bodyPr>
          <a:lstStyle/>
          <a:p>
            <a:pPr>
              <a:lnSpc>
                <a:spcPct val="110000"/>
              </a:lnSpc>
            </a:pPr>
            <a:r>
              <a:rPr lang="en-US" sz="1800" dirty="0">
                <a:latin typeface="Times New Roman" pitchFamily="18" charset="0"/>
                <a:cs typeface="Times New Roman" pitchFamily="18" charset="0"/>
              </a:rPr>
              <a:t>Alternate </a:t>
            </a:r>
            <a:r>
              <a:rPr lang="en-US" sz="1800" b="1" dirty="0">
                <a:latin typeface="Times New Roman" pitchFamily="18" charset="0"/>
                <a:cs typeface="Times New Roman" pitchFamily="18" charset="0"/>
              </a:rPr>
              <a:t>Lateral misalignment loss in multimode graded index </a:t>
            </a:r>
            <a:r>
              <a:rPr lang="en-US" sz="1800" dirty="0">
                <a:latin typeface="Times New Roman" pitchFamily="18" charset="0"/>
                <a:cs typeface="Times New Roman" pitchFamily="18" charset="0"/>
              </a:rPr>
              <a:t>fibers assuming a uniform distribution of optical power throughout all guided modes was </a:t>
            </a:r>
            <a:r>
              <a:rPr lang="en-US" sz="1800" b="1" dirty="0">
                <a:latin typeface="Times New Roman" pitchFamily="18" charset="0"/>
                <a:cs typeface="Times New Roman" pitchFamily="18" charset="0"/>
              </a:rPr>
              <a:t>calculated by </a:t>
            </a:r>
            <a:r>
              <a:rPr lang="en-US" sz="1800" b="1" u="sng" dirty="0" err="1">
                <a:latin typeface="Times New Roman" pitchFamily="18" charset="0"/>
                <a:cs typeface="Times New Roman" pitchFamily="18" charset="0"/>
              </a:rPr>
              <a:t>Gloge</a:t>
            </a:r>
            <a:r>
              <a:rPr lang="en-US" sz="1800" b="1" dirty="0">
                <a:latin typeface="Times New Roman" pitchFamily="18" charset="0"/>
                <a:cs typeface="Times New Roman" pitchFamily="18" charset="0"/>
              </a:rPr>
              <a:t> </a:t>
            </a:r>
          </a:p>
          <a:p>
            <a:pPr>
              <a:lnSpc>
                <a:spcPct val="110000"/>
              </a:lnSpc>
            </a:pPr>
            <a:r>
              <a:rPr lang="en-US" sz="1800" dirty="0">
                <a:latin typeface="Times New Roman" pitchFamily="18" charset="0"/>
                <a:cs typeface="Times New Roman" pitchFamily="18" charset="0"/>
              </a:rPr>
              <a:t>lateral misalignment loss was dependent on the refractive index </a:t>
            </a:r>
            <a:r>
              <a:rPr lang="en-US" sz="1800" dirty="0">
                <a:solidFill>
                  <a:srgbClr val="FF0000"/>
                </a:solidFill>
                <a:latin typeface="Times New Roman" pitchFamily="18" charset="0"/>
                <a:cs typeface="Times New Roman" pitchFamily="18" charset="0"/>
              </a:rPr>
              <a:t>gradient α =2</a:t>
            </a:r>
            <a:r>
              <a:rPr lang="en-US" sz="1800" dirty="0">
                <a:latin typeface="Times New Roman" pitchFamily="18" charset="0"/>
                <a:cs typeface="Times New Roman" pitchFamily="18" charset="0"/>
              </a:rPr>
              <a:t>,  </a:t>
            </a:r>
          </a:p>
          <a:p>
            <a:pPr>
              <a:lnSpc>
                <a:spcPct val="110000"/>
              </a:lnSpc>
              <a:buNone/>
            </a:pPr>
            <a:endParaRPr lang="en-US" sz="1800" dirty="0">
              <a:latin typeface="Times New Roman" pitchFamily="18" charset="0"/>
              <a:cs typeface="Times New Roman" pitchFamily="18" charset="0"/>
            </a:endParaRPr>
          </a:p>
          <a:p>
            <a:pPr>
              <a:lnSpc>
                <a:spcPct val="110000"/>
              </a:lnSpc>
              <a:buNone/>
            </a:pPr>
            <a:endParaRPr lang="en-US" sz="1800" dirty="0">
              <a:latin typeface="Times New Roman" pitchFamily="18" charset="0"/>
              <a:cs typeface="Times New Roman" pitchFamily="18" charset="0"/>
            </a:endParaRPr>
          </a:p>
          <a:p>
            <a:pPr>
              <a:lnSpc>
                <a:spcPct val="110000"/>
              </a:lnSpc>
            </a:pPr>
            <a:r>
              <a:rPr lang="en-US" sz="1800" dirty="0">
                <a:latin typeface="Times New Roman" pitchFamily="18" charset="0"/>
                <a:cs typeface="Times New Roman" pitchFamily="18" charset="0"/>
              </a:rPr>
              <a:t> where the lateral coupling efficiency was given by: </a:t>
            </a:r>
          </a:p>
          <a:p>
            <a:pPr>
              <a:lnSpc>
                <a:spcPct val="110000"/>
              </a:lnSpc>
            </a:pPr>
            <a:endParaRPr lang="en-US" sz="1800" dirty="0">
              <a:latin typeface="Times New Roman" pitchFamily="18" charset="0"/>
              <a:cs typeface="Times New Roman" pitchFamily="18" charset="0"/>
            </a:endParaRPr>
          </a:p>
          <a:p>
            <a:pPr>
              <a:lnSpc>
                <a:spcPct val="110000"/>
              </a:lnSpc>
            </a:pPr>
            <a:endParaRPr lang="en-US" sz="1800" dirty="0">
              <a:latin typeface="Times New Roman" pitchFamily="18" charset="0"/>
              <a:cs typeface="Times New Roman" pitchFamily="18" charset="0"/>
            </a:endParaRPr>
          </a:p>
          <a:p>
            <a:pPr>
              <a:lnSpc>
                <a:spcPct val="110000"/>
              </a:lnSpc>
            </a:pPr>
            <a:r>
              <a:rPr lang="en-US" sz="1800" dirty="0">
                <a:latin typeface="Times New Roman" pitchFamily="18" charset="0"/>
                <a:cs typeface="Times New Roman" pitchFamily="18" charset="0"/>
              </a:rPr>
              <a:t>Lateral misalignment loss in decibels may be determined using: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br>
              <a:rPr lang="en-US" sz="2400" dirty="0"/>
            </a:br>
            <a:r>
              <a:rPr lang="en-US" sz="2400" dirty="0"/>
              <a:t> </a:t>
            </a:r>
            <a:endParaRPr lang="en-US" sz="24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15</a:t>
            </a:fld>
            <a:endParaRPr kumimoji="0" lang="en-US"/>
          </a:p>
        </p:txBody>
      </p:sp>
      <p:pic>
        <p:nvPicPr>
          <p:cNvPr id="7170" name="Picture 2"/>
          <p:cNvPicPr>
            <a:picLocks noChangeAspect="1" noChangeArrowheads="1"/>
          </p:cNvPicPr>
          <p:nvPr/>
        </p:nvPicPr>
        <p:blipFill>
          <a:blip r:embed="rId2"/>
          <a:srcRect/>
          <a:stretch>
            <a:fillRect/>
          </a:stretch>
        </p:blipFill>
        <p:spPr bwMode="auto">
          <a:xfrm>
            <a:off x="1423182" y="2895599"/>
            <a:ext cx="3809999" cy="862641"/>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a:srcRect/>
          <a:stretch>
            <a:fillRect/>
          </a:stretch>
        </p:blipFill>
        <p:spPr bwMode="auto">
          <a:xfrm>
            <a:off x="3048000" y="4038600"/>
            <a:ext cx="1371600" cy="536028"/>
          </a:xfrm>
          <a:prstGeom prst="rect">
            <a:avLst/>
          </a:prstGeom>
          <a:noFill/>
          <a:ln w="9525">
            <a:noFill/>
            <a:miter lim="800000"/>
            <a:headEnd/>
            <a:tailEnd/>
          </a:ln>
          <a:effectLst/>
        </p:spPr>
      </p:pic>
      <p:pic>
        <p:nvPicPr>
          <p:cNvPr id="10" name="Picture 4"/>
          <p:cNvPicPr>
            <a:picLocks noChangeAspect="1" noChangeArrowheads="1"/>
          </p:cNvPicPr>
          <p:nvPr/>
        </p:nvPicPr>
        <p:blipFill>
          <a:blip r:embed="rId4"/>
          <a:srcRect/>
          <a:stretch>
            <a:fillRect/>
          </a:stretch>
        </p:blipFill>
        <p:spPr bwMode="auto">
          <a:xfrm>
            <a:off x="2857500" y="5299222"/>
            <a:ext cx="3124199" cy="488701"/>
          </a:xfrm>
          <a:prstGeom prst="rect">
            <a:avLst/>
          </a:prstGeom>
          <a:noFill/>
          <a:ln w="9525">
            <a:noFill/>
            <a:miter lim="800000"/>
            <a:headEnd/>
            <a:tailEnd/>
          </a:ln>
          <a:effectLst/>
        </p:spPr>
      </p:pic>
      <p:sp>
        <p:nvSpPr>
          <p:cNvPr id="9" name="Date Placeholder 3"/>
          <p:cNvSpPr txBox="1">
            <a:spLocks/>
          </p:cNvSpPr>
          <p:nvPr/>
        </p:nvSpPr>
        <p:spPr>
          <a:xfrm>
            <a:off x="6019800" y="152400"/>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FEFEF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CCE- 323 ( Optical Fiber Communication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a:latin typeface="Times New Roman" pitchFamily="18" charset="0"/>
                <a:cs typeface="Times New Roman" pitchFamily="18" charset="0"/>
              </a:rPr>
              <a:t>Fiber alignment and joint loss</a:t>
            </a:r>
            <a:r>
              <a:rPr lang="en-US" sz="3600">
                <a:latin typeface="Times New Roman" pitchFamily="18" charset="0"/>
                <a:cs typeface="Times New Roman" pitchFamily="18" charset="0"/>
              </a:rPr>
              <a:t> </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838200" y="1295400"/>
            <a:ext cx="6934200" cy="5105400"/>
          </a:xfrm>
        </p:spPr>
        <p:txBody>
          <a:bodyPr>
            <a:normAutofit lnSpcReduction="10000"/>
          </a:bodyPr>
          <a:lstStyle/>
          <a:p>
            <a:pPr>
              <a:lnSpc>
                <a:spcPct val="110000"/>
              </a:lnSpc>
            </a:pPr>
            <a:r>
              <a:rPr lang="en-US" sz="2000" dirty="0">
                <a:latin typeface="Times New Roman" pitchFamily="18" charset="0"/>
                <a:cs typeface="Times New Roman" pitchFamily="18" charset="0"/>
              </a:rPr>
              <a:t>Lateral misalignment loss given for the cases of </a:t>
            </a:r>
            <a:r>
              <a:rPr lang="en-US" sz="2000" b="1" dirty="0">
                <a:latin typeface="Times New Roman" pitchFamily="18" charset="0"/>
                <a:cs typeface="Times New Roman" pitchFamily="18" charset="0"/>
              </a:rPr>
              <a:t>guided plus leaky </a:t>
            </a:r>
            <a:r>
              <a:rPr lang="en-US" sz="2000" dirty="0">
                <a:latin typeface="Times New Roman" pitchFamily="18" charset="0"/>
                <a:cs typeface="Times New Roman" pitchFamily="18" charset="0"/>
              </a:rPr>
              <a:t>modes 0.75(y/a) to </a:t>
            </a:r>
            <a:r>
              <a:rPr lang="en-US" sz="2000" b="1" dirty="0">
                <a:latin typeface="Times New Roman" pitchFamily="18" charset="0"/>
                <a:cs typeface="Times New Roman" pitchFamily="18" charset="0"/>
              </a:rPr>
              <a:t>graded index fiber (</a:t>
            </a:r>
            <a:r>
              <a:rPr lang="en-US" sz="2000" dirty="0">
                <a:latin typeface="Times New Roman" pitchFamily="18" charset="0"/>
                <a:cs typeface="Times New Roman" pitchFamily="18" charset="0"/>
              </a:rPr>
              <a:t>where </a:t>
            </a:r>
            <a:r>
              <a:rPr lang="el-GR" sz="2000" dirty="0">
                <a:latin typeface="Times New Roman" pitchFamily="18" charset="0"/>
                <a:cs typeface="Times New Roman" pitchFamily="18" charset="0"/>
              </a:rPr>
              <a:t>α = </a:t>
            </a:r>
            <a:r>
              <a:rPr lang="en-US" sz="2000" dirty="0">
                <a:latin typeface="Times New Roman" pitchFamily="18" charset="0"/>
                <a:cs typeface="Times New Roman" pitchFamily="18" charset="0"/>
              </a:rPr>
              <a:t>2</a:t>
            </a:r>
            <a:r>
              <a:rPr lang="en-US" sz="2000" b="1" dirty="0">
                <a:latin typeface="Times New Roman" pitchFamily="18" charset="0"/>
                <a:cs typeface="Times New Roman" pitchFamily="18" charset="0"/>
              </a:rPr>
              <a:t>)</a:t>
            </a:r>
            <a:r>
              <a:rPr lang="en-US" sz="2000" dirty="0">
                <a:latin typeface="Times New Roman" pitchFamily="18" charset="0"/>
                <a:cs typeface="Times New Roman" pitchFamily="18" charset="0"/>
              </a:rPr>
              <a:t>.</a:t>
            </a:r>
          </a:p>
          <a:p>
            <a:pPr>
              <a:lnSpc>
                <a:spcPct val="110000"/>
              </a:lnSpc>
            </a:pPr>
            <a:r>
              <a:rPr lang="en-US" sz="2000" dirty="0">
                <a:latin typeface="Times New Roman" pitchFamily="18" charset="0"/>
                <a:cs typeface="Times New Roman" pitchFamily="18" charset="0"/>
              </a:rPr>
              <a:t>The lateral misalignment losses of 0.64(y/a) and 0.5(y/a) for the cases of </a:t>
            </a:r>
            <a:r>
              <a:rPr lang="en-US" sz="2000" b="1" dirty="0">
                <a:latin typeface="Times New Roman" pitchFamily="18" charset="0"/>
                <a:cs typeface="Times New Roman" pitchFamily="18" charset="0"/>
              </a:rPr>
              <a:t>guided modes </a:t>
            </a:r>
            <a:r>
              <a:rPr lang="en-US" sz="2000" dirty="0">
                <a:latin typeface="Times New Roman" pitchFamily="18" charset="0"/>
                <a:cs typeface="Times New Roman" pitchFamily="18" charset="0"/>
              </a:rPr>
              <a:t>only and both </a:t>
            </a:r>
            <a:r>
              <a:rPr lang="en-US" sz="2000" b="1" dirty="0">
                <a:latin typeface="Times New Roman" pitchFamily="18" charset="0"/>
                <a:cs typeface="Times New Roman" pitchFamily="18" charset="0"/>
              </a:rPr>
              <a:t>guided plus leaky </a:t>
            </a:r>
            <a:r>
              <a:rPr lang="en-US" sz="2000" dirty="0">
                <a:latin typeface="Times New Roman" pitchFamily="18" charset="0"/>
                <a:cs typeface="Times New Roman" pitchFamily="18" charset="0"/>
              </a:rPr>
              <a:t>modes respectively to step index fibers (where </a:t>
            </a:r>
            <a:r>
              <a:rPr lang="el-GR" sz="2000" dirty="0">
                <a:latin typeface="Times New Roman" pitchFamily="18" charset="0"/>
                <a:cs typeface="Times New Roman" pitchFamily="18" charset="0"/>
              </a:rPr>
              <a:t>α = ∞</a:t>
            </a:r>
            <a:r>
              <a:rPr lang="en-US" sz="2000" dirty="0">
                <a:latin typeface="Times New Roman" pitchFamily="18" charset="0"/>
                <a:cs typeface="Times New Roman" pitchFamily="18" charset="0"/>
              </a:rPr>
              <a:t>).</a:t>
            </a:r>
          </a:p>
          <a:p>
            <a:pPr>
              <a:lnSpc>
                <a:spcPct val="110000"/>
              </a:lnSpc>
            </a:pPr>
            <a:endParaRPr lang="en-US" sz="2000" dirty="0">
              <a:latin typeface="Times New Roman" pitchFamily="18" charset="0"/>
              <a:cs typeface="Times New Roman" pitchFamily="18" charset="0"/>
            </a:endParaRPr>
          </a:p>
          <a:p>
            <a:pPr>
              <a:lnSpc>
                <a:spcPct val="110000"/>
              </a:lnSpc>
            </a:pPr>
            <a:r>
              <a:rPr lang="en-US" sz="2000" b="1" dirty="0"/>
              <a:t>Example 5.3</a:t>
            </a:r>
            <a:endParaRPr lang="en-US" sz="2000" b="1" dirty="0">
              <a:latin typeface="Times New Roman" pitchFamily="18" charset="0"/>
              <a:cs typeface="Times New Roman" pitchFamily="18" charset="0"/>
            </a:endParaRPr>
          </a:p>
          <a:p>
            <a:pPr>
              <a:lnSpc>
                <a:spcPct val="110000"/>
              </a:lnSpc>
            </a:pPr>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graded index fiber </a:t>
            </a:r>
            <a:r>
              <a:rPr lang="en-US" sz="2000" dirty="0">
                <a:latin typeface="Times New Roman" pitchFamily="18" charset="0"/>
                <a:cs typeface="Times New Roman" pitchFamily="18" charset="0"/>
              </a:rPr>
              <a:t>has a parabolic refractive index profile</a:t>
            </a:r>
          </a:p>
          <a:p>
            <a:pPr>
              <a:lnSpc>
                <a:spcPct val="110000"/>
              </a:lnSpc>
              <a:buNone/>
            </a:pPr>
            <a:r>
              <a:rPr lang="en-US" sz="2000" dirty="0">
                <a:latin typeface="Times New Roman" pitchFamily="18" charset="0"/>
                <a:cs typeface="Times New Roman" pitchFamily="18" charset="0"/>
              </a:rPr>
              <a:t>     (α = 2) and a core diameter of 50 </a:t>
            </a:r>
            <a:r>
              <a:rPr lang="en-US" sz="2000" dirty="0" err="1">
                <a:latin typeface="Times New Roman" pitchFamily="18" charset="0"/>
                <a:cs typeface="Times New Roman" pitchFamily="18" charset="0"/>
              </a:rPr>
              <a:t>μm</a:t>
            </a:r>
            <a:r>
              <a:rPr lang="en-US" sz="2000" dirty="0">
                <a:latin typeface="Times New Roman" pitchFamily="18" charset="0"/>
                <a:cs typeface="Times New Roman" pitchFamily="18" charset="0"/>
              </a:rPr>
              <a:t>. Estimate the insertion loss due to a 3 </a:t>
            </a:r>
            <a:r>
              <a:rPr lang="en-US" sz="2000" dirty="0" err="1">
                <a:latin typeface="Times New Roman" pitchFamily="18" charset="0"/>
                <a:cs typeface="Times New Roman" pitchFamily="18" charset="0"/>
              </a:rPr>
              <a:t>μm</a:t>
            </a:r>
            <a:r>
              <a:rPr lang="en-US" sz="2000" dirty="0">
                <a:latin typeface="Times New Roman" pitchFamily="18" charset="0"/>
                <a:cs typeface="Times New Roman" pitchFamily="18" charset="0"/>
              </a:rPr>
              <a:t> lateral misalignment at a fiber joint when there is index matching and assuming:</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 there is uniform illumination of all </a:t>
            </a:r>
            <a:r>
              <a:rPr lang="en-US" sz="2000" b="1" dirty="0">
                <a:latin typeface="Times New Roman" pitchFamily="18" charset="0"/>
                <a:cs typeface="Times New Roman" pitchFamily="18" charset="0"/>
              </a:rPr>
              <a:t>guided modes only</a:t>
            </a:r>
            <a:r>
              <a:rPr lang="en-US" sz="2000" dirty="0">
                <a:latin typeface="Times New Roman" pitchFamily="18" charset="0"/>
                <a:cs typeface="Times New Roman" pitchFamily="18" charset="0"/>
              </a:rPr>
              <a:t>;</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(b) there is uniform illumination of all guided and </a:t>
            </a:r>
            <a:r>
              <a:rPr lang="en-US" sz="2000" b="1" dirty="0">
                <a:latin typeface="Times New Roman" pitchFamily="18" charset="0"/>
                <a:cs typeface="Times New Roman" pitchFamily="18" charset="0"/>
              </a:rPr>
              <a:t>leaky modes. </a:t>
            </a:r>
            <a:br>
              <a:rPr lang="en-US" sz="2400" b="1" dirty="0">
                <a:latin typeface="Times New Roman" pitchFamily="18" charset="0"/>
                <a:cs typeface="Times New Roman" pitchFamily="18" charset="0"/>
              </a:rPr>
            </a:br>
            <a:endParaRPr lang="en-US" sz="24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16</a:t>
            </a:fld>
            <a:endParaRPr kumimoji="0" lang="en-US"/>
          </a:p>
        </p:txBody>
      </p:sp>
      <p:sp>
        <p:nvSpPr>
          <p:cNvPr id="6" name="Date Placeholder 3"/>
          <p:cNvSpPr txBox="1">
            <a:spLocks/>
          </p:cNvSpPr>
          <p:nvPr/>
        </p:nvSpPr>
        <p:spPr>
          <a:xfrm>
            <a:off x="6019800" y="152400"/>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FEFEF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CCE- 323 ( Optical Fiber Communication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6" name="Content Placeholder 5"/>
          <p:cNvSpPr>
            <a:spLocks noGrp="1"/>
          </p:cNvSpPr>
          <p:nvPr>
            <p:ph idx="1"/>
          </p:nvPr>
        </p:nvSpPr>
        <p:spPr/>
        <p:txBody>
          <a:bodyPr/>
          <a:lstStyle/>
          <a:p>
            <a:endParaRPr lang="en-US" dirty="0"/>
          </a:p>
        </p:txBody>
      </p:sp>
      <p:sp>
        <p:nvSpPr>
          <p:cNvPr id="4" name="Date Placeholder 3"/>
          <p:cNvSpPr>
            <a:spLocks noGrp="1"/>
          </p:cNvSpPr>
          <p:nvPr>
            <p:ph type="dt" sz="half" idx="10"/>
          </p:nvPr>
        </p:nvSpPr>
        <p:spPr>
          <a:xfrm>
            <a:off x="5943600" y="231263"/>
            <a:ext cx="2133600" cy="365125"/>
          </a:xfrm>
        </p:spPr>
        <p:txBody>
          <a:bodyPr/>
          <a:lstStyle/>
          <a:p>
            <a:r>
              <a:rPr lang="en-US"/>
              <a:t>CCE- 323 ( Optical Fiber Communication )</a:t>
            </a:r>
            <a:endParaRPr lang="en-US" dirty="0"/>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17</a:t>
            </a:fld>
            <a:endParaRPr kumimoji="0" lang="en-US"/>
          </a:p>
        </p:txBody>
      </p:sp>
      <p:pic>
        <p:nvPicPr>
          <p:cNvPr id="8194" name="Picture 2"/>
          <p:cNvPicPr>
            <a:picLocks noChangeAspect="1" noChangeArrowheads="1"/>
          </p:cNvPicPr>
          <p:nvPr/>
        </p:nvPicPr>
        <p:blipFill>
          <a:blip r:embed="rId2"/>
          <a:srcRect/>
          <a:stretch>
            <a:fillRect/>
          </a:stretch>
        </p:blipFill>
        <p:spPr bwMode="auto">
          <a:xfrm>
            <a:off x="1345358" y="583764"/>
            <a:ext cx="6226910" cy="5816819"/>
          </a:xfrm>
          <a:prstGeom prst="rect">
            <a:avLst/>
          </a:prstGeom>
          <a:noFill/>
          <a:ln w="9525">
            <a:noFill/>
            <a:miter lim="800000"/>
            <a:headEnd/>
            <a:tailEnd/>
          </a:ln>
          <a:effectLst/>
        </p:spPr>
      </p:pic>
    </p:spTree>
    <p:extLst>
      <p:ext uri="{BB962C8B-B14F-4D97-AF65-F5344CB8AC3E}">
        <p14:creationId xmlns:p14="http://schemas.microsoft.com/office/powerpoint/2010/main" val="302876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p:cTn id="7" dur="1000" fill="hold"/>
                                        <p:tgtEl>
                                          <p:spTgt spid="8194"/>
                                        </p:tgtEl>
                                        <p:attrNameLst>
                                          <p:attrName>ppt_w</p:attrName>
                                        </p:attrNameLst>
                                      </p:cBhvr>
                                      <p:tavLst>
                                        <p:tav tm="0">
                                          <p:val>
                                            <p:fltVal val="0"/>
                                          </p:val>
                                        </p:tav>
                                        <p:tav tm="100000">
                                          <p:val>
                                            <p:strVal val="#ppt_w"/>
                                          </p:val>
                                        </p:tav>
                                      </p:tavLst>
                                    </p:anim>
                                    <p:anim calcmode="lin" valueType="num">
                                      <p:cBhvr>
                                        <p:cTn id="8" dur="1000" fill="hold"/>
                                        <p:tgtEl>
                                          <p:spTgt spid="8194"/>
                                        </p:tgtEl>
                                        <p:attrNameLst>
                                          <p:attrName>ppt_h</p:attrName>
                                        </p:attrNameLst>
                                      </p:cBhvr>
                                      <p:tavLst>
                                        <p:tav tm="0">
                                          <p:val>
                                            <p:fltVal val="0"/>
                                          </p:val>
                                        </p:tav>
                                        <p:tav tm="100000">
                                          <p:val>
                                            <p:strVal val="#ppt_h"/>
                                          </p:val>
                                        </p:tav>
                                      </p:tavLst>
                                    </p:anim>
                                    <p:anim calcmode="lin" valueType="num">
                                      <p:cBhvr>
                                        <p:cTn id="9" dur="1000" fill="hold"/>
                                        <p:tgtEl>
                                          <p:spTgt spid="8194"/>
                                        </p:tgtEl>
                                        <p:attrNameLst>
                                          <p:attrName>style.rotation</p:attrName>
                                        </p:attrNameLst>
                                      </p:cBhvr>
                                      <p:tavLst>
                                        <p:tav tm="0">
                                          <p:val>
                                            <p:fltVal val="90"/>
                                          </p:val>
                                        </p:tav>
                                        <p:tav tm="100000">
                                          <p:val>
                                            <p:fltVal val="0"/>
                                          </p:val>
                                        </p:tav>
                                      </p:tavLst>
                                    </p:anim>
                                    <p:animEffect transition="in" filter="fade">
                                      <p:cBhvr>
                                        <p:cTn id="10" dur="10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6" name="Content Placeholder 5"/>
          <p:cNvSpPr>
            <a:spLocks noGrp="1"/>
          </p:cNvSpPr>
          <p:nvPr>
            <p:ph idx="1"/>
          </p:nvPr>
        </p:nvSpPr>
        <p:spPr>
          <a:xfrm>
            <a:off x="457200" y="1371600"/>
            <a:ext cx="8229600" cy="5105400"/>
          </a:xfrm>
        </p:spPr>
        <p:txBody>
          <a:bodyPr>
            <a:normAutofit/>
          </a:bodyPr>
          <a:lstStyle/>
          <a:p>
            <a:r>
              <a:rPr lang="en-US" sz="2000" dirty="0">
                <a:latin typeface="Times New Roman" pitchFamily="18" charset="0"/>
                <a:cs typeface="Times New Roman" pitchFamily="18" charset="0"/>
              </a:rPr>
              <a:t>Angular misalignment losses at joints in multimode step index fibers may be predicted with reasonable accuracy using an expression for the angular coupling efficiency</a:t>
            </a:r>
          </a:p>
          <a:p>
            <a:pPr marL="68580" indent="0">
              <a:buNone/>
            </a:pPr>
            <a:endParaRPr lang="en-US" sz="2000" dirty="0">
              <a:latin typeface="Times New Roman" pitchFamily="18" charset="0"/>
              <a:cs typeface="Times New Roman" pitchFamily="18" charset="0"/>
            </a:endParaRPr>
          </a:p>
          <a:p>
            <a:pPr marL="68580" indent="0">
              <a:buNone/>
            </a:pPr>
            <a:endParaRPr lang="en-US" sz="2000" dirty="0">
              <a:latin typeface="Times New Roman" pitchFamily="18" charset="0"/>
              <a:cs typeface="Times New Roman" pitchFamily="18" charset="0"/>
            </a:endParaRPr>
          </a:p>
          <a:p>
            <a:pPr marL="68580" indent="0">
              <a:buNone/>
            </a:pPr>
            <a:r>
              <a:rPr lang="en-US" sz="2000" dirty="0">
                <a:latin typeface="Times New Roman" pitchFamily="18" charset="0"/>
                <a:cs typeface="Times New Roman" pitchFamily="18" charset="0"/>
              </a:rPr>
              <a:t>    where θ is the angular displacement in radians and </a:t>
            </a:r>
            <a:r>
              <a:rPr lang="en-US" sz="2000" b="1" dirty="0">
                <a:latin typeface="Times New Roman" pitchFamily="18" charset="0"/>
                <a:cs typeface="Times New Roman" pitchFamily="18" charset="0"/>
              </a:rPr>
              <a:t>Δ is the relative</a:t>
            </a:r>
          </a:p>
          <a:p>
            <a:pPr marL="68580" indent="0">
              <a:buNone/>
            </a:pPr>
            <a:r>
              <a:rPr lang="en-US" sz="2000" b="1" dirty="0">
                <a:latin typeface="Times New Roman" pitchFamily="18" charset="0"/>
                <a:cs typeface="Times New Roman" pitchFamily="18" charset="0"/>
              </a:rPr>
              <a:t>     refractive index difference</a:t>
            </a:r>
            <a:r>
              <a:rPr lang="en-US" sz="2000" dirty="0">
                <a:latin typeface="Times New Roman" pitchFamily="18" charset="0"/>
                <a:cs typeface="Times New Roman" pitchFamily="18" charset="0"/>
              </a:rPr>
              <a:t> for the fiber. </a:t>
            </a:r>
          </a:p>
          <a:p>
            <a:r>
              <a:rPr lang="en-US" sz="2000" dirty="0">
                <a:latin typeface="Times New Roman" pitchFamily="18" charset="0"/>
                <a:cs typeface="Times New Roman" pitchFamily="18" charset="0"/>
              </a:rPr>
              <a:t>The insertion loss due to angular misalignment may be obtained from the angular coupling efficiency in the same manner as the lateral misalignment loss following:</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Smaller the values of Δ, the larger the insertion loss due to angular misalignment.</a:t>
            </a:r>
          </a:p>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5943600" y="231263"/>
            <a:ext cx="2133600" cy="365125"/>
          </a:xfrm>
        </p:spPr>
        <p:txBody>
          <a:bodyPr/>
          <a:lstStyle/>
          <a:p>
            <a:r>
              <a:rPr lang="en-US"/>
              <a:t>CCE- 323 ( Optical Fiber Communication )</a:t>
            </a:r>
            <a:endParaRPr lang="en-US" dirty="0"/>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18</a:t>
            </a:fld>
            <a:endParaRPr kumimoji="0"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452687"/>
            <a:ext cx="318135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724400"/>
            <a:ext cx="223981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6587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6" name="Content Placeholder 5"/>
          <p:cNvSpPr>
            <a:spLocks noGrp="1"/>
          </p:cNvSpPr>
          <p:nvPr>
            <p:ph idx="1"/>
          </p:nvPr>
        </p:nvSpPr>
        <p:spPr>
          <a:xfrm>
            <a:off x="381000" y="1371600"/>
            <a:ext cx="8229600" cy="5105400"/>
          </a:xfrm>
        </p:spPr>
        <p:txBody>
          <a:bodyPr>
            <a:normAutofit/>
          </a:bodyPr>
          <a:lstStyle/>
          <a:p>
            <a:pPr marL="68580" indent="0">
              <a:buNone/>
            </a:pPr>
            <a:r>
              <a:rPr lang="en-US" sz="2000" dirty="0">
                <a:latin typeface="Times New Roman" pitchFamily="18" charset="0"/>
                <a:cs typeface="Times New Roman" pitchFamily="18" charset="0"/>
              </a:rPr>
              <a:t>Example 5.4:</a:t>
            </a:r>
          </a:p>
          <a:p>
            <a:pPr marL="68580" indent="0">
              <a:buNone/>
            </a:pPr>
            <a:r>
              <a:rPr lang="en-US" sz="2000" dirty="0">
                <a:latin typeface="Times New Roman" pitchFamily="18" charset="0"/>
                <a:cs typeface="Times New Roman" pitchFamily="18" charset="0"/>
              </a:rPr>
              <a:t>Two multimode step index fibers have numerical apertures of </a:t>
            </a:r>
            <a:r>
              <a:rPr lang="en-US" sz="2000" b="1" dirty="0">
                <a:latin typeface="Times New Roman" pitchFamily="18" charset="0"/>
                <a:cs typeface="Times New Roman" pitchFamily="18" charset="0"/>
              </a:rPr>
              <a:t>0.2 and 0.4, </a:t>
            </a:r>
            <a:r>
              <a:rPr lang="en-US" sz="2000" dirty="0">
                <a:latin typeface="Times New Roman" pitchFamily="18" charset="0"/>
                <a:cs typeface="Times New Roman" pitchFamily="18" charset="0"/>
              </a:rPr>
              <a:t>respectively, and both have the same core refractive index of 1.48. </a:t>
            </a:r>
          </a:p>
          <a:p>
            <a:pPr marL="68580" indent="0">
              <a:buNone/>
            </a:pPr>
            <a:r>
              <a:rPr lang="en-US" sz="2000" dirty="0">
                <a:latin typeface="Times New Roman" pitchFamily="18" charset="0"/>
                <a:cs typeface="Times New Roman" pitchFamily="18" charset="0"/>
              </a:rPr>
              <a:t>Estimate the insertion loss at a joint in each fiber caused by a 5° angular misalignment of the fiber core axes. It may be assumed that the medium between the fibers is air.</a:t>
            </a:r>
          </a:p>
        </p:txBody>
      </p:sp>
      <p:sp>
        <p:nvSpPr>
          <p:cNvPr id="4" name="Date Placeholder 3"/>
          <p:cNvSpPr>
            <a:spLocks noGrp="1"/>
          </p:cNvSpPr>
          <p:nvPr>
            <p:ph type="dt" sz="half" idx="10"/>
          </p:nvPr>
        </p:nvSpPr>
        <p:spPr>
          <a:xfrm>
            <a:off x="5943600" y="231263"/>
            <a:ext cx="2133600" cy="365125"/>
          </a:xfrm>
        </p:spPr>
        <p:txBody>
          <a:bodyPr/>
          <a:lstStyle/>
          <a:p>
            <a:r>
              <a:rPr lang="en-US"/>
              <a:t>CCE- 323 ( Optical Fiber Communication )</a:t>
            </a:r>
            <a:endParaRPr lang="en-US" dirty="0"/>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19</a:t>
            </a:fld>
            <a:endParaRPr kumimoji="0" lang="en-US"/>
          </a:p>
        </p:txBody>
      </p:sp>
    </p:spTree>
    <p:extLst>
      <p:ext uri="{BB962C8B-B14F-4D97-AF65-F5344CB8AC3E}">
        <p14:creationId xmlns:p14="http://schemas.microsoft.com/office/powerpoint/2010/main" val="3843400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6" name="Content Placeholder 5"/>
          <p:cNvSpPr>
            <a:spLocks noGrp="1"/>
          </p:cNvSpPr>
          <p:nvPr>
            <p:ph idx="1"/>
          </p:nvPr>
        </p:nvSpPr>
        <p:spPr>
          <a:xfrm>
            <a:off x="457200" y="1371600"/>
            <a:ext cx="8229600" cy="5105400"/>
          </a:xfrm>
        </p:spPr>
        <p:txBody>
          <a:bodyPr>
            <a:normAutofit/>
          </a:bodyPr>
          <a:lstStyle/>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5943600" y="231263"/>
            <a:ext cx="2133600" cy="365125"/>
          </a:xfrm>
        </p:spPr>
        <p:txBody>
          <a:bodyPr/>
          <a:lstStyle/>
          <a:p>
            <a:r>
              <a:rPr lang="en-US"/>
              <a:t>CCE- 323 ( Optical Fiber Communication )</a:t>
            </a:r>
            <a:endParaRPr lang="en-US" dirty="0"/>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20</a:t>
            </a:fld>
            <a:endParaRPr kumimoji="0"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497" y="1371600"/>
            <a:ext cx="7647303"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2960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44562"/>
          </a:xfrm>
        </p:spPr>
        <p:txBody>
          <a:bodyPr>
            <a:normAutofit/>
          </a:bodyPr>
          <a:lstStyle/>
          <a:p>
            <a:r>
              <a:rPr lang="en-US" sz="3600" b="1" dirty="0">
                <a:latin typeface="Times New Roman" pitchFamily="18" charset="0"/>
                <a:cs typeface="Times New Roman" pitchFamily="18" charset="0"/>
              </a:rPr>
              <a:t>Fiber alignment and joint loss</a:t>
            </a:r>
            <a:r>
              <a:rPr lang="en-US" sz="3600" dirty="0">
                <a:latin typeface="Times New Roman" pitchFamily="18" charset="0"/>
                <a:cs typeface="Times New Roman" pitchFamily="18" charset="0"/>
              </a:rPr>
              <a:t> </a:t>
            </a:r>
          </a:p>
        </p:txBody>
      </p:sp>
      <p:sp>
        <p:nvSpPr>
          <p:cNvPr id="6" name="Content Placeholder 5"/>
          <p:cNvSpPr>
            <a:spLocks noGrp="1"/>
          </p:cNvSpPr>
          <p:nvPr>
            <p:ph idx="1"/>
          </p:nvPr>
        </p:nvSpPr>
        <p:spPr>
          <a:xfrm>
            <a:off x="457200" y="1371600"/>
            <a:ext cx="8229600" cy="5105400"/>
          </a:xfrm>
        </p:spPr>
        <p:txBody>
          <a:bodyPr>
            <a:normAutofit/>
          </a:bodyPr>
          <a:lstStyle/>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5943600" y="231263"/>
            <a:ext cx="2133600" cy="365125"/>
          </a:xfrm>
        </p:spPr>
        <p:txBody>
          <a:bodyPr/>
          <a:lstStyle/>
          <a:p>
            <a:r>
              <a:rPr lang="en-US"/>
              <a:t>CCE- 323 ( Optical Fiber Communication )</a:t>
            </a:r>
            <a:endParaRPr lang="en-US" dirty="0"/>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21</a:t>
            </a:fld>
            <a:endParaRPr kumimoji="0"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71600"/>
            <a:ext cx="7500321"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30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a:latin typeface="Times New Roman" pitchFamily="18" charset="0"/>
                <a:cs typeface="Times New Roman" pitchFamily="18" charset="0"/>
              </a:rPr>
              <a:t>Fiber splices</a:t>
            </a:r>
          </a:p>
        </p:txBody>
      </p:sp>
      <p:sp>
        <p:nvSpPr>
          <p:cNvPr id="3" name="Content Placeholder 2"/>
          <p:cNvSpPr>
            <a:spLocks noGrp="1"/>
          </p:cNvSpPr>
          <p:nvPr>
            <p:ph idx="1"/>
          </p:nvPr>
        </p:nvSpPr>
        <p:spPr>
          <a:xfrm>
            <a:off x="457200" y="1143000"/>
            <a:ext cx="8229600" cy="4983163"/>
          </a:xfrm>
        </p:spPr>
        <p:txBody>
          <a:bodyPr/>
          <a:lstStyle/>
          <a:p>
            <a:r>
              <a:rPr lang="en-US" sz="2000" dirty="0">
                <a:latin typeface="Times New Roman" pitchFamily="18" charset="0"/>
                <a:cs typeface="Times New Roman" pitchFamily="18" charset="0"/>
              </a:rPr>
              <a:t>Permanent and semi permanent joint between two optical fibers </a:t>
            </a:r>
          </a:p>
          <a:p>
            <a:pPr lvl="1"/>
            <a:r>
              <a:rPr lang="en-US" sz="2000" dirty="0">
                <a:latin typeface="Times New Roman" pitchFamily="18" charset="0"/>
                <a:cs typeface="Times New Roman" pitchFamily="18" charset="0"/>
              </a:rPr>
              <a:t>Fusion splices</a:t>
            </a:r>
          </a:p>
          <a:p>
            <a:pPr lvl="1"/>
            <a:r>
              <a:rPr lang="en-US" sz="2000" dirty="0">
                <a:latin typeface="Times New Roman" pitchFamily="18" charset="0"/>
                <a:cs typeface="Times New Roman" pitchFamily="18" charset="0"/>
              </a:rPr>
              <a:t>Mechanical splices</a:t>
            </a:r>
          </a:p>
          <a:p>
            <a:pPr lvl="2"/>
            <a:r>
              <a:rPr lang="en-US" dirty="0">
                <a:latin typeface="Times New Roman" pitchFamily="18" charset="0"/>
                <a:cs typeface="Times New Roman" pitchFamily="18" charset="0"/>
              </a:rPr>
              <a:t>Precision tube slice</a:t>
            </a:r>
          </a:p>
          <a:p>
            <a:pPr lvl="2"/>
            <a:r>
              <a:rPr lang="en-US" dirty="0">
                <a:latin typeface="Times New Roman" pitchFamily="18" charset="0"/>
                <a:cs typeface="Times New Roman" pitchFamily="18" charset="0"/>
              </a:rPr>
              <a:t>Loose tube splice </a:t>
            </a:r>
          </a:p>
          <a:p>
            <a:pPr lvl="2"/>
            <a:r>
              <a:rPr lang="en-US" dirty="0">
                <a:latin typeface="Times New Roman" pitchFamily="18" charset="0"/>
                <a:cs typeface="Times New Roman" pitchFamily="18" charset="0"/>
              </a:rPr>
              <a:t>V groove splices</a:t>
            </a:r>
          </a:p>
          <a:p>
            <a:pPr lvl="2"/>
            <a:r>
              <a:rPr lang="en-US" sz="2000" dirty="0">
                <a:latin typeface="Times New Roman" pitchFamily="18" charset="0"/>
                <a:cs typeface="Times New Roman" pitchFamily="18" charset="0"/>
              </a:rPr>
              <a:t>Precision pin splice</a:t>
            </a:r>
          </a:p>
          <a:p>
            <a:pPr lvl="1"/>
            <a:r>
              <a:rPr lang="en-US" sz="2000" dirty="0">
                <a:latin typeface="Times New Roman" pitchFamily="18" charset="0"/>
                <a:cs typeface="Times New Roman" pitchFamily="18" charset="0"/>
              </a:rPr>
              <a:t>Multiple splices </a:t>
            </a:r>
          </a:p>
          <a:p>
            <a:pPr marL="685800" lvl="2" indent="0">
              <a:buNone/>
            </a:pPr>
            <a:br>
              <a:rPr lang="en-US" sz="1800" dirty="0">
                <a:latin typeface="Times New Roman" pitchFamily="18" charset="0"/>
                <a:cs typeface="Times New Roman" pitchFamily="18" charset="0"/>
              </a:rPr>
            </a:br>
            <a:endParaRPr lang="en-US" sz="1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22</a:t>
            </a:fld>
            <a:endParaRPr kumimoji="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a:latin typeface="Times New Roman" pitchFamily="18" charset="0"/>
                <a:cs typeface="Times New Roman" pitchFamily="18" charset="0"/>
              </a:rPr>
              <a:t>Fiber splices</a:t>
            </a:r>
          </a:p>
        </p:txBody>
      </p:sp>
      <p:sp>
        <p:nvSpPr>
          <p:cNvPr id="3" name="Content Placeholder 2"/>
          <p:cNvSpPr>
            <a:spLocks noGrp="1"/>
          </p:cNvSpPr>
          <p:nvPr>
            <p:ph idx="1"/>
          </p:nvPr>
        </p:nvSpPr>
        <p:spPr>
          <a:xfrm>
            <a:off x="457200" y="1143000"/>
            <a:ext cx="8229600" cy="4983163"/>
          </a:xfrm>
        </p:spPr>
        <p:txBody>
          <a:bodyPr/>
          <a:lstStyle/>
          <a:p>
            <a:r>
              <a:rPr lang="en-US" sz="2000" dirty="0">
                <a:latin typeface="Times New Roman" pitchFamily="18" charset="0"/>
                <a:cs typeface="Times New Roman" pitchFamily="18" charset="0"/>
              </a:rPr>
              <a:t>Permanent and semi permanent joint between two optical fibers </a:t>
            </a:r>
          </a:p>
          <a:p>
            <a:pPr lvl="1"/>
            <a:r>
              <a:rPr lang="en-US" sz="2000" b="1" dirty="0">
                <a:solidFill>
                  <a:srgbClr val="0070C0"/>
                </a:solidFill>
                <a:latin typeface="Times New Roman" pitchFamily="18" charset="0"/>
                <a:cs typeface="Times New Roman" pitchFamily="18" charset="0"/>
              </a:rPr>
              <a:t>Fusion splices: </a:t>
            </a:r>
            <a:r>
              <a:rPr lang="en-US" sz="2000" dirty="0">
                <a:latin typeface="Times New Roman" pitchFamily="18" charset="0"/>
                <a:cs typeface="Times New Roman" pitchFamily="18" charset="0"/>
              </a:rPr>
              <a:t>involves the </a:t>
            </a:r>
            <a:r>
              <a:rPr lang="en-US" sz="2000" b="1" dirty="0">
                <a:latin typeface="Times New Roman" pitchFamily="18" charset="0"/>
                <a:cs typeface="Times New Roman" pitchFamily="18" charset="0"/>
              </a:rPr>
              <a:t>heating of the two prepared fiber </a:t>
            </a:r>
            <a:r>
              <a:rPr lang="en-US" sz="2000" dirty="0">
                <a:latin typeface="Times New Roman" pitchFamily="18" charset="0"/>
                <a:cs typeface="Times New Roman" pitchFamily="18" charset="0"/>
              </a:rPr>
              <a:t>ends to</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their fusing point with the application of sufficient axial pressure between the two optical fibers. </a:t>
            </a:r>
          </a:p>
          <a:p>
            <a:pPr lvl="1"/>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stripped </a:t>
            </a:r>
            <a:r>
              <a:rPr lang="en-US" sz="2000" dirty="0">
                <a:latin typeface="Times New Roman" pitchFamily="18" charset="0"/>
                <a:cs typeface="Times New Roman" pitchFamily="18" charset="0"/>
              </a:rPr>
              <a:t>(of cabling and buffer coating) fiber ends are adequately </a:t>
            </a:r>
            <a:r>
              <a:rPr lang="en-US" sz="2000" b="1" dirty="0">
                <a:latin typeface="Times New Roman" pitchFamily="18" charset="0"/>
                <a:cs typeface="Times New Roman" pitchFamily="18" charset="0"/>
              </a:rPr>
              <a:t>positioned and aligned </a:t>
            </a:r>
            <a:r>
              <a:rPr lang="en-US" sz="2000" dirty="0">
                <a:latin typeface="Times New Roman" pitchFamily="18" charset="0"/>
                <a:cs typeface="Times New Roman" pitchFamily="18" charset="0"/>
              </a:rPr>
              <a:t>in order to achieve good continuity of the transmission medium at the junction point </a:t>
            </a:r>
          </a:p>
          <a:p>
            <a:pPr lvl="1"/>
            <a:r>
              <a:rPr lang="en-US" sz="2000" dirty="0">
                <a:latin typeface="Times New Roman" pitchFamily="18" charset="0"/>
                <a:cs typeface="Times New Roman" pitchFamily="18" charset="0"/>
              </a:rPr>
              <a:t>fibers are usually </a:t>
            </a:r>
            <a:r>
              <a:rPr lang="en-US" sz="2000" b="1" dirty="0">
                <a:latin typeface="Times New Roman" pitchFamily="18" charset="0"/>
                <a:cs typeface="Times New Roman" pitchFamily="18" charset="0"/>
              </a:rPr>
              <a:t>positioned and clamped</a:t>
            </a:r>
            <a:r>
              <a:rPr lang="en-US" sz="2000" dirty="0">
                <a:latin typeface="Times New Roman" pitchFamily="18" charset="0"/>
                <a:cs typeface="Times New Roman" pitchFamily="18" charset="0"/>
              </a:rPr>
              <a:t> with the aid of </a:t>
            </a:r>
            <a:r>
              <a:rPr lang="en-US" sz="2000" b="1" dirty="0">
                <a:latin typeface="Times New Roman" pitchFamily="18" charset="0"/>
                <a:cs typeface="Times New Roman" pitchFamily="18" charset="0"/>
              </a:rPr>
              <a:t>an inspection microscope</a:t>
            </a:r>
          </a:p>
          <a:p>
            <a:pPr lvl="1"/>
            <a:r>
              <a:rPr lang="en-US" sz="2000" b="1" dirty="0">
                <a:latin typeface="Times New Roman" pitchFamily="18" charset="0"/>
                <a:cs typeface="Times New Roman" pitchFamily="18" charset="0"/>
              </a:rPr>
              <a:t> Heating source is an electric arc. </a:t>
            </a:r>
            <a:br>
              <a:rPr lang="en-US" sz="2000" b="1" dirty="0">
                <a:latin typeface="Times New Roman" pitchFamily="18" charset="0"/>
                <a:cs typeface="Times New Roman" pitchFamily="18" charset="0"/>
              </a:rPr>
            </a:br>
            <a:endParaRPr lang="en-US" sz="2000" b="1" dirty="0">
              <a:latin typeface="Times New Roman" pitchFamily="18" charset="0"/>
              <a:cs typeface="Times New Roman" pitchFamily="18" charset="0"/>
            </a:endParaRPr>
          </a:p>
          <a:p>
            <a:pPr lvl="1">
              <a:buNone/>
            </a:pPr>
            <a:br>
              <a:rPr lang="en-US" dirty="0"/>
            </a:b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23</a:t>
            </a:fld>
            <a:endParaRPr kumimoji="0"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6404"/>
            <a:ext cx="8229600" cy="1035196"/>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200" b="1" dirty="0">
                <a:solidFill>
                  <a:srgbClr val="0070C0"/>
                </a:solidFill>
                <a:latin typeface="Times New Roman" pitchFamily="18" charset="0"/>
                <a:cs typeface="Times New Roman" pitchFamily="18" charset="0"/>
              </a:rPr>
              <a:t>Fusion splices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4830763"/>
          </a:xfrm>
        </p:spPr>
        <p:txBody>
          <a:bodyPr/>
          <a:lstStyle/>
          <a:p>
            <a:pPr lvl="1">
              <a:buNone/>
            </a:pPr>
            <a:r>
              <a:rPr lang="en-US" sz="2000" dirty="0">
                <a:latin typeface="Times New Roman" pitchFamily="18" charset="0"/>
                <a:cs typeface="Times New Roman" pitchFamily="18" charset="0"/>
              </a:rPr>
              <a:t> (a) an example of fusion splicing apparatus</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24</a:t>
            </a:fld>
            <a:endParaRPr kumimoji="0"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243" y="1752600"/>
            <a:ext cx="5715000" cy="4677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0970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153400" cy="1035196"/>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200" b="1" dirty="0">
                <a:solidFill>
                  <a:srgbClr val="0070C0"/>
                </a:solidFill>
                <a:latin typeface="Times New Roman" pitchFamily="18" charset="0"/>
                <a:cs typeface="Times New Roman" pitchFamily="18" charset="0"/>
              </a:rPr>
              <a:t>Fusion splices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678363"/>
          </a:xfrm>
        </p:spPr>
        <p:txBody>
          <a:bodyPr/>
          <a:lstStyle/>
          <a:p>
            <a:pPr lvl="1">
              <a:buNone/>
            </a:pPr>
            <a:r>
              <a:rPr lang="en-US" sz="2000" dirty="0">
                <a:latin typeface="Times New Roman" pitchFamily="18" charset="0"/>
                <a:cs typeface="Times New Roman" pitchFamily="18" charset="0"/>
              </a:rPr>
              <a:t> (b) schematic illustration of the </a:t>
            </a:r>
            <a:r>
              <a:rPr lang="en-US" sz="2000" dirty="0" err="1">
                <a:latin typeface="Times New Roman" pitchFamily="18" charset="0"/>
                <a:cs typeface="Times New Roman" pitchFamily="18" charset="0"/>
              </a:rPr>
              <a:t>prefusion</a:t>
            </a:r>
            <a:r>
              <a:rPr lang="en-US" sz="2000" dirty="0">
                <a:latin typeface="Times New Roman" pitchFamily="18" charset="0"/>
                <a:cs typeface="Times New Roman" pitchFamily="18" charset="0"/>
              </a:rPr>
              <a:t> method for accurately splicing optical fibers</a:t>
            </a:r>
            <a:br>
              <a:rPr lang="en-US" dirty="0"/>
            </a:b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25</a:t>
            </a:fld>
            <a:endParaRPr kumimoji="0"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86000"/>
            <a:ext cx="7543800" cy="4053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3665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1935" y="381000"/>
            <a:ext cx="8229600" cy="792162"/>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000" b="1" dirty="0">
                <a:solidFill>
                  <a:srgbClr val="0070C0"/>
                </a:solidFill>
                <a:latin typeface="Times New Roman" pitchFamily="18" charset="0"/>
                <a:cs typeface="Times New Roman" pitchFamily="18" charset="0"/>
              </a:rPr>
              <a:t>Fusion splices</a:t>
            </a:r>
            <a:endParaRPr lang="en-US" sz="2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983163"/>
          </a:xfrm>
        </p:spPr>
        <p:txBody>
          <a:bodyPr>
            <a:normAutofit/>
          </a:bodyPr>
          <a:lstStyle/>
          <a:p>
            <a:r>
              <a:rPr lang="en-US" sz="2000" b="1" dirty="0">
                <a:latin typeface="Times New Roman" pitchFamily="18" charset="0"/>
                <a:cs typeface="Times New Roman" pitchFamily="18" charset="0"/>
              </a:rPr>
              <a:t>Fujikura optical fiber fusion splicers: (a) tabletop model</a:t>
            </a:r>
          </a:p>
          <a:p>
            <a:pPr lvl="1">
              <a:buNone/>
            </a:pP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lang="en-US" smtClean="0"/>
              <a:pPr/>
              <a:t>26</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751" y="1524000"/>
            <a:ext cx="6613969" cy="493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0736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229600" cy="4983163"/>
          </a:xfrm>
        </p:spPr>
        <p:txBody>
          <a:bodyPr>
            <a:normAutofit/>
          </a:bodyPr>
          <a:lstStyle/>
          <a:p>
            <a:r>
              <a:rPr lang="en-US" sz="2000" b="1" dirty="0">
                <a:latin typeface="Times New Roman" pitchFamily="18" charset="0"/>
                <a:cs typeface="Times New Roman" pitchFamily="18" charset="0"/>
              </a:rPr>
              <a:t> (b) handheld device </a:t>
            </a:r>
          </a:p>
          <a:p>
            <a:pPr lvl="1">
              <a:buNone/>
            </a:pP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lang="en-US" smtClean="0"/>
              <a:pPr/>
              <a:t>27</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28800"/>
            <a:ext cx="6962775" cy="402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421935" y="381000"/>
            <a:ext cx="8229600" cy="792162"/>
          </a:xfrm>
          <a:prstGeom prst="rect">
            <a:avLst/>
          </a:prstGeom>
        </p:spPr>
        <p:txBody>
          <a:bodyPr vert="horz" lIns="91440" tIns="45720" rIns="91440" bIns="45720" rtlCol="0" anchor="b">
            <a:normAutofit fontScale="90000" lnSpcReduction="20000"/>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000" b="1" dirty="0">
                <a:solidFill>
                  <a:srgbClr val="0070C0"/>
                </a:solidFill>
                <a:latin typeface="Times New Roman" pitchFamily="18" charset="0"/>
                <a:cs typeface="Times New Roman" pitchFamily="18" charset="0"/>
              </a:rPr>
              <a:t>Fusion splices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241380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a:latin typeface="Times New Roman" pitchFamily="18" charset="0"/>
                <a:cs typeface="Times New Roman" pitchFamily="18" charset="0"/>
              </a:rPr>
              <a:t>Fiber splices</a:t>
            </a:r>
          </a:p>
        </p:txBody>
      </p:sp>
      <p:sp>
        <p:nvSpPr>
          <p:cNvPr id="3" name="Content Placeholder 2"/>
          <p:cNvSpPr>
            <a:spLocks noGrp="1"/>
          </p:cNvSpPr>
          <p:nvPr>
            <p:ph idx="1"/>
          </p:nvPr>
        </p:nvSpPr>
        <p:spPr>
          <a:xfrm>
            <a:off x="457200" y="1143000"/>
            <a:ext cx="8229600" cy="4983163"/>
          </a:xfrm>
        </p:spPr>
        <p:txBody>
          <a:bodyPr>
            <a:normAutofit/>
          </a:bodyPr>
          <a:lstStyle/>
          <a:p>
            <a:r>
              <a:rPr lang="en-US" sz="2000" dirty="0">
                <a:latin typeface="Times New Roman" pitchFamily="18" charset="0"/>
                <a:cs typeface="Times New Roman" pitchFamily="18" charset="0"/>
              </a:rPr>
              <a:t>The use of an accurately produced rigid alignment tube into which the prepared fiber ends are permanently bonded</a:t>
            </a:r>
          </a:p>
          <a:p>
            <a:r>
              <a:rPr lang="en-US" sz="2000" b="1" dirty="0">
                <a:solidFill>
                  <a:srgbClr val="0070C0"/>
                </a:solidFill>
                <a:latin typeface="Times New Roman" pitchFamily="18" charset="0"/>
                <a:cs typeface="Times New Roman" pitchFamily="18" charset="0"/>
              </a:rPr>
              <a:t>Mechanical splices: </a:t>
            </a:r>
            <a:r>
              <a:rPr lang="en-US" sz="2000" dirty="0">
                <a:solidFill>
                  <a:schemeClr val="tx1"/>
                </a:solidFill>
                <a:latin typeface="Times New Roman" pitchFamily="18" charset="0"/>
                <a:cs typeface="Times New Roman" pitchFamily="18" charset="0"/>
              </a:rPr>
              <a:t>utilize a </a:t>
            </a:r>
            <a:r>
              <a:rPr lang="en-US" sz="2000" b="1" dirty="0">
                <a:solidFill>
                  <a:schemeClr val="tx1"/>
                </a:solidFill>
                <a:latin typeface="Times New Roman" pitchFamily="18" charset="0"/>
                <a:cs typeface="Times New Roman" pitchFamily="18" charset="0"/>
              </a:rPr>
              <a:t>glass or ceramic capillary </a:t>
            </a:r>
            <a:r>
              <a:rPr lang="en-US" sz="2000" dirty="0">
                <a:solidFill>
                  <a:schemeClr val="tx1"/>
                </a:solidFill>
                <a:latin typeface="Times New Roman" pitchFamily="18" charset="0"/>
                <a:cs typeface="Times New Roman" pitchFamily="18" charset="0"/>
              </a:rPr>
              <a:t>with an inner diameter just large enough to accept the optical fibers</a:t>
            </a:r>
          </a:p>
          <a:p>
            <a:r>
              <a:rPr lang="en-US" sz="2000" dirty="0">
                <a:latin typeface="Times New Roman" pitchFamily="18" charset="0"/>
                <a:cs typeface="Times New Roman" pitchFamily="18" charset="0"/>
              </a:rPr>
              <a:t>Transparent adhesive (e.g. epoxy resin) is injected to give mechanical </a:t>
            </a:r>
            <a:r>
              <a:rPr lang="en-US" sz="2000" b="1" dirty="0">
                <a:latin typeface="Times New Roman" pitchFamily="18" charset="0"/>
                <a:cs typeface="Times New Roman" pitchFamily="18" charset="0"/>
              </a:rPr>
              <a:t>sealing and index matching </a:t>
            </a:r>
            <a:r>
              <a:rPr lang="en-US" sz="2000" dirty="0">
                <a:latin typeface="Times New Roman" pitchFamily="18" charset="0"/>
                <a:cs typeface="Times New Roman" pitchFamily="18" charset="0"/>
              </a:rPr>
              <a:t>of the splice.</a:t>
            </a:r>
          </a:p>
          <a:p>
            <a:r>
              <a:rPr lang="en-US" sz="2000" dirty="0">
                <a:latin typeface="Times New Roman" pitchFamily="18" charset="0"/>
                <a:cs typeface="Times New Roman" pitchFamily="18" charset="0"/>
              </a:rPr>
              <a:t> loose tube splice uses an </a:t>
            </a:r>
            <a:r>
              <a:rPr lang="en-US" sz="2000" b="1" dirty="0">
                <a:latin typeface="Times New Roman" pitchFamily="18" charset="0"/>
                <a:cs typeface="Times New Roman" pitchFamily="18" charset="0"/>
              </a:rPr>
              <a:t>oversized square-section metal tube</a:t>
            </a:r>
          </a:p>
          <a:p>
            <a:r>
              <a:rPr lang="en-US" sz="2000" dirty="0">
                <a:latin typeface="Times New Roman" pitchFamily="18" charset="0"/>
                <a:cs typeface="Times New Roman" pitchFamily="18" charset="0"/>
              </a:rPr>
              <a:t>The splice is self-aligning when the fibers are curved in the same plane, forcing the fiber ends simultaneously into the same corner of the tube</a:t>
            </a:r>
          </a:p>
          <a:p>
            <a:endParaRPr lang="en-US" sz="2000" b="1" dirty="0">
              <a:latin typeface="Times New Roman" pitchFamily="18" charset="0"/>
              <a:cs typeface="Times New Roman" pitchFamily="18" charset="0"/>
            </a:endParaRPr>
          </a:p>
          <a:p>
            <a:pPr lvl="1">
              <a:buNone/>
            </a:pP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lang="en-US" smtClean="0"/>
              <a:pPr/>
              <a:t>28</a:t>
            </a:fld>
            <a:endParaRPr lang="en-US"/>
          </a:p>
        </p:txBody>
      </p:sp>
    </p:spTree>
    <p:extLst>
      <p:ext uri="{BB962C8B-B14F-4D97-AF65-F5344CB8AC3E}">
        <p14:creationId xmlns:p14="http://schemas.microsoft.com/office/powerpoint/2010/main" val="2229651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229600" cy="4983163"/>
          </a:xfrm>
        </p:spPr>
        <p:txBody>
          <a:bodyPr>
            <a:normAutofit/>
          </a:bodyPr>
          <a:lstStyle/>
          <a:p>
            <a:r>
              <a:rPr lang="en-US" sz="2000" b="1" dirty="0">
                <a:latin typeface="Times New Roman" pitchFamily="18" charset="0"/>
                <a:cs typeface="Times New Roman" pitchFamily="18" charset="0"/>
              </a:rPr>
              <a:t>Techniques for tube splicing of optical fibers: (a) snug tube splice.</a:t>
            </a:r>
          </a:p>
          <a:p>
            <a:pPr marL="68580" indent="0">
              <a:buNone/>
            </a:pPr>
            <a:r>
              <a:rPr lang="en-US" sz="2000" b="1" dirty="0">
                <a:latin typeface="Times New Roman" pitchFamily="18" charset="0"/>
                <a:cs typeface="Times New Roman" pitchFamily="18" charset="0"/>
              </a:rPr>
              <a:t>(b) loose tube splice utilizing square cross-section capillary </a:t>
            </a: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lang="en-US" smtClean="0"/>
              <a:pPr/>
              <a:t>29</a:t>
            </a:fld>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133600"/>
            <a:ext cx="3267075"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1630" y="2250389"/>
            <a:ext cx="4805170" cy="353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p:cNvSpPr>
            <a:spLocks noGrp="1"/>
          </p:cNvSpPr>
          <p:nvPr>
            <p:ph type="title"/>
          </p:nvPr>
        </p:nvSpPr>
        <p:spPr>
          <a:xfrm>
            <a:off x="421935" y="381000"/>
            <a:ext cx="8229600" cy="792162"/>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000" b="1" dirty="0">
                <a:solidFill>
                  <a:srgbClr val="0070C0"/>
                </a:solidFill>
                <a:latin typeface="Times New Roman" pitchFamily="18" charset="0"/>
                <a:cs typeface="Times New Roman" pitchFamily="18" charset="0"/>
              </a:rPr>
              <a:t>Mechanical splices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786489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229600" cy="4906963"/>
          </a:xfrm>
        </p:spPr>
        <p:txBody>
          <a:bodyPr>
            <a:normAutofit/>
          </a:bodyPr>
          <a:lstStyle/>
          <a:p>
            <a:r>
              <a:rPr lang="en-US" sz="2000" dirty="0">
                <a:latin typeface="Times New Roman" pitchFamily="18" charset="0"/>
                <a:cs typeface="Times New Roman" pitchFamily="18" charset="0"/>
              </a:rPr>
              <a:t>Mechanical splicing techniques involve the use </a:t>
            </a:r>
            <a:r>
              <a:rPr lang="en-US" sz="2000" b="1" dirty="0">
                <a:latin typeface="Times New Roman" pitchFamily="18" charset="0"/>
                <a:cs typeface="Times New Roman" pitchFamily="18" charset="0"/>
              </a:rPr>
              <a:t>of grooves </a:t>
            </a:r>
            <a:r>
              <a:rPr lang="en-US" sz="2000" dirty="0">
                <a:latin typeface="Times New Roman" pitchFamily="18" charset="0"/>
                <a:cs typeface="Times New Roman" pitchFamily="18" charset="0"/>
              </a:rPr>
              <a:t>to secure the fibers to be jointed</a:t>
            </a:r>
          </a:p>
          <a:p>
            <a:r>
              <a:rPr lang="en-US" sz="2000" dirty="0">
                <a:latin typeface="Times New Roman" pitchFamily="18" charset="0"/>
                <a:cs typeface="Times New Roman" pitchFamily="18" charset="0"/>
              </a:rPr>
              <a:t> utilizes a V-groove into which the two prepared fiber ends are pressed(a)</a:t>
            </a:r>
          </a:p>
          <a:p>
            <a:r>
              <a:rPr lang="en-US" sz="2000" dirty="0">
                <a:latin typeface="Times New Roman" pitchFamily="18" charset="0"/>
                <a:cs typeface="Times New Roman" pitchFamily="18" charset="0"/>
              </a:rPr>
              <a:t>The splice is made permanent by </a:t>
            </a:r>
            <a:r>
              <a:rPr lang="en-US" sz="2000" b="1" dirty="0">
                <a:latin typeface="Times New Roman" pitchFamily="18" charset="0"/>
                <a:cs typeface="Times New Roman" pitchFamily="18" charset="0"/>
              </a:rPr>
              <a:t>securing the fibers in the V-groove with epoxy resin</a:t>
            </a:r>
          </a:p>
          <a:p>
            <a:r>
              <a:rPr lang="en-US" sz="2000" dirty="0">
                <a:latin typeface="Times New Roman" pitchFamily="18" charset="0"/>
                <a:cs typeface="Times New Roman" pitchFamily="18" charset="0"/>
              </a:rPr>
              <a:t>V-groove splices formed by sandwiching the butted fiber ends between a V-groove glass substrate and a flat glass retainer plate(b)</a:t>
            </a:r>
          </a:p>
          <a:p>
            <a:r>
              <a:rPr lang="en-US" sz="2000" dirty="0">
                <a:latin typeface="Times New Roman" pitchFamily="18" charset="0"/>
                <a:cs typeface="Times New Roman" pitchFamily="18" charset="0"/>
              </a:rPr>
              <a:t>reservations are expressed regarding the field </a:t>
            </a:r>
            <a:r>
              <a:rPr lang="en-US" sz="2000" b="1" dirty="0">
                <a:latin typeface="Times New Roman" pitchFamily="18" charset="0"/>
                <a:cs typeface="Times New Roman" pitchFamily="18" charset="0"/>
              </a:rPr>
              <a:t>implementation of these splices </a:t>
            </a:r>
            <a:r>
              <a:rPr lang="en-US" sz="2000" dirty="0">
                <a:latin typeface="Times New Roman" pitchFamily="18" charset="0"/>
                <a:cs typeface="Times New Roman" pitchFamily="18" charset="0"/>
              </a:rPr>
              <a:t>with respect to manufactured fiber geometry, and housing of the splice in order </a:t>
            </a:r>
            <a:r>
              <a:rPr lang="en-US" sz="2000" b="1" dirty="0">
                <a:latin typeface="Times New Roman" pitchFamily="18" charset="0"/>
                <a:cs typeface="Times New Roman" pitchFamily="18" charset="0"/>
              </a:rPr>
              <a:t>to avoid additional losses due to local fiber bending.</a:t>
            </a:r>
          </a:p>
          <a:p>
            <a:r>
              <a:rPr lang="en-US" sz="2000" dirty="0">
                <a:latin typeface="Times New Roman" pitchFamily="18" charset="0"/>
                <a:cs typeface="Times New Roman" pitchFamily="18" charset="0"/>
              </a:rPr>
              <a:t>V-groove technique is the </a:t>
            </a:r>
            <a:r>
              <a:rPr lang="en-US" sz="2000" b="1" dirty="0">
                <a:solidFill>
                  <a:srgbClr val="FF0000"/>
                </a:solidFill>
                <a:latin typeface="Times New Roman" pitchFamily="18" charset="0"/>
                <a:cs typeface="Times New Roman" pitchFamily="18" charset="0"/>
              </a:rPr>
              <a:t>elastic tube or elastomeric splice</a:t>
            </a:r>
          </a:p>
          <a:p>
            <a:r>
              <a:rPr lang="en-US" sz="2000" dirty="0">
                <a:latin typeface="Times New Roman" pitchFamily="18" charset="0"/>
                <a:cs typeface="Times New Roman" pitchFamily="18" charset="0"/>
              </a:rPr>
              <a:t>An outer </a:t>
            </a:r>
            <a:r>
              <a:rPr lang="en-US" sz="2000" b="1" dirty="0">
                <a:latin typeface="Times New Roman" pitchFamily="18" charset="0"/>
                <a:cs typeface="Times New Roman" pitchFamily="18" charset="0"/>
              </a:rPr>
              <a:t>sleeve holds the two elastic parts </a:t>
            </a:r>
            <a:r>
              <a:rPr lang="en-US" sz="2000" dirty="0">
                <a:latin typeface="Times New Roman" pitchFamily="18" charset="0"/>
                <a:cs typeface="Times New Roman" pitchFamily="18" charset="0"/>
              </a:rPr>
              <a:t>in compression to ensure alignment of the fibers in the V-groove, and fibers with different diameters tend to be centered</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lang="en-US" smtClean="0"/>
              <a:pPr/>
              <a:t>30</a:t>
            </a:fld>
            <a:endParaRPr lang="en-US"/>
          </a:p>
        </p:txBody>
      </p:sp>
      <p:sp>
        <p:nvSpPr>
          <p:cNvPr id="12" name="Title 1"/>
          <p:cNvSpPr>
            <a:spLocks noGrp="1"/>
          </p:cNvSpPr>
          <p:nvPr>
            <p:ph type="title"/>
          </p:nvPr>
        </p:nvSpPr>
        <p:spPr>
          <a:xfrm>
            <a:off x="421935" y="381000"/>
            <a:ext cx="8229600" cy="792162"/>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000" b="1" dirty="0">
                <a:solidFill>
                  <a:srgbClr val="0070C0"/>
                </a:solidFill>
                <a:latin typeface="Times New Roman" pitchFamily="18" charset="0"/>
                <a:cs typeface="Times New Roman" pitchFamily="18" charset="0"/>
              </a:rPr>
              <a:t>Mechanical splices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368627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229600" cy="4906963"/>
          </a:xfrm>
        </p:spPr>
        <p:txBody>
          <a:bodyPr>
            <a:normAutofit/>
          </a:bodyPr>
          <a:lstStyle/>
          <a:p>
            <a:r>
              <a:rPr lang="en-US" sz="2000" b="1" dirty="0">
                <a:latin typeface="Times New Roman" pitchFamily="18" charset="0"/>
                <a:cs typeface="Times New Roman" pitchFamily="18" charset="0"/>
              </a:rPr>
              <a:t>V-groove splices</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lang="en-US" smtClean="0"/>
              <a:pPr/>
              <a:t>31</a:t>
            </a:fld>
            <a:endParaRPr lang="en-US"/>
          </a:p>
        </p:txBody>
      </p:sp>
      <p:sp>
        <p:nvSpPr>
          <p:cNvPr id="12" name="Title 1"/>
          <p:cNvSpPr>
            <a:spLocks noGrp="1"/>
          </p:cNvSpPr>
          <p:nvPr>
            <p:ph type="title"/>
          </p:nvPr>
        </p:nvSpPr>
        <p:spPr>
          <a:xfrm>
            <a:off x="421935" y="381000"/>
            <a:ext cx="8229600" cy="792162"/>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000" b="1" dirty="0">
                <a:solidFill>
                  <a:srgbClr val="0070C0"/>
                </a:solidFill>
                <a:latin typeface="Times New Roman" pitchFamily="18" charset="0"/>
                <a:cs typeface="Times New Roman" pitchFamily="18" charset="0"/>
              </a:rPr>
              <a:t>Mechanical splices</a:t>
            </a:r>
            <a:endParaRPr lang="en-US" sz="2000" dirty="0">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606" y="1261077"/>
            <a:ext cx="4724400" cy="3370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46" y="4710845"/>
            <a:ext cx="6524625"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81000" y="2209800"/>
            <a:ext cx="3145413" cy="369332"/>
          </a:xfrm>
          <a:prstGeom prst="rect">
            <a:avLst/>
          </a:prstGeom>
        </p:spPr>
        <p:txBody>
          <a:bodyPr wrap="none">
            <a:spAutoFit/>
          </a:bodyPr>
          <a:lstStyle/>
          <a:p>
            <a:r>
              <a:rPr lang="en-US" dirty="0"/>
              <a:t>Figure 5.9 V-groove splices</a:t>
            </a:r>
          </a:p>
        </p:txBody>
      </p:sp>
      <p:sp>
        <p:nvSpPr>
          <p:cNvPr id="6" name="Rectangle 5"/>
          <p:cNvSpPr/>
          <p:nvPr/>
        </p:nvSpPr>
        <p:spPr>
          <a:xfrm>
            <a:off x="1577001" y="6172200"/>
            <a:ext cx="3898824" cy="369332"/>
          </a:xfrm>
          <a:prstGeom prst="rect">
            <a:avLst/>
          </a:prstGeom>
        </p:spPr>
        <p:txBody>
          <a:bodyPr wrap="none">
            <a:spAutoFit/>
          </a:bodyPr>
          <a:lstStyle/>
          <a:p>
            <a:r>
              <a:rPr lang="en-US" dirty="0"/>
              <a:t>Figure 5.10 The elastomeric splice</a:t>
            </a:r>
          </a:p>
        </p:txBody>
      </p:sp>
    </p:spTree>
    <p:extLst>
      <p:ext uri="{BB962C8B-B14F-4D97-AF65-F5344CB8AC3E}">
        <p14:creationId xmlns:p14="http://schemas.microsoft.com/office/powerpoint/2010/main" val="1176202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6404"/>
            <a:ext cx="8229600" cy="1035196"/>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200" b="1" dirty="0">
                <a:solidFill>
                  <a:srgbClr val="0070C0"/>
                </a:solidFill>
                <a:latin typeface="Times New Roman" pitchFamily="18" charset="0"/>
                <a:cs typeface="Times New Roman" pitchFamily="18" charset="0"/>
              </a:rPr>
              <a:t> Multiple splices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678363"/>
          </a:xfrm>
        </p:spPr>
        <p:txBody>
          <a:bodyPr>
            <a:normAutofit/>
          </a:bodyPr>
          <a:lstStyle/>
          <a:p>
            <a:r>
              <a:rPr lang="en-US" sz="2000" dirty="0">
                <a:latin typeface="Times New Roman" pitchFamily="18" charset="0"/>
                <a:cs typeface="Times New Roman" pitchFamily="18" charset="0"/>
              </a:rPr>
              <a:t>Multiple simultaneous fusion splicing of an array of fibers </a:t>
            </a:r>
            <a:r>
              <a:rPr lang="en-US" sz="2000" b="1" dirty="0">
                <a:latin typeface="Times New Roman" pitchFamily="18" charset="0"/>
                <a:cs typeface="Times New Roman" pitchFamily="18" charset="0"/>
              </a:rPr>
              <a:t>in a ribbon cable </a:t>
            </a:r>
            <a:r>
              <a:rPr lang="en-US" sz="2000" dirty="0">
                <a:latin typeface="Times New Roman" pitchFamily="18" charset="0"/>
                <a:cs typeface="Times New Roman" pitchFamily="18" charset="0"/>
              </a:rPr>
              <a:t>has been demonstrated for both multimode and single-mode fibers</a:t>
            </a:r>
          </a:p>
          <a:p>
            <a:r>
              <a:rPr lang="en-US" sz="2000" dirty="0">
                <a:latin typeface="Times New Roman" pitchFamily="18" charset="0"/>
                <a:cs typeface="Times New Roman" pitchFamily="18" charset="0"/>
              </a:rPr>
              <a:t>a 12-fiber ribbon was prepared by </a:t>
            </a:r>
            <a:r>
              <a:rPr lang="en-US" sz="2000" b="1" dirty="0">
                <a:latin typeface="Times New Roman" pitchFamily="18" charset="0"/>
                <a:cs typeface="Times New Roman" pitchFamily="18" charset="0"/>
              </a:rPr>
              <a:t>scoring and breaking </a:t>
            </a:r>
            <a:r>
              <a:rPr lang="en-US" sz="2000" dirty="0">
                <a:latin typeface="Times New Roman" pitchFamily="18" charset="0"/>
                <a:cs typeface="Times New Roman" pitchFamily="18" charset="0"/>
              </a:rPr>
              <a:t>prior to pressing the fiber ends onto a </a:t>
            </a:r>
            <a:r>
              <a:rPr lang="en-US" sz="2000" b="1" dirty="0">
                <a:latin typeface="Times New Roman" pitchFamily="18" charset="0"/>
                <a:cs typeface="Times New Roman" pitchFamily="18" charset="0"/>
              </a:rPr>
              <a:t>contact plate </a:t>
            </a:r>
            <a:r>
              <a:rPr lang="en-US" sz="2000" dirty="0">
                <a:latin typeface="Times New Roman" pitchFamily="18" charset="0"/>
                <a:cs typeface="Times New Roman" pitchFamily="18" charset="0"/>
              </a:rPr>
              <a:t>to avoid difficulties with varying gaps between the fibers to be fused</a:t>
            </a:r>
          </a:p>
          <a:p>
            <a:r>
              <a:rPr lang="en-US" sz="2000" dirty="0">
                <a:latin typeface="Times New Roman" pitchFamily="18" charset="0"/>
                <a:cs typeface="Times New Roman" pitchFamily="18" charset="0"/>
              </a:rPr>
              <a:t>a device is now commercially available to allow the splicing of 12 fibers simultaneously in a time of around 6 minutes, which requires only 30 seconds per splice</a:t>
            </a:r>
          </a:p>
          <a:p>
            <a:r>
              <a:rPr lang="en-US" sz="2000" dirty="0">
                <a:latin typeface="Times New Roman" pitchFamily="18" charset="0"/>
                <a:cs typeface="Times New Roman" pitchFamily="18" charset="0"/>
              </a:rPr>
              <a:t> V-groove multiple-splice secondary element comprising etched silicon chips</a:t>
            </a:r>
          </a:p>
          <a:p>
            <a:r>
              <a:rPr lang="en-US" sz="2000" dirty="0">
                <a:latin typeface="Times New Roman" pitchFamily="18" charset="0"/>
                <a:cs typeface="Times New Roman" pitchFamily="18" charset="0"/>
              </a:rPr>
              <a:t>In this technique a 12-fiber splice is prepared by stripping the ribbon and coating material from the fibers. Then the 12 fibers are laid into the trapezoidal* grooves of a silicon chip using a comb structure</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32</a:t>
            </a:fld>
            <a:endParaRPr kumimoji="0" lang="en-US"/>
          </a:p>
        </p:txBody>
      </p:sp>
    </p:spTree>
    <p:extLst>
      <p:ext uri="{BB962C8B-B14F-4D97-AF65-F5344CB8AC3E}">
        <p14:creationId xmlns:p14="http://schemas.microsoft.com/office/powerpoint/2010/main" val="559442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6404"/>
            <a:ext cx="8229600" cy="1035196"/>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200" b="1" dirty="0">
                <a:solidFill>
                  <a:srgbClr val="0070C0"/>
                </a:solidFill>
                <a:latin typeface="Times New Roman" pitchFamily="18" charset="0"/>
                <a:cs typeface="Times New Roman" pitchFamily="18" charset="0"/>
              </a:rPr>
              <a:t> Multiple splices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678363"/>
          </a:xfrm>
        </p:spPr>
        <p:txBody>
          <a:bodyPr>
            <a:normAutofit/>
          </a:bodyPr>
          <a:lstStyle/>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33</a:t>
            </a:fld>
            <a:endParaRPr kumimoji="0"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9048" y="1524000"/>
            <a:ext cx="6743700"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6934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6404"/>
            <a:ext cx="8229600" cy="1035196"/>
          </a:xfrm>
        </p:spPr>
        <p:txBody>
          <a:bodyPr>
            <a:normAutofit fontScale="90000"/>
          </a:bodyPr>
          <a:lstStyle/>
          <a:p>
            <a:r>
              <a:rPr lang="en-US" dirty="0">
                <a:latin typeface="Times New Roman" pitchFamily="18" charset="0"/>
                <a:cs typeface="Times New Roman" pitchFamily="18" charset="0"/>
              </a:rPr>
              <a:t>Fiber splices</a:t>
            </a:r>
            <a:br>
              <a:rPr lang="en-US" sz="3600" dirty="0">
                <a:latin typeface="Times New Roman" pitchFamily="18" charset="0"/>
                <a:cs typeface="Times New Roman" pitchFamily="18" charset="0"/>
              </a:rPr>
            </a:br>
            <a:r>
              <a:rPr lang="en-US" sz="2200" b="1" dirty="0">
                <a:solidFill>
                  <a:srgbClr val="0070C0"/>
                </a:solidFill>
                <a:latin typeface="Times New Roman" pitchFamily="18" charset="0"/>
                <a:cs typeface="Times New Roman" pitchFamily="18" charset="0"/>
              </a:rPr>
              <a:t> Multiple splices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678363"/>
          </a:xfrm>
        </p:spPr>
        <p:txBody>
          <a:bodyPr>
            <a:normAutofit/>
          </a:bodyPr>
          <a:lstStyle/>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34</a:t>
            </a:fld>
            <a:endParaRPr kumimoji="0"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4708" y="1523999"/>
            <a:ext cx="6448425" cy="494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9336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35</a:t>
            </a:fld>
            <a:endParaRPr kumimoji="0"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260" y="3150394"/>
            <a:ext cx="4696941" cy="2209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105" y="609600"/>
            <a:ext cx="4719928" cy="251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3202" y="762000"/>
            <a:ext cx="4029075"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3201" y="3248025"/>
            <a:ext cx="4029075"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6893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a:bodyPr>
          <a:lstStyle/>
          <a:p>
            <a:r>
              <a:rPr lang="en-US" sz="3600" dirty="0">
                <a:latin typeface="Times New Roman" pitchFamily="18" charset="0"/>
                <a:cs typeface="Times New Roman" pitchFamily="18" charset="0"/>
              </a:rPr>
              <a:t>Fiber Connectors</a:t>
            </a:r>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a:latin typeface="Times New Roman" pitchFamily="18" charset="0"/>
                <a:cs typeface="Times New Roman" pitchFamily="18" charset="0"/>
              </a:rPr>
              <a:t>Cylindrical ferrule connectors</a:t>
            </a:r>
          </a:p>
          <a:p>
            <a:r>
              <a:rPr lang="en-US" sz="2000" dirty="0">
                <a:latin typeface="Times New Roman" pitchFamily="18" charset="0"/>
                <a:cs typeface="Times New Roman" pitchFamily="18" charset="0"/>
              </a:rPr>
              <a:t>Duplex and multiple-fiber connectors</a:t>
            </a:r>
          </a:p>
          <a:p>
            <a:r>
              <a:rPr lang="en-US" sz="2000" dirty="0">
                <a:latin typeface="Times New Roman" pitchFamily="18" charset="0"/>
                <a:cs typeface="Times New Roman" pitchFamily="18" charset="0"/>
              </a:rPr>
              <a:t>Fiber connector-type summary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optical fiber connectors may be considered in three major areas</a:t>
            </a:r>
          </a:p>
          <a:p>
            <a:pPr lvl="1"/>
            <a:r>
              <a:rPr lang="en-US" sz="2000" dirty="0">
                <a:latin typeface="Times New Roman" pitchFamily="18" charset="0"/>
                <a:cs typeface="Times New Roman" pitchFamily="18" charset="0"/>
              </a:rPr>
              <a:t>(a) the fiber termination, which protects and locates the fiber ends;</a:t>
            </a:r>
          </a:p>
          <a:p>
            <a:pPr lvl="1"/>
            <a:r>
              <a:rPr lang="en-US" sz="2000" dirty="0">
                <a:latin typeface="Times New Roman" pitchFamily="18" charset="0"/>
                <a:cs typeface="Times New Roman" pitchFamily="18" charset="0"/>
              </a:rPr>
              <a:t>(b) the fiber end alignment to provide optimum optical coupling;</a:t>
            </a:r>
          </a:p>
          <a:p>
            <a:pPr lvl="1"/>
            <a:r>
              <a:rPr lang="en-US" sz="2000" dirty="0">
                <a:latin typeface="Times New Roman" pitchFamily="18" charset="0"/>
                <a:cs typeface="Times New Roman" pitchFamily="18" charset="0"/>
              </a:rPr>
              <a:t>(c) the outer shell, which maintains the connection and the fiber alignment, protects the fiber ends from the environment and provides adequate strength at the joint.</a:t>
            </a:r>
          </a:p>
          <a:p>
            <a:pPr marL="365760" lvl="1" indent="0">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36</a:t>
            </a:fld>
            <a:endParaRPr kumimoji="0"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Cylindrical ferrule connectors</a:t>
            </a:r>
            <a:endParaRPr lang="en-US" sz="36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524000"/>
            <a:ext cx="8382000" cy="4800600"/>
          </a:xfrm>
        </p:spPr>
        <p:txBody>
          <a:bodyPr>
            <a:normAutofit/>
          </a:bodyPr>
          <a:lstStyle/>
          <a:p>
            <a:r>
              <a:rPr lang="en-US" sz="2000" dirty="0">
                <a:latin typeface="Times New Roman" pitchFamily="18" charset="0"/>
                <a:cs typeface="Times New Roman" pitchFamily="18" charset="0"/>
              </a:rPr>
              <a:t>The two fibers to be connected are permanently bonded (with epoxy resin) in </a:t>
            </a:r>
            <a:r>
              <a:rPr lang="en-US" sz="2000" b="1" dirty="0">
                <a:latin typeface="Times New Roman" pitchFamily="18" charset="0"/>
                <a:cs typeface="Times New Roman" pitchFamily="18" charset="0"/>
              </a:rPr>
              <a:t>metal plugs known as ferrules </a:t>
            </a:r>
            <a:r>
              <a:rPr lang="en-US" sz="2000" dirty="0">
                <a:latin typeface="Times New Roman" pitchFamily="18" charset="0"/>
                <a:cs typeface="Times New Roman" pitchFamily="18" charset="0"/>
              </a:rPr>
              <a:t>which have an accurately drilled central hole in their end faces where the stripped (of buffer coating) fiber is located.</a:t>
            </a:r>
          </a:p>
          <a:p>
            <a:r>
              <a:rPr lang="en-US" sz="2000" dirty="0">
                <a:latin typeface="Times New Roman" pitchFamily="18" charset="0"/>
                <a:cs typeface="Times New Roman" pitchFamily="18" charset="0"/>
              </a:rPr>
              <a:t>Within the connector the two ferrules are placed in an alignment sleeve which, using accurately machined components, allows the fiber ends to be butt jointed. </a:t>
            </a:r>
          </a:p>
          <a:p>
            <a:r>
              <a:rPr lang="en-US" sz="2000" dirty="0">
                <a:latin typeface="Times New Roman" pitchFamily="18" charset="0"/>
                <a:cs typeface="Times New Roman" pitchFamily="18" charset="0"/>
              </a:rPr>
              <a:t>The ferrules are held in </a:t>
            </a:r>
            <a:r>
              <a:rPr lang="en-US" sz="2000" b="1" dirty="0">
                <a:latin typeface="Times New Roman" pitchFamily="18" charset="0"/>
                <a:cs typeface="Times New Roman" pitchFamily="18" charset="0"/>
              </a:rPr>
              <a:t>place via a retaining spring</a:t>
            </a:r>
          </a:p>
          <a:p>
            <a:r>
              <a:rPr lang="en-US" sz="2000" dirty="0">
                <a:latin typeface="Times New Roman" pitchFamily="18" charset="0"/>
                <a:cs typeface="Times New Roman" pitchFamily="18" charset="0"/>
              </a:rPr>
              <a:t>fiber end faces are smooth and square which may be achieved with varying success by:</a:t>
            </a:r>
          </a:p>
          <a:p>
            <a:pPr marL="68580" indent="0">
              <a:buNone/>
            </a:pPr>
            <a:r>
              <a:rPr lang="en-US" sz="2000" dirty="0">
                <a:latin typeface="Times New Roman" pitchFamily="18" charset="0"/>
                <a:cs typeface="Times New Roman" pitchFamily="18" charset="0"/>
              </a:rPr>
              <a:t>(a) cleaving the fiber before insertion into the ferrule;</a:t>
            </a:r>
          </a:p>
          <a:p>
            <a:pPr marL="68580" indent="0">
              <a:buNone/>
            </a:pPr>
            <a:r>
              <a:rPr lang="en-US" sz="2000" dirty="0">
                <a:latin typeface="Times New Roman" pitchFamily="18" charset="0"/>
                <a:cs typeface="Times New Roman" pitchFamily="18" charset="0"/>
              </a:rPr>
              <a:t>(b) inserting and bonding before cleaving the fiber close to the ferrule end face;</a:t>
            </a:r>
          </a:p>
          <a:p>
            <a:pPr marL="68580" indent="0">
              <a:buNone/>
            </a:pPr>
            <a:r>
              <a:rPr lang="en-US" sz="2000" dirty="0">
                <a:latin typeface="Times New Roman" pitchFamily="18" charset="0"/>
                <a:cs typeface="Times New Roman" pitchFamily="18" charset="0"/>
              </a:rPr>
              <a:t>(c) using either (a) or (b) and polishing the fiber end face until it is flush with the end of the ferrule.</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37</a:t>
            </a:fld>
            <a:endParaRPr kumimoji="0" lang="en-US"/>
          </a:p>
        </p:txBody>
      </p:sp>
    </p:spTree>
    <p:extLst>
      <p:ext uri="{BB962C8B-B14F-4D97-AF65-F5344CB8AC3E}">
        <p14:creationId xmlns:p14="http://schemas.microsoft.com/office/powerpoint/2010/main" val="1392121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Cylindrical ferrule connectors</a:t>
            </a:r>
            <a:endParaRPr lang="en-US" sz="36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724400"/>
          </a:xfrm>
        </p:spPr>
        <p:txBody>
          <a:bodyPr>
            <a:normAutofit/>
          </a:bodyPr>
          <a:lstStyle/>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38</a:t>
            </a:fld>
            <a:endParaRPr kumimoji="0"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852" y="1371600"/>
            <a:ext cx="5619750"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6214403"/>
            <a:ext cx="66103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41733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Cylindrical ferrule connectors</a:t>
            </a:r>
            <a:endParaRPr lang="en-US" sz="36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a:latin typeface="Times New Roman" pitchFamily="18" charset="0"/>
                <a:cs typeface="Times New Roman" pitchFamily="18" charset="0"/>
              </a:rPr>
              <a:t>Some ferrule connectors have incorporated a watch jewel in the ferrule end face in order to have fiber alignment accuracy </a:t>
            </a:r>
          </a:p>
          <a:p>
            <a:r>
              <a:rPr lang="en-US" sz="2000" dirty="0">
                <a:latin typeface="Times New Roman" pitchFamily="18" charset="0"/>
                <a:cs typeface="Times New Roman" pitchFamily="18" charset="0"/>
              </a:rPr>
              <a:t>In this case the fiber is centered with respect to the ferrule through the watch jewel hole. </a:t>
            </a:r>
          </a:p>
          <a:p>
            <a:r>
              <a:rPr lang="en-US" sz="2000" dirty="0">
                <a:latin typeface="Times New Roman" pitchFamily="18" charset="0"/>
                <a:cs typeface="Times New Roman" pitchFamily="18" charset="0"/>
              </a:rPr>
              <a:t>The use of watch jewel allows close diameter and tolerance requirements of the ferrule end face hole to be obtained more easily than simply through drilling of metallic ferrule end face alone.</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39</a:t>
            </a:fld>
            <a:endParaRPr kumimoji="0" lang="en-US"/>
          </a:p>
        </p:txBody>
      </p:sp>
    </p:spTree>
    <p:extLst>
      <p:ext uri="{BB962C8B-B14F-4D97-AF65-F5344CB8AC3E}">
        <p14:creationId xmlns:p14="http://schemas.microsoft.com/office/powerpoint/2010/main" val="3543222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 Duplex and multiple-fiber connectors</a:t>
            </a:r>
            <a:endParaRPr lang="en-US" sz="36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a:latin typeface="Times New Roman" pitchFamily="18" charset="0"/>
                <a:cs typeface="Times New Roman" pitchFamily="18" charset="0"/>
              </a:rPr>
              <a:t>A number of duplex fiber connector designs were developed in order to provide two-way communication</a:t>
            </a:r>
          </a:p>
          <a:p>
            <a:r>
              <a:rPr lang="en-US" sz="2000" dirty="0">
                <a:latin typeface="Times New Roman" pitchFamily="18" charset="0"/>
                <a:cs typeface="Times New Roman" pitchFamily="18" charset="0"/>
              </a:rPr>
              <a:t>AT&amp;T produced a duplex version of the ST single-fiber connector </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40</a:t>
            </a:fld>
            <a:endParaRPr kumimoji="0"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271" y="3262822"/>
            <a:ext cx="4134729" cy="2976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2883" y="3510788"/>
            <a:ext cx="3201793" cy="2480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6268027"/>
            <a:ext cx="65532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8311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 Duplex and multiple-fiber connectors</a:t>
            </a:r>
            <a:endParaRPr lang="en-US" sz="36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force needed </a:t>
            </a:r>
            <a:r>
              <a:rPr lang="en-US" sz="2000" dirty="0">
                <a:latin typeface="Times New Roman" pitchFamily="18" charset="0"/>
                <a:cs typeface="Times New Roman" pitchFamily="18" charset="0"/>
              </a:rPr>
              <a:t>to insert multiple cylindrical ferrules can be </a:t>
            </a:r>
            <a:r>
              <a:rPr lang="en-US" sz="2000" b="1" dirty="0">
                <a:latin typeface="Times New Roman" pitchFamily="18" charset="0"/>
                <a:cs typeface="Times New Roman" pitchFamily="18" charset="0"/>
              </a:rPr>
              <a:t>large</a:t>
            </a:r>
          </a:p>
          <a:p>
            <a:r>
              <a:rPr lang="en-US" sz="2000" dirty="0">
                <a:latin typeface="Times New Roman" pitchFamily="18" charset="0"/>
                <a:cs typeface="Times New Roman" pitchFamily="18" charset="0"/>
              </a:rPr>
              <a:t>In this case </a:t>
            </a:r>
            <a:r>
              <a:rPr lang="en-US" sz="2000" b="1" dirty="0">
                <a:latin typeface="Times New Roman" pitchFamily="18" charset="0"/>
                <a:cs typeface="Times New Roman" pitchFamily="18" charset="0"/>
              </a:rPr>
              <a:t>multiple </a:t>
            </a:r>
            <a:r>
              <a:rPr lang="en-US" sz="2000" b="1" dirty="0" err="1">
                <a:latin typeface="Times New Roman" pitchFamily="18" charset="0"/>
                <a:cs typeface="Times New Roman" pitchFamily="18" charset="0"/>
              </a:rPr>
              <a:t>biconical</a:t>
            </a:r>
            <a:r>
              <a:rPr lang="en-US" sz="2000" b="1" dirty="0">
                <a:latin typeface="Times New Roman" pitchFamily="18" charset="0"/>
                <a:cs typeface="Times New Roman" pitchFamily="18" charset="0"/>
              </a:rPr>
              <a:t> ferrule </a:t>
            </a:r>
            <a:r>
              <a:rPr lang="en-US" sz="2000" dirty="0">
                <a:latin typeface="Times New Roman" pitchFamily="18" charset="0"/>
                <a:cs typeface="Times New Roman" pitchFamily="18" charset="0"/>
              </a:rPr>
              <a:t>connectors prove advantageous due to the </a:t>
            </a:r>
            <a:r>
              <a:rPr lang="en-US" sz="2000" b="1" dirty="0">
                <a:latin typeface="Times New Roman" pitchFamily="18" charset="0"/>
                <a:cs typeface="Times New Roman" pitchFamily="18" charset="0"/>
              </a:rPr>
              <a:t>low insertion force </a:t>
            </a:r>
            <a:r>
              <a:rPr lang="en-US" sz="2000" dirty="0">
                <a:latin typeface="Times New Roman" pitchFamily="18" charset="0"/>
                <a:cs typeface="Times New Roman" pitchFamily="18" charset="0"/>
              </a:rPr>
              <a:t>of the </a:t>
            </a:r>
            <a:r>
              <a:rPr lang="en-US" sz="2000" dirty="0" err="1">
                <a:latin typeface="Times New Roman" pitchFamily="18" charset="0"/>
                <a:cs typeface="Times New Roman" pitchFamily="18" charset="0"/>
              </a:rPr>
              <a:t>biconic</a:t>
            </a:r>
            <a:r>
              <a:rPr lang="en-US" sz="2000" dirty="0">
                <a:latin typeface="Times New Roman" pitchFamily="18" charset="0"/>
                <a:cs typeface="Times New Roman" pitchFamily="18" charset="0"/>
              </a:rPr>
              <a:t> configuration.</a:t>
            </a:r>
          </a:p>
          <a:p>
            <a:r>
              <a:rPr lang="en-US" sz="2000" b="1" dirty="0">
                <a:latin typeface="Times New Roman" pitchFamily="18" charset="0"/>
                <a:cs typeface="Times New Roman" pitchFamily="18" charset="0"/>
              </a:rPr>
              <a:t>Silicon chip arrays </a:t>
            </a:r>
            <a:r>
              <a:rPr lang="en-US" sz="2000" dirty="0">
                <a:latin typeface="Times New Roman" pitchFamily="18" charset="0"/>
                <a:cs typeface="Times New Roman" pitchFamily="18" charset="0"/>
              </a:rPr>
              <a:t>were suggested for the jointing of </a:t>
            </a:r>
            <a:r>
              <a:rPr lang="en-US" sz="2000" b="1" dirty="0">
                <a:latin typeface="Times New Roman" pitchFamily="18" charset="0"/>
                <a:cs typeface="Times New Roman" pitchFamily="18" charset="0"/>
              </a:rPr>
              <a:t>fiber ribbon </a:t>
            </a:r>
            <a:r>
              <a:rPr lang="en-US" sz="2000" dirty="0">
                <a:latin typeface="Times New Roman" pitchFamily="18" charset="0"/>
                <a:cs typeface="Times New Roman" pitchFamily="18" charset="0"/>
              </a:rPr>
              <a:t>cable for many years and difficulties were experienced</a:t>
            </a:r>
          </a:p>
          <a:p>
            <a:r>
              <a:rPr lang="en-US" sz="2000" dirty="0">
                <a:latin typeface="Times New Roman" pitchFamily="18" charset="0"/>
                <a:cs typeface="Times New Roman" pitchFamily="18" charset="0"/>
              </a:rPr>
              <a:t>problems were then largely overcome by the multiple-connector design shown in </a:t>
            </a:r>
            <a:r>
              <a:rPr lang="en-US" sz="2000" dirty="0" err="1">
                <a:latin typeface="Times New Roman" pitchFamily="18" charset="0"/>
                <a:cs typeface="Times New Roman" pitchFamily="18" charset="0"/>
              </a:rPr>
              <a:t>priviouse</a:t>
            </a:r>
            <a:r>
              <a:rPr lang="en-US" sz="2000" dirty="0">
                <a:latin typeface="Times New Roman" pitchFamily="18" charset="0"/>
                <a:cs typeface="Times New Roman" pitchFamily="18" charset="0"/>
              </a:rPr>
              <a:t> Figure 5.19(a) </a:t>
            </a:r>
          </a:p>
          <a:p>
            <a:r>
              <a:rPr lang="en-US" sz="2000" dirty="0">
                <a:latin typeface="Times New Roman" pitchFamily="18" charset="0"/>
                <a:cs typeface="Times New Roman" pitchFamily="18" charset="0"/>
              </a:rPr>
              <a:t>The fiber connections were then accomplished by </a:t>
            </a:r>
            <a:r>
              <a:rPr lang="en-US" sz="2000" b="1" dirty="0">
                <a:latin typeface="Times New Roman" pitchFamily="18" charset="0"/>
                <a:cs typeface="Times New Roman" pitchFamily="18" charset="0"/>
              </a:rPr>
              <a:t>butt jointing </a:t>
            </a:r>
            <a:r>
              <a:rPr lang="en-US" sz="2000" dirty="0">
                <a:latin typeface="Times New Roman" pitchFamily="18" charset="0"/>
                <a:cs typeface="Times New Roman" pitchFamily="18" charset="0"/>
              </a:rPr>
              <a:t>the two pairs of guiding rods in the </a:t>
            </a:r>
            <a:r>
              <a:rPr lang="en-US" sz="2000" dirty="0" err="1">
                <a:latin typeface="Times New Roman" pitchFamily="18" charset="0"/>
                <a:cs typeface="Times New Roman" pitchFamily="18" charset="0"/>
              </a:rPr>
              <a:t>slitted</a:t>
            </a:r>
            <a:r>
              <a:rPr lang="en-US" sz="2000" dirty="0">
                <a:latin typeface="Times New Roman" pitchFamily="18" charset="0"/>
                <a:cs typeface="Times New Roman" pitchFamily="18" charset="0"/>
              </a:rPr>
              <a:t> sleeves located in the adaptor, also illustrated in Figure 5.19(b). </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41</a:t>
            </a:fld>
            <a:endParaRPr kumimoji="0" lang="en-US"/>
          </a:p>
        </p:txBody>
      </p:sp>
    </p:spTree>
    <p:extLst>
      <p:ext uri="{BB962C8B-B14F-4D97-AF65-F5344CB8AC3E}">
        <p14:creationId xmlns:p14="http://schemas.microsoft.com/office/powerpoint/2010/main" val="26692145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42</a:t>
            </a:fld>
            <a:endParaRPr kumimoji="0" lang="en-US"/>
          </a:p>
        </p:txBody>
      </p:sp>
      <p:pic>
        <p:nvPicPr>
          <p:cNvPr id="6" name="Picture 5"/>
          <p:cNvPicPr>
            <a:picLocks noChangeAspect="1"/>
          </p:cNvPicPr>
          <p:nvPr/>
        </p:nvPicPr>
        <p:blipFill>
          <a:blip r:embed="rId2"/>
          <a:stretch>
            <a:fillRect/>
          </a:stretch>
        </p:blipFill>
        <p:spPr>
          <a:xfrm>
            <a:off x="457200" y="1027664"/>
            <a:ext cx="8077054" cy="5353396"/>
          </a:xfrm>
          <a:prstGeom prst="rect">
            <a:avLst/>
          </a:prstGeom>
        </p:spPr>
      </p:pic>
    </p:spTree>
    <p:extLst>
      <p:ext uri="{BB962C8B-B14F-4D97-AF65-F5344CB8AC3E}">
        <p14:creationId xmlns:p14="http://schemas.microsoft.com/office/powerpoint/2010/main" val="21817791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 Fiber connector-type summary</a:t>
            </a:r>
            <a:endParaRPr lang="en-US" sz="36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724400"/>
          </a:xfrm>
        </p:spPr>
        <p:txBody>
          <a:bodyPr>
            <a:normAutofit/>
          </a:bodyPr>
          <a:lstStyle/>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43</a:t>
            </a:fld>
            <a:endParaRPr kumimoji="0"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360445"/>
            <a:ext cx="5629275" cy="5471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94383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 Fiber connector-type summary</a:t>
            </a:r>
            <a:endParaRPr lang="en-US" sz="36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724400"/>
          </a:xfrm>
        </p:spPr>
        <p:txBody>
          <a:bodyPr>
            <a:normAutofit/>
          </a:bodyPr>
          <a:lstStyle/>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44</a:t>
            </a:fld>
            <a:endParaRPr kumimoji="0"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686" y="1425526"/>
            <a:ext cx="5819775"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812" y="2311351"/>
            <a:ext cx="5791200" cy="394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200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45</a:t>
            </a:fld>
            <a:endParaRPr kumimoji="0" lang="en-US"/>
          </a:p>
        </p:txBody>
      </p:sp>
      <p:pic>
        <p:nvPicPr>
          <p:cNvPr id="6" name="Picture 5"/>
          <p:cNvPicPr>
            <a:picLocks noChangeAspect="1"/>
          </p:cNvPicPr>
          <p:nvPr/>
        </p:nvPicPr>
        <p:blipFill>
          <a:blip r:embed="rId2"/>
          <a:stretch>
            <a:fillRect/>
          </a:stretch>
        </p:blipFill>
        <p:spPr>
          <a:xfrm>
            <a:off x="1043490" y="1027664"/>
            <a:ext cx="6881310" cy="5094496"/>
          </a:xfrm>
          <a:prstGeom prst="rect">
            <a:avLst/>
          </a:prstGeom>
        </p:spPr>
      </p:pic>
    </p:spTree>
    <p:extLst>
      <p:ext uri="{BB962C8B-B14F-4D97-AF65-F5344CB8AC3E}">
        <p14:creationId xmlns:p14="http://schemas.microsoft.com/office/powerpoint/2010/main" val="3186018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46</a:t>
            </a:fld>
            <a:endParaRPr kumimoji="0" lang="en-US"/>
          </a:p>
        </p:txBody>
      </p:sp>
      <p:pic>
        <p:nvPicPr>
          <p:cNvPr id="6" name="Picture 5"/>
          <p:cNvPicPr>
            <a:picLocks noChangeAspect="1"/>
          </p:cNvPicPr>
          <p:nvPr/>
        </p:nvPicPr>
        <p:blipFill>
          <a:blip r:embed="rId2"/>
          <a:stretch>
            <a:fillRect/>
          </a:stretch>
        </p:blipFill>
        <p:spPr>
          <a:xfrm>
            <a:off x="459757" y="1219200"/>
            <a:ext cx="8192210" cy="4267200"/>
          </a:xfrm>
          <a:prstGeom prst="rect">
            <a:avLst/>
          </a:prstGeom>
        </p:spPr>
      </p:pic>
    </p:spTree>
    <p:extLst>
      <p:ext uri="{BB962C8B-B14F-4D97-AF65-F5344CB8AC3E}">
        <p14:creationId xmlns:p14="http://schemas.microsoft.com/office/powerpoint/2010/main" val="15125045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 Expanded beam connectors</a:t>
            </a:r>
            <a:endParaRPr lang="en-US" sz="3600" dirty="0">
              <a:solidFill>
                <a:srgbClr val="0070C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47</a:t>
            </a:fld>
            <a:endParaRPr kumimoji="0" lang="en-US"/>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09825"/>
            <a:ext cx="5829300" cy="444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7340" y="1371600"/>
            <a:ext cx="4451491" cy="1406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07436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990600"/>
          </a:xfrm>
        </p:spPr>
        <p:txBody>
          <a:bodyPr>
            <a:normAutofit fontScale="90000"/>
          </a:bodyPr>
          <a:lstStyle/>
          <a:p>
            <a:r>
              <a:rPr lang="en-US" dirty="0">
                <a:latin typeface="Times New Roman" pitchFamily="18" charset="0"/>
                <a:cs typeface="Times New Roman" pitchFamily="18" charset="0"/>
              </a:rPr>
              <a:t>Fiber Connectors</a:t>
            </a:r>
            <a:br>
              <a:rPr lang="en-US" sz="3600" dirty="0">
                <a:latin typeface="Times New Roman" pitchFamily="18" charset="0"/>
                <a:cs typeface="Times New Roman" pitchFamily="18" charset="0"/>
              </a:rPr>
            </a:br>
            <a:r>
              <a:rPr lang="en-US" sz="2700" b="1" dirty="0">
                <a:solidFill>
                  <a:srgbClr val="0070C0"/>
                </a:solidFill>
                <a:latin typeface="Times New Roman" pitchFamily="18" charset="0"/>
                <a:cs typeface="Times New Roman" pitchFamily="18" charset="0"/>
              </a:rPr>
              <a:t> Expanded beam connectors</a:t>
            </a:r>
            <a:endParaRPr lang="en-US" sz="3600" dirty="0">
              <a:solidFill>
                <a:srgbClr val="0070C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48</a:t>
            </a:fld>
            <a:endParaRPr kumimoji="0"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3733800"/>
            <a:ext cx="5486400" cy="2038350"/>
          </a:xfrm>
          <a:prstGeom prst="rect">
            <a:avLst/>
          </a:prstGeom>
        </p:spPr>
      </p:pic>
      <p:sp>
        <p:nvSpPr>
          <p:cNvPr id="8" name="Content Placeholder 2"/>
          <p:cNvSpPr>
            <a:spLocks noGrp="1"/>
          </p:cNvSpPr>
          <p:nvPr>
            <p:ph idx="1"/>
          </p:nvPr>
        </p:nvSpPr>
        <p:spPr>
          <a:xfrm>
            <a:off x="457200" y="1600200"/>
            <a:ext cx="8229600" cy="4724400"/>
          </a:xfrm>
        </p:spPr>
        <p:txBody>
          <a:bodyPr>
            <a:normAutofit/>
          </a:bodyPr>
          <a:lstStyle/>
          <a:p>
            <a:r>
              <a:rPr lang="en-US" sz="2000" dirty="0">
                <a:latin typeface="Times New Roman" pitchFamily="18" charset="0"/>
                <a:cs typeface="Times New Roman" pitchFamily="18" charset="0"/>
              </a:rPr>
              <a:t>An alternative to connection via direct butt joints between optical fibers is offered by the principle of the expanded beam</a:t>
            </a:r>
          </a:p>
          <a:p>
            <a:r>
              <a:rPr lang="en-US" sz="2000" dirty="0">
                <a:latin typeface="Times New Roman" pitchFamily="18" charset="0"/>
                <a:cs typeface="Times New Roman" pitchFamily="18" charset="0"/>
              </a:rPr>
              <a:t>a connector consisting of two lenses for collimating and refocusing the light from one fiber into the other. </a:t>
            </a:r>
          </a:p>
          <a:p>
            <a:r>
              <a:rPr lang="en-US" sz="2000" dirty="0">
                <a:latin typeface="Times New Roman" pitchFamily="18" charset="0"/>
                <a:cs typeface="Times New Roman" pitchFamily="18" charset="0"/>
              </a:rPr>
              <a:t>The use of these interposed optics makes the achievement of lateral alignment much less critical than with a butt-jointed fiber connector.</a:t>
            </a:r>
          </a:p>
        </p:txBody>
      </p:sp>
    </p:spTree>
    <p:extLst>
      <p:ext uri="{BB962C8B-B14F-4D97-AF65-F5344CB8AC3E}">
        <p14:creationId xmlns:p14="http://schemas.microsoft.com/office/powerpoint/2010/main" val="2643717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p>
        </p:txBody>
      </p:sp>
      <p:sp>
        <p:nvSpPr>
          <p:cNvPr id="3" name="Content Placeholder 2"/>
          <p:cNvSpPr>
            <a:spLocks noGrp="1"/>
          </p:cNvSpPr>
          <p:nvPr>
            <p:ph idx="1"/>
          </p:nvPr>
        </p:nvSpPr>
        <p:spPr>
          <a:xfrm>
            <a:off x="457200" y="1676400"/>
            <a:ext cx="8229600" cy="4419600"/>
          </a:xfrm>
        </p:spPr>
        <p:txBody>
          <a:bodyPr>
            <a:normAutofit fontScale="92500" lnSpcReduction="10000"/>
          </a:bodyPr>
          <a:lstStyle/>
          <a:p>
            <a:r>
              <a:rPr lang="en-US" dirty="0">
                <a:latin typeface="Times New Roman" pitchFamily="18" charset="0"/>
                <a:cs typeface="Times New Roman" pitchFamily="18" charset="0"/>
              </a:rPr>
              <a:t>Fiber Couplers are branching devices that split all the light from a  main fiber into two or more fibers </a:t>
            </a:r>
          </a:p>
          <a:p>
            <a:r>
              <a:rPr lang="en-US" dirty="0">
                <a:latin typeface="Times New Roman" pitchFamily="18" charset="0"/>
                <a:cs typeface="Times New Roman" pitchFamily="18" charset="0"/>
              </a:rPr>
              <a:t>Alternately couple a proportion of light propagating in the main fiber into a branch fiber</a:t>
            </a:r>
          </a:p>
          <a:p>
            <a:r>
              <a:rPr lang="en-US" dirty="0">
                <a:latin typeface="Times New Roman" pitchFamily="18" charset="0"/>
                <a:cs typeface="Times New Roman" pitchFamily="18" charset="0"/>
              </a:rPr>
              <a:t>they can combine light from two or more branch fibers into a main fiber </a:t>
            </a:r>
          </a:p>
          <a:p>
            <a:r>
              <a:rPr lang="en-US" dirty="0">
                <a:latin typeface="Times New Roman" pitchFamily="18" charset="0"/>
                <a:cs typeface="Times New Roman" pitchFamily="18" charset="0"/>
              </a:rPr>
              <a:t>Optical fiber couplers are passive devices in which power transfer takes place in two ways:</a:t>
            </a:r>
          </a:p>
          <a:p>
            <a:pPr marL="365760" lvl="1" indent="0">
              <a:buNone/>
            </a:pPr>
            <a:r>
              <a:rPr lang="en-US" dirty="0">
                <a:latin typeface="Times New Roman" pitchFamily="18" charset="0"/>
                <a:cs typeface="Times New Roman" pitchFamily="18" charset="0"/>
              </a:rPr>
              <a:t>(i) </a:t>
            </a:r>
            <a:r>
              <a:rPr lang="en-US" b="1" dirty="0">
                <a:latin typeface="Times New Roman" pitchFamily="18" charset="0"/>
                <a:cs typeface="Times New Roman" pitchFamily="18" charset="0"/>
              </a:rPr>
              <a:t>Core-interaction type</a:t>
            </a:r>
            <a:r>
              <a:rPr lang="en-US" dirty="0">
                <a:latin typeface="Times New Roman" pitchFamily="18" charset="0"/>
                <a:cs typeface="Times New Roman" pitchFamily="18" charset="0"/>
              </a:rPr>
              <a:t>: through fiber core cross-section by butt jointing the fibers</a:t>
            </a:r>
          </a:p>
          <a:p>
            <a:pPr marL="365760" lvl="1" indent="0">
              <a:buNone/>
            </a:pPr>
            <a:r>
              <a:rPr lang="en-US" dirty="0">
                <a:latin typeface="Times New Roman" pitchFamily="18" charset="0"/>
                <a:cs typeface="Times New Roman" pitchFamily="18" charset="0"/>
              </a:rPr>
              <a:t>(ii) </a:t>
            </a:r>
            <a:r>
              <a:rPr lang="en-US" b="1" dirty="0">
                <a:latin typeface="Times New Roman" pitchFamily="18" charset="0"/>
                <a:cs typeface="Times New Roman" pitchFamily="18" charset="0"/>
              </a:rPr>
              <a:t>Surface-interaction type</a:t>
            </a:r>
            <a:r>
              <a:rPr lang="en-US" dirty="0">
                <a:latin typeface="Times New Roman" pitchFamily="18" charset="0"/>
                <a:cs typeface="Times New Roman" pitchFamily="18" charset="0"/>
              </a:rPr>
              <a:t>: through fiber surface and normal to its axis by converting the guided core modes to both cladding and refracted modes</a:t>
            </a:r>
            <a:br>
              <a:rPr lang="en-US" dirty="0"/>
            </a:b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49</a:t>
            </a:fld>
            <a:endParaRPr kumimoji="0"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p>
        </p:txBody>
      </p:sp>
      <p:sp>
        <p:nvSpPr>
          <p:cNvPr id="3" name="Content Placeholder 2"/>
          <p:cNvSpPr>
            <a:spLocks noGrp="1"/>
          </p:cNvSpPr>
          <p:nvPr>
            <p:ph idx="1"/>
          </p:nvPr>
        </p:nvSpPr>
        <p:spPr>
          <a:xfrm>
            <a:off x="457200" y="1676400"/>
            <a:ext cx="8229600" cy="4419600"/>
          </a:xfrm>
        </p:spPr>
        <p:txBody>
          <a:bodyPr>
            <a:normAutofit/>
          </a:bodyPr>
          <a:lstStyle/>
          <a:p>
            <a:br>
              <a:rPr lang="en-US" dirty="0"/>
            </a:b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50</a:t>
            </a:fld>
            <a:endParaRPr kumimoji="0"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799" y="2514600"/>
            <a:ext cx="6113741"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2933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br>
              <a:rPr lang="en-US" sz="3600" dirty="0">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Optical Fiber Coupler Types</a:t>
            </a:r>
          </a:p>
        </p:txBody>
      </p:sp>
      <p:sp>
        <p:nvSpPr>
          <p:cNvPr id="3" name="Content Placeholder 2"/>
          <p:cNvSpPr>
            <a:spLocks noGrp="1"/>
          </p:cNvSpPr>
          <p:nvPr>
            <p:ph idx="1"/>
          </p:nvPr>
        </p:nvSpPr>
        <p:spPr>
          <a:xfrm>
            <a:off x="457200" y="1676400"/>
            <a:ext cx="8229600" cy="4419600"/>
          </a:xfrm>
        </p:spPr>
        <p:txBody>
          <a:bodyPr/>
          <a:lstStyle/>
          <a:p>
            <a:pPr marL="68580" indent="0">
              <a:buNone/>
            </a:pPr>
            <a:br>
              <a:rPr lang="en-US" dirty="0"/>
            </a:b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51</a:t>
            </a:fld>
            <a:endParaRPr kumimoji="0"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366" y="3158196"/>
            <a:ext cx="4052134" cy="330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8500" y="3124199"/>
            <a:ext cx="4116754" cy="330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536" y="1752600"/>
            <a:ext cx="775192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14656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br>
              <a:rPr lang="en-US" sz="3600" dirty="0">
                <a:latin typeface="Times New Roman" pitchFamily="18" charset="0"/>
                <a:cs typeface="Times New Roman" pitchFamily="18" charset="0"/>
              </a:rPr>
            </a:br>
            <a:r>
              <a:rPr lang="en-US" sz="2800" b="1" dirty="0">
                <a:solidFill>
                  <a:srgbClr val="0070C0"/>
                </a:solidFill>
                <a:latin typeface="Times New Roman" pitchFamily="18" charset="0"/>
                <a:cs typeface="Times New Roman" pitchFamily="18" charset="0"/>
              </a:rPr>
              <a:t>Functions of Multiport Couplers</a:t>
            </a:r>
            <a:endParaRPr lang="en-US" sz="3600"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76400"/>
            <a:ext cx="8229600" cy="4419600"/>
          </a:xfrm>
        </p:spPr>
        <p:txBody>
          <a:bodyPr>
            <a:normAutofit fontScale="92500"/>
          </a:bodyPr>
          <a:lstStyle/>
          <a:p>
            <a:r>
              <a:rPr lang="en-US" dirty="0">
                <a:latin typeface="Times New Roman" pitchFamily="18" charset="0"/>
                <a:cs typeface="Times New Roman" pitchFamily="18" charset="0"/>
              </a:rPr>
              <a:t>1. Three- (a) and four-port* (b) couplers, which are used for signal splitting, distribution and combining.</a:t>
            </a:r>
          </a:p>
          <a:p>
            <a:r>
              <a:rPr lang="en-US" dirty="0">
                <a:latin typeface="Times New Roman" pitchFamily="18" charset="0"/>
                <a:cs typeface="Times New Roman" pitchFamily="18" charset="0"/>
              </a:rPr>
              <a:t>2. Star couplers (c), which are generally used for distributing a single input signal to multiple outputs.</a:t>
            </a:r>
          </a:p>
          <a:p>
            <a:r>
              <a:rPr lang="en-US" dirty="0">
                <a:latin typeface="Times New Roman" pitchFamily="18" charset="0"/>
                <a:cs typeface="Times New Roman" pitchFamily="18" charset="0"/>
              </a:rPr>
              <a:t>3. Wavelength division multiplexing (WDM) devices, which are a specialized form of coupler designed to permit a number of different </a:t>
            </a:r>
            <a:r>
              <a:rPr lang="en-US" b="1" dirty="0">
                <a:latin typeface="Times New Roman" pitchFamily="18" charset="0"/>
                <a:cs typeface="Times New Roman" pitchFamily="18" charset="0"/>
              </a:rPr>
              <a:t>peak wavelength </a:t>
            </a:r>
            <a:r>
              <a:rPr lang="en-US" dirty="0">
                <a:latin typeface="Times New Roman" pitchFamily="18" charset="0"/>
                <a:cs typeface="Times New Roman" pitchFamily="18" charset="0"/>
              </a:rPr>
              <a:t>optical signals to be transmitted in parallel on a single fiber (see Section 12.9.4). In this context WDM couplers either </a:t>
            </a:r>
            <a:r>
              <a:rPr lang="en-US" b="1" dirty="0">
                <a:latin typeface="Times New Roman" pitchFamily="18" charset="0"/>
                <a:cs typeface="Times New Roman" pitchFamily="18" charset="0"/>
              </a:rPr>
              <a:t>combine the different wavelength </a:t>
            </a:r>
            <a:r>
              <a:rPr lang="en-US" dirty="0">
                <a:latin typeface="Times New Roman" pitchFamily="18" charset="0"/>
                <a:cs typeface="Times New Roman" pitchFamily="18" charset="0"/>
              </a:rPr>
              <a:t>optical signal onto the fiber (i.e. multiplex) or </a:t>
            </a:r>
            <a:r>
              <a:rPr lang="en-US" b="1" dirty="0">
                <a:latin typeface="Times New Roman" pitchFamily="18" charset="0"/>
                <a:cs typeface="Times New Roman" pitchFamily="18" charset="0"/>
              </a:rPr>
              <a:t>separate the different </a:t>
            </a:r>
            <a:r>
              <a:rPr lang="en-US" dirty="0">
                <a:latin typeface="Times New Roman" pitchFamily="18" charset="0"/>
                <a:cs typeface="Times New Roman" pitchFamily="18" charset="0"/>
              </a:rPr>
              <a:t>wavelength optical signals output from the fiber (i.e. </a:t>
            </a:r>
            <a:r>
              <a:rPr lang="en-US" dirty="0" err="1">
                <a:latin typeface="Times New Roman" pitchFamily="18" charset="0"/>
                <a:cs typeface="Times New Roman" pitchFamily="18" charset="0"/>
              </a:rPr>
              <a:t>demultiplex</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52</a:t>
            </a:fld>
            <a:endParaRPr kumimoji="0" lang="en-US"/>
          </a:p>
        </p:txBody>
      </p:sp>
    </p:spTree>
    <p:extLst>
      <p:ext uri="{BB962C8B-B14F-4D97-AF65-F5344CB8AC3E}">
        <p14:creationId xmlns:p14="http://schemas.microsoft.com/office/powerpoint/2010/main" val="26641831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br>
              <a:rPr lang="en-US" sz="3600" dirty="0">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Three- and four-port couplers</a:t>
            </a:r>
          </a:p>
        </p:txBody>
      </p:sp>
      <p:sp>
        <p:nvSpPr>
          <p:cNvPr id="3" name="Content Placeholder 2"/>
          <p:cNvSpPr>
            <a:spLocks noGrp="1"/>
          </p:cNvSpPr>
          <p:nvPr>
            <p:ph idx="1"/>
          </p:nvPr>
        </p:nvSpPr>
        <p:spPr>
          <a:xfrm>
            <a:off x="457200" y="1676400"/>
            <a:ext cx="8229600" cy="4419600"/>
          </a:xfrm>
        </p:spPr>
        <p:txBody>
          <a:bodyPr/>
          <a:lstStyle/>
          <a:p>
            <a:r>
              <a:rPr lang="en-US" sz="2000" dirty="0">
                <a:latin typeface="Times New Roman" pitchFamily="18" charset="0"/>
                <a:cs typeface="Times New Roman" pitchFamily="18" charset="0"/>
              </a:rPr>
              <a:t>(a) Lateral Offset Method: </a:t>
            </a:r>
          </a:p>
          <a:p>
            <a:pPr marL="68580" indent="0">
              <a:buNone/>
            </a:pPr>
            <a:r>
              <a:rPr lang="en-US" sz="2000" dirty="0">
                <a:latin typeface="Times New Roman" pitchFamily="18" charset="0"/>
                <a:cs typeface="Times New Roman" pitchFamily="18" charset="0"/>
              </a:rPr>
              <a:t>-Fiber end faces are overlapped, Light from input fiber is coupled to output fibers according to degree of overlap.</a:t>
            </a:r>
          </a:p>
          <a:p>
            <a:pPr marL="68580" indent="0">
              <a:buNone/>
            </a:pPr>
            <a:r>
              <a:rPr lang="en-US" sz="2000" dirty="0">
                <a:latin typeface="Times New Roman" pitchFamily="18" charset="0"/>
                <a:cs typeface="Times New Roman" pitchFamily="18" charset="0"/>
              </a:rPr>
              <a:t>-Input power can be distributed in a well defined proportion by appropriate control of lateral offset between fibers. </a:t>
            </a:r>
          </a:p>
          <a:p>
            <a:pPr marL="68580" indent="0">
              <a:buNone/>
            </a:pPr>
            <a:r>
              <a:rPr lang="en-US" sz="2000" dirty="0">
                <a:latin typeface="Times New Roman" pitchFamily="18" charset="0"/>
                <a:cs typeface="Times New Roman" pitchFamily="18" charset="0"/>
              </a:rPr>
              <a:t>-Suitable for multimode fibers but with high excess loss.</a:t>
            </a:r>
            <a:br>
              <a:rPr lang="en-US" dirty="0"/>
            </a:br>
            <a:endParaRPr lang="en-US" dirty="0"/>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53</a:t>
            </a:fld>
            <a:endParaRPr kumimoji="0"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114800"/>
            <a:ext cx="4562764"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20428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br>
              <a:rPr lang="en-US" sz="3600" dirty="0">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Three- and four-port couplers</a:t>
            </a:r>
          </a:p>
        </p:txBody>
      </p:sp>
      <p:sp>
        <p:nvSpPr>
          <p:cNvPr id="3" name="Content Placeholder 2"/>
          <p:cNvSpPr>
            <a:spLocks noGrp="1"/>
          </p:cNvSpPr>
          <p:nvPr>
            <p:ph idx="1"/>
          </p:nvPr>
        </p:nvSpPr>
        <p:spPr>
          <a:xfrm>
            <a:off x="457200" y="1676400"/>
            <a:ext cx="8229600" cy="4419600"/>
          </a:xfrm>
        </p:spPr>
        <p:txBody>
          <a:bodyPr>
            <a:normAutofit/>
          </a:bodyPr>
          <a:lstStyle/>
          <a:p>
            <a:r>
              <a:rPr lang="en-US" sz="2000" dirty="0">
                <a:latin typeface="Times New Roman" pitchFamily="18" charset="0"/>
                <a:cs typeface="Times New Roman" pitchFamily="18" charset="0"/>
              </a:rPr>
              <a:t>(b) Semitransparent Mirror Method:</a:t>
            </a:r>
          </a:p>
          <a:p>
            <a:pPr marL="68580" indent="0">
              <a:buNone/>
            </a:pPr>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beam splitter </a:t>
            </a:r>
            <a:r>
              <a:rPr lang="en-US" sz="2000" dirty="0">
                <a:latin typeface="Times New Roman" pitchFamily="18" charset="0"/>
                <a:cs typeface="Times New Roman" pitchFamily="18" charset="0"/>
              </a:rPr>
              <a:t>element between the fibers; A partially reflecting surface is placed to the end face cut at an </a:t>
            </a:r>
            <a:r>
              <a:rPr lang="en-US" sz="2000" b="1" dirty="0">
                <a:latin typeface="Times New Roman" pitchFamily="18" charset="0"/>
                <a:cs typeface="Times New Roman" pitchFamily="18" charset="0"/>
              </a:rPr>
              <a:t>angle 45</a:t>
            </a:r>
            <a:r>
              <a:rPr lang="en-US" sz="2000" b="1" baseline="30000" dirty="0">
                <a:latin typeface="Times New Roman" pitchFamily="18" charset="0"/>
                <a:cs typeface="Times New Roman" pitchFamily="18" charset="0"/>
              </a:rPr>
              <a:t>o</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to form a thin beam splitter </a:t>
            </a:r>
          </a:p>
          <a:p>
            <a:pPr marL="68580" indent="0">
              <a:buNone/>
            </a:pPr>
            <a:r>
              <a:rPr lang="en-US" sz="2000" dirty="0">
                <a:latin typeface="Times New Roman" pitchFamily="18" charset="0"/>
                <a:cs typeface="Times New Roman" pitchFamily="18" charset="0"/>
              </a:rPr>
              <a:t>-The input power may be split in any desired ratio between the reflected and transmitted beams</a:t>
            </a:r>
          </a:p>
          <a:p>
            <a:pPr marL="68580" indent="0">
              <a:buNone/>
            </a:pPr>
            <a:r>
              <a:rPr lang="en-US" sz="2000" dirty="0">
                <a:latin typeface="Times New Roman" pitchFamily="18" charset="0"/>
                <a:cs typeface="Times New Roman" pitchFamily="18" charset="0"/>
              </a:rPr>
              <a:t>- Typical excess loss: 1~2 dB, suitable for both MMF and SMF</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54</a:t>
            </a:fld>
            <a:endParaRPr kumimoji="0"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7189" y="3962400"/>
            <a:ext cx="3686175"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9280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br>
              <a:rPr lang="en-US" sz="3600" dirty="0">
                <a:latin typeface="Times New Roman" pitchFamily="18" charset="0"/>
                <a:cs typeface="Times New Roman" pitchFamily="18" charset="0"/>
              </a:rPr>
            </a:br>
            <a:r>
              <a:rPr lang="en-US" sz="2200" b="1" dirty="0">
                <a:solidFill>
                  <a:srgbClr val="0070C0"/>
                </a:solidFill>
                <a:latin typeface="Times New Roman" pitchFamily="18" charset="0"/>
                <a:cs typeface="Times New Roman" pitchFamily="18" charset="0"/>
              </a:rPr>
              <a:t>3-Port Coupler Based on Micro-optic Components</a:t>
            </a:r>
          </a:p>
        </p:txBody>
      </p:sp>
      <p:sp>
        <p:nvSpPr>
          <p:cNvPr id="3" name="Content Placeholder 2"/>
          <p:cNvSpPr>
            <a:spLocks noGrp="1"/>
          </p:cNvSpPr>
          <p:nvPr>
            <p:ph idx="1"/>
          </p:nvPr>
        </p:nvSpPr>
        <p:spPr>
          <a:xfrm>
            <a:off x="457200" y="1676400"/>
            <a:ext cx="8229600" cy="4419600"/>
          </a:xfrm>
        </p:spPr>
        <p:txBody>
          <a:bodyPr>
            <a:normAutofit/>
          </a:bodyPr>
          <a:lstStyle/>
          <a:p>
            <a:r>
              <a:rPr lang="en-US" sz="2000" dirty="0">
                <a:latin typeface="Times New Roman" pitchFamily="18" charset="0"/>
                <a:cs typeface="Times New Roman" pitchFamily="18" charset="0"/>
              </a:rPr>
              <a:t>Figure 5.29(a) shows the structure of a parallel surface type of GRIN-rod lens three port coupler which comprises </a:t>
            </a:r>
            <a:r>
              <a:rPr lang="en-US" sz="2000" b="1" dirty="0">
                <a:latin typeface="Times New Roman" pitchFamily="18" charset="0"/>
                <a:cs typeface="Times New Roman" pitchFamily="18" charset="0"/>
              </a:rPr>
              <a:t>two quarter pitch lenses </a:t>
            </a:r>
            <a:r>
              <a:rPr lang="en-US" sz="2000" dirty="0">
                <a:latin typeface="Times New Roman" pitchFamily="18" charset="0"/>
                <a:cs typeface="Times New Roman" pitchFamily="18" charset="0"/>
              </a:rPr>
              <a:t>with a </a:t>
            </a:r>
            <a:r>
              <a:rPr lang="en-US" sz="2000" b="1" dirty="0">
                <a:latin typeface="Times New Roman" pitchFamily="18" charset="0"/>
                <a:cs typeface="Times New Roman" pitchFamily="18" charset="0"/>
              </a:rPr>
              <a:t>semitransparent mirror </a:t>
            </a:r>
            <a:r>
              <a:rPr lang="en-US" sz="2000" dirty="0">
                <a:latin typeface="Times New Roman" pitchFamily="18" charset="0"/>
                <a:cs typeface="Times New Roman" pitchFamily="18" charset="0"/>
              </a:rPr>
              <a:t>in between.</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55</a:t>
            </a:fld>
            <a:endParaRPr kumimoji="0"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7364" y="2695575"/>
            <a:ext cx="4571165" cy="370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0475" y="6400800"/>
            <a:ext cx="5343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27182" y="2695575"/>
            <a:ext cx="3892293" cy="1292662"/>
          </a:xfrm>
          <a:prstGeom prst="rect">
            <a:avLst/>
          </a:prstGeom>
          <a:noFill/>
        </p:spPr>
        <p:txBody>
          <a:bodyPr wrap="square" rtlCol="0">
            <a:spAutoFit/>
          </a:bodyPr>
          <a:lstStyle/>
          <a:p>
            <a:pPr marL="342900" indent="-274320">
              <a:spcBef>
                <a:spcPct val="20000"/>
              </a:spcBef>
              <a:buClr>
                <a:schemeClr val="accent1"/>
              </a:buClr>
              <a:buSzPct val="76000"/>
              <a:buFont typeface="Wingdings 2" pitchFamily="18" charset="2"/>
              <a:buChar char=""/>
            </a:pPr>
            <a:r>
              <a:rPr lang="en-US" sz="2000" dirty="0">
                <a:solidFill>
                  <a:schemeClr val="tx2"/>
                </a:solidFill>
                <a:latin typeface="Times New Roman" pitchFamily="18" charset="0"/>
                <a:cs typeface="Times New Roman" pitchFamily="18" charset="0"/>
              </a:rPr>
              <a:t>The slant surface version of the similar coupler is shown in Figure 5.29(b).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50369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br>
              <a:rPr lang="en-US" sz="3600" dirty="0">
                <a:latin typeface="Times New Roman" pitchFamily="18" charset="0"/>
                <a:cs typeface="Times New Roman" pitchFamily="18" charset="0"/>
              </a:rPr>
            </a:br>
            <a:r>
              <a:rPr lang="en-US" sz="2200" b="1" dirty="0">
                <a:solidFill>
                  <a:srgbClr val="0070C0"/>
                </a:solidFill>
                <a:latin typeface="Times New Roman" pitchFamily="18" charset="0"/>
                <a:cs typeface="Times New Roman" pitchFamily="18" charset="0"/>
              </a:rPr>
              <a:t>3-Port Coupler Based on Micro-optic Components</a:t>
            </a:r>
          </a:p>
        </p:txBody>
      </p:sp>
      <p:sp>
        <p:nvSpPr>
          <p:cNvPr id="3" name="Content Placeholder 2"/>
          <p:cNvSpPr>
            <a:spLocks noGrp="1"/>
          </p:cNvSpPr>
          <p:nvPr>
            <p:ph idx="1"/>
          </p:nvPr>
        </p:nvSpPr>
        <p:spPr>
          <a:xfrm>
            <a:off x="457200" y="1676400"/>
            <a:ext cx="8229600" cy="4419600"/>
          </a:xfrm>
        </p:spPr>
        <p:txBody>
          <a:bodyPr>
            <a:normAutofit/>
          </a:bodyPr>
          <a:lstStyle/>
          <a:p>
            <a:r>
              <a:rPr lang="en-US" sz="2000" dirty="0">
                <a:latin typeface="Times New Roman" pitchFamily="18" charset="0"/>
                <a:cs typeface="Times New Roman" pitchFamily="18" charset="0"/>
              </a:rPr>
              <a:t>These couplers utilize the beam expansion and collimation properties of graded index (GRIN) rod lens combined  with spherical retro-reflecting mirrors  (which reflects light back to its source)</a:t>
            </a:r>
          </a:p>
          <a:p>
            <a:r>
              <a:rPr lang="en-US" sz="2000" dirty="0">
                <a:latin typeface="Times New Roman" pitchFamily="18" charset="0"/>
                <a:cs typeface="Times New Roman" pitchFamily="18" charset="0"/>
              </a:rPr>
              <a:t>It consists of two quarter pitch lenses with a semitransparent mirror in between</a:t>
            </a:r>
          </a:p>
          <a:p>
            <a:r>
              <a:rPr lang="en-US" sz="2000" dirty="0">
                <a:latin typeface="Times New Roman" pitchFamily="18" charset="0"/>
                <a:cs typeface="Times New Roman" pitchFamily="18" charset="0"/>
              </a:rPr>
              <a:t>Light rays from input fiber F1, collimate in the first lens before incident on mirror. A portion of incident beam is reflected back and is coupled to fiber F2.</a:t>
            </a:r>
          </a:p>
          <a:p>
            <a:r>
              <a:rPr lang="en-US" sz="2000" dirty="0">
                <a:latin typeface="Times New Roman" pitchFamily="18" charset="0"/>
                <a:cs typeface="Times New Roman" pitchFamily="18" charset="0"/>
              </a:rPr>
              <a:t>The transmitted light is focused in 2</a:t>
            </a:r>
            <a:r>
              <a:rPr lang="en-US" sz="2000" baseline="30000" dirty="0">
                <a:latin typeface="Times New Roman" pitchFamily="18" charset="0"/>
                <a:cs typeface="Times New Roman" pitchFamily="18" charset="0"/>
              </a:rPr>
              <a:t>nd</a:t>
            </a:r>
            <a:r>
              <a:rPr lang="en-US" sz="2000" dirty="0">
                <a:latin typeface="Times New Roman" pitchFamily="18" charset="0"/>
                <a:cs typeface="Times New Roman" pitchFamily="18" charset="0"/>
              </a:rPr>
              <a:t> lens and then coupled to F3.</a:t>
            </a:r>
          </a:p>
          <a:p>
            <a:r>
              <a:rPr lang="en-US" sz="2000" dirty="0">
                <a:latin typeface="Times New Roman" pitchFamily="18" charset="0"/>
                <a:cs typeface="Times New Roman" pitchFamily="18" charset="0"/>
              </a:rPr>
              <a:t>Parallel surface type is more attractive because of ease of fabrication, compactness, simplicity and relatively low insertion loss</a:t>
            </a:r>
          </a:p>
          <a:p>
            <a:r>
              <a:rPr lang="en-US" sz="2000" dirty="0">
                <a:latin typeface="Times New Roman" pitchFamily="18" charset="0"/>
                <a:cs typeface="Times New Roman" pitchFamily="18" charset="0"/>
              </a:rPr>
              <a:t>For both, insertion loss &lt;1dB</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56</a:t>
            </a:fld>
            <a:endParaRPr kumimoji="0" lang="en-US"/>
          </a:p>
        </p:txBody>
      </p:sp>
    </p:spTree>
    <p:extLst>
      <p:ext uri="{BB962C8B-B14F-4D97-AF65-F5344CB8AC3E}">
        <p14:creationId xmlns:p14="http://schemas.microsoft.com/office/powerpoint/2010/main" val="39304655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572536"/>
          </a:xfrm>
        </p:spPr>
        <p:txBody>
          <a:bodyPr>
            <a:noAutofit/>
          </a:bodyPr>
          <a:lstStyle/>
          <a:p>
            <a:r>
              <a:rPr lang="en-US" sz="3200" dirty="0">
                <a:latin typeface="Times New Roman" pitchFamily="18" charset="0"/>
                <a:cs typeface="Times New Roman" pitchFamily="18" charset="0"/>
              </a:rPr>
              <a:t>Fused </a:t>
            </a:r>
            <a:r>
              <a:rPr lang="en-US" sz="3200" dirty="0" err="1">
                <a:latin typeface="Times New Roman" pitchFamily="18" charset="0"/>
                <a:cs typeface="Times New Roman" pitchFamily="18" charset="0"/>
              </a:rPr>
              <a:t>Biconical</a:t>
            </a:r>
            <a:r>
              <a:rPr lang="en-US" sz="3200" dirty="0">
                <a:latin typeface="Times New Roman" pitchFamily="18" charset="0"/>
                <a:cs typeface="Times New Roman" pitchFamily="18" charset="0"/>
              </a:rPr>
              <a:t> Taper (FBT) technique</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57</a:t>
            </a:fld>
            <a:endParaRPr kumimoji="0"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124200"/>
            <a:ext cx="6668408" cy="211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2"/>
          <p:cNvSpPr>
            <a:spLocks noGrp="1"/>
          </p:cNvSpPr>
          <p:nvPr>
            <p:ph idx="1"/>
          </p:nvPr>
        </p:nvSpPr>
        <p:spPr>
          <a:xfrm>
            <a:off x="457200" y="1676400"/>
            <a:ext cx="8229600" cy="4419600"/>
          </a:xfrm>
        </p:spPr>
        <p:txBody>
          <a:bodyPr>
            <a:normAutofit/>
          </a:bodyPr>
          <a:lstStyle/>
          <a:p>
            <a:r>
              <a:rPr lang="en-US" sz="2000" dirty="0">
                <a:latin typeface="Times New Roman" pitchFamily="18" charset="0"/>
                <a:cs typeface="Times New Roman" pitchFamily="18" charset="0"/>
              </a:rPr>
              <a:t>In this method the fibers are generally </a:t>
            </a:r>
            <a:r>
              <a:rPr lang="en-US" sz="2000" b="1" dirty="0">
                <a:latin typeface="Times New Roman" pitchFamily="18" charset="0"/>
                <a:cs typeface="Times New Roman" pitchFamily="18" charset="0"/>
              </a:rPr>
              <a:t>twisted together </a:t>
            </a:r>
            <a:r>
              <a:rPr lang="en-US" sz="2000" dirty="0">
                <a:latin typeface="Times New Roman" pitchFamily="18" charset="0"/>
                <a:cs typeface="Times New Roman" pitchFamily="18" charset="0"/>
              </a:rPr>
              <a:t>and then </a:t>
            </a:r>
            <a:r>
              <a:rPr lang="en-US" sz="2000" b="1" dirty="0">
                <a:latin typeface="Times New Roman" pitchFamily="18" charset="0"/>
                <a:cs typeface="Times New Roman" pitchFamily="18" charset="0"/>
              </a:rPr>
              <a:t>spot fused under tension </a:t>
            </a:r>
            <a:r>
              <a:rPr lang="en-US" sz="2000" dirty="0">
                <a:latin typeface="Times New Roman" pitchFamily="18" charset="0"/>
                <a:cs typeface="Times New Roman" pitchFamily="18" charset="0"/>
              </a:rPr>
              <a:t>such that the </a:t>
            </a:r>
            <a:r>
              <a:rPr lang="en-US" sz="2000" b="1" dirty="0">
                <a:latin typeface="Times New Roman" pitchFamily="18" charset="0"/>
                <a:cs typeface="Times New Roman" pitchFamily="18" charset="0"/>
              </a:rPr>
              <a:t>fused section is elongated to form a </a:t>
            </a:r>
            <a:r>
              <a:rPr lang="en-US" sz="2000" b="1" dirty="0" err="1">
                <a:latin typeface="Times New Roman" pitchFamily="18" charset="0"/>
                <a:cs typeface="Times New Roman" pitchFamily="18" charset="0"/>
              </a:rPr>
              <a:t>biconical</a:t>
            </a:r>
            <a:r>
              <a:rPr lang="en-US" sz="2000" b="1" dirty="0">
                <a:latin typeface="Times New Roman" pitchFamily="18" charset="0"/>
                <a:cs typeface="Times New Roman" pitchFamily="18" charset="0"/>
              </a:rPr>
              <a:t> taper structure. </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108797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838200"/>
          </a:xfrm>
        </p:spPr>
        <p:txBody>
          <a:bodyPr>
            <a:normAutofit fontScale="90000"/>
          </a:bodyPr>
          <a:lstStyle/>
          <a:p>
            <a:r>
              <a:rPr lang="en-US" sz="3600" dirty="0">
                <a:latin typeface="Times New Roman" pitchFamily="18" charset="0"/>
                <a:cs typeface="Times New Roman" pitchFamily="18" charset="0"/>
              </a:rPr>
              <a:t>Fiber couplers</a:t>
            </a:r>
            <a:br>
              <a:rPr lang="en-US" sz="3600" dirty="0">
                <a:latin typeface="Times New Roman" pitchFamily="18" charset="0"/>
                <a:cs typeface="Times New Roman" pitchFamily="18" charset="0"/>
              </a:rPr>
            </a:br>
            <a:endParaRPr lang="en-US" sz="2200"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334000"/>
          </a:xfrm>
        </p:spPr>
        <p:txBody>
          <a:bodyPr>
            <a:normAutofit/>
          </a:bodyPr>
          <a:lstStyle/>
          <a:p>
            <a:r>
              <a:rPr lang="en-US" sz="2000" dirty="0">
                <a:latin typeface="Times New Roman" pitchFamily="18" charset="0"/>
                <a:cs typeface="Times New Roman" pitchFamily="18" charset="0"/>
              </a:rPr>
              <a:t>The excess loss which is defined as the ratio of power input to power output is given by:</a:t>
            </a:r>
          </a:p>
          <a:p>
            <a:r>
              <a:rPr lang="en-US" sz="2000" dirty="0">
                <a:latin typeface="Times New Roman" pitchFamily="18" charset="0"/>
                <a:cs typeface="Times New Roman" pitchFamily="18" charset="0"/>
              </a:rPr>
              <a:t>Excess loss (four-port coupler) =</a:t>
            </a:r>
          </a:p>
          <a:p>
            <a:r>
              <a:rPr lang="en-US" sz="2000" dirty="0">
                <a:latin typeface="Times New Roman" pitchFamily="18" charset="0"/>
                <a:cs typeface="Times New Roman" pitchFamily="18" charset="0"/>
              </a:rPr>
              <a:t>The insertion loss, however, is generally defined as the loss obtained for a particular port to-port optical path. </a:t>
            </a:r>
          </a:p>
          <a:p>
            <a:r>
              <a:rPr lang="en-US" sz="2000" dirty="0">
                <a:latin typeface="Times New Roman" pitchFamily="18" charset="0"/>
                <a:cs typeface="Times New Roman" pitchFamily="18" charset="0"/>
              </a:rPr>
              <a:t>Insertion loss (ports 1 to 4) =</a:t>
            </a:r>
          </a:p>
          <a:p>
            <a:r>
              <a:rPr lang="en-US" sz="2000" dirty="0">
                <a:latin typeface="Times New Roman" pitchFamily="18" charset="0"/>
                <a:cs typeface="Times New Roman" pitchFamily="18" charset="0"/>
              </a:rPr>
              <a:t>The crosstalk which provides a measure of the directional isolation† achieved by the device is the ratio of the backscattered power received at the second input port to the input power which may be written as:</a:t>
            </a:r>
          </a:p>
          <a:p>
            <a:r>
              <a:rPr lang="en-US" sz="2000" dirty="0">
                <a:latin typeface="Times New Roman" pitchFamily="18" charset="0"/>
                <a:cs typeface="Times New Roman" pitchFamily="18" charset="0"/>
              </a:rPr>
              <a:t>Crosstalk (four-port coupler)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Finally, the splitting or coupling ratio indicates the percentage division of optical power between the output ports. </a:t>
            </a:r>
          </a:p>
          <a:p>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58</a:t>
            </a:fld>
            <a:endParaRPr kumimoji="0"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905000"/>
            <a:ext cx="1905000" cy="553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1300" y="2907909"/>
            <a:ext cx="1244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9548" y="4267200"/>
            <a:ext cx="1376916"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4154" y="5410199"/>
            <a:ext cx="2668245" cy="112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44589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1143000"/>
          </a:xfrm>
        </p:spPr>
        <p:txBody>
          <a:bodyPr>
            <a:normAutofit/>
          </a:bodyPr>
          <a:lstStyle/>
          <a:p>
            <a:r>
              <a:rPr lang="en-US" sz="3600" dirty="0">
                <a:latin typeface="Times New Roman" pitchFamily="18" charset="0"/>
                <a:cs typeface="Times New Roman" pitchFamily="18" charset="0"/>
              </a:rPr>
              <a:t>Fiber couplers</a:t>
            </a:r>
            <a:endParaRPr lang="en-US" sz="2200"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76400"/>
            <a:ext cx="8229600" cy="4419600"/>
          </a:xfrm>
        </p:spPr>
        <p:txBody>
          <a:bodyPr>
            <a:normAutofit/>
          </a:bodyPr>
          <a:lstStyle/>
          <a:p>
            <a:r>
              <a:rPr lang="en-US" b="1" dirty="0">
                <a:latin typeface="Times New Roman" pitchFamily="18" charset="0"/>
                <a:cs typeface="Times New Roman" pitchFamily="18" charset="0"/>
              </a:rPr>
              <a:t>Example 5.7</a:t>
            </a:r>
          </a:p>
          <a:p>
            <a:r>
              <a:rPr lang="en-US" sz="2000" dirty="0">
                <a:latin typeface="Times New Roman" pitchFamily="18" charset="0"/>
                <a:cs typeface="Times New Roman" pitchFamily="18" charset="0"/>
              </a:rPr>
              <a:t>A four-port multimode fiber FBT coupler has 60 </a:t>
            </a:r>
            <a:r>
              <a:rPr lang="en-US" sz="2000" dirty="0" err="1">
                <a:latin typeface="Times New Roman" pitchFamily="18" charset="0"/>
                <a:cs typeface="Times New Roman" pitchFamily="18" charset="0"/>
              </a:rPr>
              <a:t>μW</a:t>
            </a:r>
            <a:r>
              <a:rPr lang="en-US" sz="2000" dirty="0">
                <a:latin typeface="Times New Roman" pitchFamily="18" charset="0"/>
                <a:cs typeface="Times New Roman" pitchFamily="18" charset="0"/>
              </a:rPr>
              <a:t> optical power launched into port 1. The measured output powers at ports 2, 3 and 4 are 0.004, 26.0 and 27.5 </a:t>
            </a:r>
            <a:r>
              <a:rPr lang="en-US" sz="2000" dirty="0" err="1">
                <a:latin typeface="Times New Roman" pitchFamily="18" charset="0"/>
                <a:cs typeface="Times New Roman" pitchFamily="18" charset="0"/>
              </a:rPr>
              <a:t>μW</a:t>
            </a:r>
            <a:r>
              <a:rPr lang="en-US" sz="2000" dirty="0">
                <a:latin typeface="Times New Roman" pitchFamily="18" charset="0"/>
                <a:cs typeface="Times New Roman" pitchFamily="18" charset="0"/>
              </a:rPr>
              <a:t> respectively. Determine the excess loss, the insertion losses between the input and output ports, the crosstalk and the split ratio for the device.</a:t>
            </a: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59</a:t>
            </a:fld>
            <a:endParaRPr kumimoji="0" lang="en-US"/>
          </a:p>
        </p:txBody>
      </p:sp>
    </p:spTree>
    <p:extLst>
      <p:ext uri="{BB962C8B-B14F-4D97-AF65-F5344CB8AC3E}">
        <p14:creationId xmlns:p14="http://schemas.microsoft.com/office/powerpoint/2010/main" val="8781271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48544" cy="685800"/>
          </a:xfrm>
        </p:spPr>
        <p:txBody>
          <a:bodyPr>
            <a:normAutofit/>
          </a:bodyPr>
          <a:lstStyle/>
          <a:p>
            <a:r>
              <a:rPr lang="en-US" sz="3600" dirty="0">
                <a:latin typeface="Times New Roman" pitchFamily="18" charset="0"/>
                <a:cs typeface="Times New Roman" pitchFamily="18" charset="0"/>
              </a:rPr>
              <a:t>Fiber couplers</a:t>
            </a:r>
            <a:endParaRPr lang="en-US" sz="2200" b="1" dirty="0">
              <a:solidFill>
                <a:srgbClr val="0070C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60</a:t>
            </a:fld>
            <a:endParaRPr kumimoji="0"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243790"/>
            <a:ext cx="5562600" cy="52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66916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0" y="685800"/>
            <a:ext cx="2514600" cy="1554162"/>
          </a:xfrm>
        </p:spPr>
        <p:txBody>
          <a:bodyPr/>
          <a:lstStyle/>
          <a:p>
            <a:r>
              <a:rPr lang="en-US" b="1" i="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THANKS</a:t>
            </a:r>
            <a:r>
              <a:rPr lang="en-US" b="1" i="1" dirty="0">
                <a:solidFill>
                  <a:srgbClr val="0070C0"/>
                </a:solidFill>
                <a:effectLst>
                  <a:outerShdw blurRad="38100" dist="38100" dir="2700000" algn="tl">
                    <a:srgbClr val="000000">
                      <a:alpha val="43137"/>
                    </a:srgbClr>
                  </a:outerShdw>
                </a:effectLst>
              </a:rPr>
              <a:t> </a:t>
            </a:r>
          </a:p>
        </p:txBody>
      </p:sp>
      <p:sp>
        <p:nvSpPr>
          <p:cNvPr id="3" name="Content Placeholder 2"/>
          <p:cNvSpPr>
            <a:spLocks noGrp="1"/>
          </p:cNvSpPr>
          <p:nvPr>
            <p:ph idx="1"/>
          </p:nvPr>
        </p:nvSpPr>
        <p:spPr>
          <a:xfrm>
            <a:off x="533400" y="3200401"/>
            <a:ext cx="7848600" cy="1524000"/>
          </a:xfrm>
        </p:spPr>
        <p:txBody>
          <a:bodyPr>
            <a:normAutofit/>
          </a:bodyPr>
          <a:lstStyle/>
          <a:p>
            <a:pPr marL="0" indent="0" algn="ctr">
              <a:buNone/>
            </a:pPr>
            <a:r>
              <a:rPr lang="en-US" sz="3200" b="1" dirty="0">
                <a:solidFill>
                  <a:srgbClr val="008000"/>
                </a:solidFill>
                <a:effectLst>
                  <a:outerShdw blurRad="38100" dist="38100" dir="2700000" algn="tl">
                    <a:srgbClr val="000000">
                      <a:alpha val="43137"/>
                    </a:srgbClr>
                  </a:outerShdw>
                </a:effectLst>
                <a:latin typeface="Times New Roman" pitchFamily="18" charset="0"/>
                <a:cs typeface="Times New Roman" pitchFamily="18" charset="0"/>
              </a:rPr>
              <a:t>A picture paints a thousand words </a:t>
            </a:r>
          </a:p>
        </p:txBody>
      </p:sp>
      <p:sp>
        <p:nvSpPr>
          <p:cNvPr id="4" name="Date Placeholder 3"/>
          <p:cNvSpPr>
            <a:spLocks noGrp="1"/>
          </p:cNvSpPr>
          <p:nvPr>
            <p:ph type="dt" sz="half" idx="10"/>
          </p:nvPr>
        </p:nvSpPr>
        <p:spPr>
          <a:xfrm>
            <a:off x="6096000" y="228600"/>
            <a:ext cx="1981200" cy="365125"/>
          </a:xfrm>
        </p:spPr>
        <p:txBody>
          <a:bodyPr/>
          <a:lstStyle/>
          <a:p>
            <a:r>
              <a:rPr lang="en-US" dirty="0"/>
              <a:t>CCE- 323 ( Optical Fiber Communication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61</a:t>
            </a:fld>
            <a:endParaRPr kumimoji="0" lang="en-US"/>
          </a:p>
        </p:txBody>
      </p:sp>
    </p:spTree>
    <p:extLst>
      <p:ext uri="{BB962C8B-B14F-4D97-AF65-F5344CB8AC3E}">
        <p14:creationId xmlns:p14="http://schemas.microsoft.com/office/powerpoint/2010/main" val="30638516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8123</TotalTime>
  <Words>3846</Words>
  <Application>Microsoft Office PowerPoint</Application>
  <PresentationFormat>On-screen Show (4:3)</PresentationFormat>
  <Paragraphs>373</Paragraphs>
  <Slides>61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Calibri</vt:lpstr>
      <vt:lpstr>Century Gothic</vt:lpstr>
      <vt:lpstr>Times New Roman</vt:lpstr>
      <vt:lpstr>Wingdings 2</vt:lpstr>
      <vt:lpstr>Austin</vt:lpstr>
      <vt:lpstr>Fiber Joints and Couplers; Cable Design </vt:lpstr>
      <vt:lpstr>Fiber Joints and Couplers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alignment and joint loss </vt:lpstr>
      <vt:lpstr>Fiber splices</vt:lpstr>
      <vt:lpstr>Fiber splices</vt:lpstr>
      <vt:lpstr>Fiber splices Fusion splices</vt:lpstr>
      <vt:lpstr>Fiber splices Fusion splices</vt:lpstr>
      <vt:lpstr>Fiber splices Fusion splices</vt:lpstr>
      <vt:lpstr>PowerPoint Presentation</vt:lpstr>
      <vt:lpstr>Fiber splices</vt:lpstr>
      <vt:lpstr>Fiber splices Mechanical splices</vt:lpstr>
      <vt:lpstr>Fiber splices Mechanical splices</vt:lpstr>
      <vt:lpstr>Fiber splices Mechanical splices</vt:lpstr>
      <vt:lpstr>Fiber splices  Multiple splices</vt:lpstr>
      <vt:lpstr>Fiber splices  Multiple splices</vt:lpstr>
      <vt:lpstr>Fiber splices  Multiple splices</vt:lpstr>
      <vt:lpstr>PowerPoint Presentation</vt:lpstr>
      <vt:lpstr>Fiber Connectors</vt:lpstr>
      <vt:lpstr>Fiber Connectors Cylindrical ferrule connectors</vt:lpstr>
      <vt:lpstr>Fiber Connectors Cylindrical ferrule connectors</vt:lpstr>
      <vt:lpstr>Fiber Connectors Cylindrical ferrule connectors</vt:lpstr>
      <vt:lpstr>Fiber Connectors  Duplex and multiple-fiber connectors</vt:lpstr>
      <vt:lpstr>Fiber Connectors  Duplex and multiple-fiber connectors</vt:lpstr>
      <vt:lpstr>PowerPoint Presentation</vt:lpstr>
      <vt:lpstr>Fiber Connectors  Fiber connector-type summary</vt:lpstr>
      <vt:lpstr>Fiber Connectors  Fiber connector-type summary</vt:lpstr>
      <vt:lpstr>PowerPoint Presentation</vt:lpstr>
      <vt:lpstr>PowerPoint Presentation</vt:lpstr>
      <vt:lpstr>Fiber Connectors  Expanded beam connectors</vt:lpstr>
      <vt:lpstr>Fiber Connectors  Expanded beam connectors</vt:lpstr>
      <vt:lpstr>Fiber couplers</vt:lpstr>
      <vt:lpstr>Fiber couplers</vt:lpstr>
      <vt:lpstr>Fiber couplers Optical Fiber Coupler Types</vt:lpstr>
      <vt:lpstr>Fiber couplers Functions of Multiport Couplers</vt:lpstr>
      <vt:lpstr>Fiber couplers Three- and four-port couplers</vt:lpstr>
      <vt:lpstr>Fiber couplers Three- and four-port couplers</vt:lpstr>
      <vt:lpstr>Fiber couplers 3-Port Coupler Based on Micro-optic Components</vt:lpstr>
      <vt:lpstr>Fiber couplers 3-Port Coupler Based on Micro-optic Components</vt:lpstr>
      <vt:lpstr>Fused Biconical Taper (FBT) technique</vt:lpstr>
      <vt:lpstr>Fiber couplers </vt:lpstr>
      <vt:lpstr>Fiber couplers</vt:lpstr>
      <vt:lpstr>Fiber couplers</vt:lpstr>
      <vt:lpstr>THANKS </vt:lpstr>
    </vt:vector>
  </TitlesOfParts>
  <Company>iitg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8085 Architecture  &amp;  Its Assembly language programming</dc:title>
  <dc:creator>asahu</dc:creator>
  <cp:lastModifiedBy>Hasan Ahammad</cp:lastModifiedBy>
  <cp:revision>867</cp:revision>
  <dcterms:created xsi:type="dcterms:W3CDTF">2010-08-03T12:41:21Z</dcterms:created>
  <dcterms:modified xsi:type="dcterms:W3CDTF">2024-11-02T04:49:44Z</dcterms:modified>
</cp:coreProperties>
</file>