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20"/>
  </p:notesMasterIdLst>
  <p:handoutMasterIdLst>
    <p:handoutMasterId r:id="rId21"/>
  </p:handoutMasterIdLst>
  <p:sldIdLst>
    <p:sldId id="256" r:id="rId2"/>
    <p:sldId id="461" r:id="rId3"/>
    <p:sldId id="476" r:id="rId4"/>
    <p:sldId id="477" r:id="rId5"/>
    <p:sldId id="478" r:id="rId6"/>
    <p:sldId id="479" r:id="rId7"/>
    <p:sldId id="480" r:id="rId8"/>
    <p:sldId id="482" r:id="rId9"/>
    <p:sldId id="481" r:id="rId10"/>
    <p:sldId id="484" r:id="rId11"/>
    <p:sldId id="491" r:id="rId12"/>
    <p:sldId id="485" r:id="rId13"/>
    <p:sldId id="483" r:id="rId14"/>
    <p:sldId id="490" r:id="rId15"/>
    <p:sldId id="486" r:id="rId16"/>
    <p:sldId id="489" r:id="rId17"/>
    <p:sldId id="488" r:id="rId18"/>
    <p:sldId id="458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D4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02374-9732-47F3-AD75-024FC55FE8AE}" type="datetimeFigureOut">
              <a:rPr lang="en-US" smtClean="0"/>
              <a:pPr/>
              <a:t>11/2/2024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69EC6-7096-4D1C-AE88-55614CFF954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5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B65BB7-332E-4273-BE5F-FC4D4769183E}" type="datetimeFigureOut">
              <a:rPr lang="en-US" smtClean="0"/>
              <a:pPr/>
              <a:t>11/2/2024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98AF3CB-16F4-4262-B562-3E0EEE24DB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7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CCE- 323 ( Optical Fiber Communication)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r>
              <a:rPr lang="en-US"/>
              <a:t>CCE- 323 ( Optical Fiber Communication)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4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382000" cy="2075470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spc="50" dirty="0">
                <a:ln w="11430"/>
                <a:solidFill>
                  <a:srgbClr val="9D431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Optical sources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648200" y="5257800"/>
            <a:ext cx="4495800" cy="914400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Arpita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howlader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Dept of Computer &amp; Communication Engineering</a:t>
            </a:r>
          </a:p>
          <a:p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Patuakhali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Science and Technology University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2004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1: the laser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5638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Absorption and Emission of light :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frequency and the wavelength of the emitted or absorbed photon is related to the difference in energy E, between the two energetic states, where h is the Planck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constant h=6.626 x 10</a:t>
            </a:r>
            <a:r>
              <a:rPr lang="en-US" sz="1600" b="1" baseline="30000" dirty="0">
                <a:latin typeface="Times New Roman" pitchFamily="18" charset="0"/>
                <a:cs typeface="Times New Roman" pitchFamily="18" charset="0"/>
              </a:rPr>
              <a:t>-34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f is the frequency and λ is wavelength of the absorbed or emitted light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Einstein relations: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population of the two energy levels of such a system is described by Boltzmann statistics which give: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where N1 and N2 represent the density of atoms in energy levels E1 and E2, respectively,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with g1 and g2 being the corresponding decay of the levels, where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K= 1.381 × 10</a:t>
            </a:r>
            <a:r>
              <a:rPr lang="en-US" sz="1600" b="1" baseline="30000" dirty="0">
                <a:latin typeface="Times New Roman" pitchFamily="18" charset="0"/>
                <a:cs typeface="Times New Roman" pitchFamily="18" charset="0"/>
              </a:rPr>
              <a:t>-23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J. K</a:t>
            </a:r>
            <a:r>
              <a:rPr lang="en-US" sz="1600" b="1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is Boltzmann’s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constant and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is the absolute temperature.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When decay of the two levels are equal (g1 = g2), then the probabilities of absorption and stimulated emission are equal. 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030387"/>
            <a:ext cx="2895600" cy="78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3200400"/>
            <a:ext cx="3657600" cy="1171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5200" y="6019800"/>
            <a:ext cx="2743200" cy="68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24600" y="5962650"/>
            <a:ext cx="16478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-junction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Fermi level is a measure of the distribution of carriers in the semiconductor.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Consequently,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probability P(E)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that an electron gains sufficient thermal energy at an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absolute temperature 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such that it will be found occupying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particular energy level 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where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K= 1.381 × 10−23 is Boltzmann’s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constant and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100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is known as the Fermi energy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 Fermi level.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Fermi level can be seen as a probability function, which describes whether the bands are occupied or not.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probability that a state is occupied by an electron or hole is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exact 50% for the Fermi energy.                                          Fermi-Dirac Distribution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61125"/>
            <a:ext cx="3505200" cy="39687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09798"/>
            <a:ext cx="22193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95800"/>
            <a:ext cx="2784635" cy="75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495800"/>
            <a:ext cx="2805113" cy="75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316" y="3733800"/>
            <a:ext cx="1655684" cy="34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43318" y="5334000"/>
            <a:ext cx="8167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Fermi-Dirac Distribution for Electrons               Fermi-Dirac Distribution for Holes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51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Speed of light,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2.998 × 10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 3.00 × 10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m/s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Planck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constant,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h = 6.626 × 10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-34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J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Boltzmann’s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constant,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 = 1.381 × 10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-23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J. K</a:t>
            </a:r>
            <a:r>
              <a:rPr lang="en-US" sz="2000" b="1" baseline="30000" dirty="0">
                <a:latin typeface="Times New Roman" pitchFamily="18" charset="0"/>
                <a:cs typeface="Times New Roman" pitchFamily="18" charset="0"/>
              </a:rPr>
              <a:t>-1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133600"/>
            <a:ext cx="8096250" cy="44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1: the laser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56388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Since the structure forms a resonant cavity, when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sufficient population inversion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exists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the amplifying medium the radiation builds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up and becomes established as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standing waves between the mirrors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These standing waves exist only at frequencies for which the distance between the mirrors is an integral number of half wavelengths.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Thus when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optical spacing between the mirrors is </a:t>
            </a:r>
            <a:r>
              <a:rPr lang="en-US" sz="18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the resonance condition along the axis of the cavity is given by :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where λ is the emission wavelength, n is the refractive index of the amplifying medium and q is an integer. Alternatively, discrete emission frequencies f are defined by: 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where c is the velocity of light. 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1: the laser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2971800"/>
            <a:ext cx="4676589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2971800"/>
            <a:ext cx="11049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5181600"/>
            <a:ext cx="10382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38600" y="5257800"/>
            <a:ext cx="1104900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4525963"/>
          </a:xfrm>
        </p:spPr>
        <p:txBody>
          <a:bodyPr>
            <a:normAutofit/>
          </a:bodyPr>
          <a:lstStyle/>
          <a:p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1: the laser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1304925"/>
            <a:ext cx="897255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486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a number of ways in which the operational efficiency of the semiconductor laser may be defined.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optical power emitted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from the device, I is the current,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charge on an electron and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hf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photon energy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total efficiency (external quantum efficiency)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ηT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which is efficiency defined as: 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band gap energy expressed in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eV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external power efficiency of the device (or device efficiency)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ηep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 converting electrical input to optical output is given by: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 = IV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d.c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electrical input power. V is voltage applied to the device 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Total efficiency we find: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1: the laser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2675" y="2590800"/>
            <a:ext cx="4048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2590800"/>
            <a:ext cx="16002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95600" y="4257675"/>
            <a:ext cx="29051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33800" y="5514975"/>
            <a:ext cx="22860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486400"/>
          </a:xfrm>
        </p:spPr>
        <p:txBody>
          <a:bodyPr>
            <a:norm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1: the laser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004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internal quantum efficiency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the LED is obtained only from the spontaneous radiation 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Total number of carrier recombination per second or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recombination rate 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rt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, where     is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recombination rate per unit volume and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nonradiative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recombination rate per unit volume. 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excess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minority carrier density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decays exponentially with time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,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minority carrier lifetime is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τr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Δn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and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nonradiative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minority carrier lifetime is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τnr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Δn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/r.  , So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Total recombination lifetime </a:t>
            </a:r>
            <a:r>
              <a:rPr lang="el-GR" sz="2000" b="1" i="1" dirty="0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l-GR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Optical power generated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internally by the LED, where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I 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forward-biased current into the device and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charge on an electron 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4419600" y="1075994"/>
            <a:ext cx="395287" cy="29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50" y="2038350"/>
            <a:ext cx="1714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2373923"/>
            <a:ext cx="304800" cy="293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7799" y="2743200"/>
            <a:ext cx="1930401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52600" y="5715000"/>
            <a:ext cx="20669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495800" y="5715000"/>
            <a:ext cx="2000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876675" y="2619375"/>
            <a:ext cx="30575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133600" y="4343400"/>
            <a:ext cx="12287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010400" y="2667000"/>
            <a:ext cx="4762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572000" y="3733800"/>
            <a:ext cx="1047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581400" y="4076700"/>
            <a:ext cx="115252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429000" y="4419600"/>
            <a:ext cx="9525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447800" y="2057400"/>
            <a:ext cx="21907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5052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600200"/>
            <a:ext cx="7467600" cy="45259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7.1 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radiative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nonradiative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recombination lifetimes of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minority carriers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the active region of a double-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heterojunction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LED are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60 ns and 100 ns respectively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Determine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total carrier recombination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lifetime and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power internally generated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within the device when the peak emission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wavelength is 0.87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μm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at a drive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current of 40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5052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066800"/>
            <a:ext cx="7467600" cy="45259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  7.1 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800"/>
            <a:ext cx="7162800" cy="504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153400" cy="54864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injection laser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external power efficiency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ηe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is defined as the ratio of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optical power emitted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externally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electric power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provided to the device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P = IV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d.c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electrical input power. V is voltage applied to the device .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optical power emitted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into a medium of low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refractive index 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from the face of a planar LED fabricated from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material of refractive index n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given approximately by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Again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where       is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power generated internally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F is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transmission factor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of the semiconductor–external interface. Hence it is possible to estimate the percentage of optical power emitted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320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895475"/>
            <a:ext cx="29051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981075"/>
            <a:ext cx="3333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3886200"/>
            <a:ext cx="2476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7800" y="4191000"/>
            <a:ext cx="13335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619250" y="4876800"/>
            <a:ext cx="3619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657600" y="4343400"/>
            <a:ext cx="20669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57950" y="4343400"/>
            <a:ext cx="20002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7.2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A planar LED is fabricated from gallium arsenide which has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refractive index of 3.6.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(a) Calculate 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optical power emitted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air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as a percentage of the internal optical power for the device when the transmission factor at the crystal–air interface is 0.68.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(b) When the optical power generated internally is 50% of the electric power supplied, determine the external power efficiency. 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Solution: (a)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optical power emitted is given by equation in which the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refractive index n for air is 1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Solution: (a)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optical power emitted is given by equation in which the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refractive index n for air is 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81200"/>
            <a:ext cx="8001000" cy="422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7.3: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light output from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GaAs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LED of </a:t>
            </a:r>
            <a:r>
              <a:rPr lang="en-US" sz="2000" b="1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 7.2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coupled into a step index fiber with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numerical aperture of 0.2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refractive index of 1.4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a diameter larger than the diameter of the device. Estimate: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(a)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coupling efficiency into the fiber when the LED is in close proximity to the fiber core.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(b)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optical loss in decibels, relative to the power emitted from the LED, when coupling the light output into the fiber.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(c)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loss relative to the internally generated optical power in the device when coupling the light output into the fiber when there is a small air gap between the LED and the fiber core.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Solution 7.3: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133600"/>
            <a:ext cx="87630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Optical sources 2: the light-emitting diode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8100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19200"/>
            <a:ext cx="7372216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554162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THANKS</a:t>
            </a:r>
            <a:r>
              <a:rPr 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667001"/>
            <a:ext cx="7848600" cy="2057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END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3276600" cy="365125"/>
          </a:xfrm>
        </p:spPr>
        <p:txBody>
          <a:bodyPr/>
          <a:lstStyle/>
          <a:p>
            <a:r>
              <a:rPr lang="en-US"/>
              <a:t>CCE- 323 ( Optical Fiber Communication)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6385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8472</TotalTime>
  <Words>1407</Words>
  <Application>Microsoft Office PowerPoint</Application>
  <PresentationFormat>On-screen Show (4:3)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Optical sources </vt:lpstr>
      <vt:lpstr>Optical sources 1: the laser</vt:lpstr>
      <vt:lpstr>The pn-junction </vt:lpstr>
      <vt:lpstr>Optical sources 1: the laser</vt:lpstr>
      <vt:lpstr>Optical sources 1: the laser</vt:lpstr>
      <vt:lpstr>Optical sources 1: the laser</vt:lpstr>
      <vt:lpstr>Optical sources 1: the laser</vt:lpstr>
      <vt:lpstr>Optical sources 1: the laser</vt:lpstr>
      <vt:lpstr>Optical sources 2: the light-emitting diode </vt:lpstr>
      <vt:lpstr>Optical sources 2: the light-emitting diode </vt:lpstr>
      <vt:lpstr>Optical sources 2: the light-emitting diode </vt:lpstr>
      <vt:lpstr>Optical sources 2: the light-emitting diode </vt:lpstr>
      <vt:lpstr>Optical sources 2: the light-emitting diode </vt:lpstr>
      <vt:lpstr>Optical sources 2: the light-emitting diode </vt:lpstr>
      <vt:lpstr>Optical sources 2: the light-emitting diode </vt:lpstr>
      <vt:lpstr>Optical sources 2: the light-emitting diode </vt:lpstr>
      <vt:lpstr>Optical sources 2: the light-emitting diode </vt:lpstr>
      <vt:lpstr>THANKS </vt:lpstr>
    </vt:vector>
  </TitlesOfParts>
  <Company>iitg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8085 Architecture  &amp;  Its Assembly language programming</dc:title>
  <dc:creator>asahu</dc:creator>
  <cp:lastModifiedBy>Hasan Ahammad</cp:lastModifiedBy>
  <cp:revision>1055</cp:revision>
  <dcterms:created xsi:type="dcterms:W3CDTF">2010-08-03T12:41:21Z</dcterms:created>
  <dcterms:modified xsi:type="dcterms:W3CDTF">2024-11-02T08:17:57Z</dcterms:modified>
</cp:coreProperties>
</file>