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0" r:id="rId1"/>
  </p:sldMasterIdLst>
  <p:notesMasterIdLst>
    <p:notesMasterId r:id="rId36"/>
  </p:notesMasterIdLst>
  <p:handoutMasterIdLst>
    <p:handoutMasterId r:id="rId37"/>
  </p:handoutMasterIdLst>
  <p:sldIdLst>
    <p:sldId id="256" r:id="rId2"/>
    <p:sldId id="459" r:id="rId3"/>
    <p:sldId id="468" r:id="rId4"/>
    <p:sldId id="461" r:id="rId5"/>
    <p:sldId id="462" r:id="rId6"/>
    <p:sldId id="464" r:id="rId7"/>
    <p:sldId id="463" r:id="rId8"/>
    <p:sldId id="466" r:id="rId9"/>
    <p:sldId id="467" r:id="rId10"/>
    <p:sldId id="470" r:id="rId11"/>
    <p:sldId id="471" r:id="rId12"/>
    <p:sldId id="472" r:id="rId13"/>
    <p:sldId id="469" r:id="rId14"/>
    <p:sldId id="465" r:id="rId15"/>
    <p:sldId id="473" r:id="rId16"/>
    <p:sldId id="474" r:id="rId17"/>
    <p:sldId id="491" r:id="rId18"/>
    <p:sldId id="492" r:id="rId19"/>
    <p:sldId id="476" r:id="rId20"/>
    <p:sldId id="493" r:id="rId21"/>
    <p:sldId id="480" r:id="rId22"/>
    <p:sldId id="487" r:id="rId23"/>
    <p:sldId id="477" r:id="rId24"/>
    <p:sldId id="494" r:id="rId25"/>
    <p:sldId id="478" r:id="rId26"/>
    <p:sldId id="495" r:id="rId27"/>
    <p:sldId id="481" r:id="rId28"/>
    <p:sldId id="482" r:id="rId29"/>
    <p:sldId id="483" r:id="rId30"/>
    <p:sldId id="496" r:id="rId31"/>
    <p:sldId id="484" r:id="rId32"/>
    <p:sldId id="489" r:id="rId33"/>
    <p:sldId id="490" r:id="rId34"/>
    <p:sldId id="458" r:id="rId35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9D43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09" autoAdjust="0"/>
    <p:restoredTop sz="95274" autoAdjust="0"/>
  </p:normalViewPr>
  <p:slideViewPr>
    <p:cSldViewPr>
      <p:cViewPr>
        <p:scale>
          <a:sx n="120" d="100"/>
          <a:sy n="120" d="100"/>
        </p:scale>
        <p:origin x="-216" y="-18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02374-9732-47F3-AD75-024FC55FE8AE}" type="datetimeFigureOut">
              <a:rPr lang="en-US" smtClean="0"/>
              <a:pPr/>
              <a:t>11/2/2024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69EC6-7096-4D1C-AE88-55614CFF95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50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1B65BB7-332E-4273-BE5F-FC4D4769183E}" type="datetimeFigureOut">
              <a:rPr lang="en-US" smtClean="0"/>
              <a:pPr/>
              <a:t>11/2/2024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98AF3CB-16F4-4262-B562-3E0EEE24DB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7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 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 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 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 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 )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 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 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 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 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 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 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pPr algn="r" eaLnBrk="1" latinLnBrk="0" hangingPunct="1"/>
            <a:r>
              <a:rPr lang="en-US"/>
              <a:t>CCE- 323 ( Optical Fiber Communication )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algn="ctr" eaLnBrk="1" latinLnBrk="0" hangingPunct="1"/>
            <a:fld id="{6F42FDE4-A7DD-41A7-A0A6-9B649FB43336}" type="slidenum">
              <a:rPr kumimoji="0" lang="en-US" smtClean="0"/>
              <a:pPr algn="ctr" eaLnBrk="1" latinLnBrk="0" hangingPunct="1"/>
              <a:t>‹#›</a:t>
            </a:fld>
            <a:endParaRPr kumimoji="0" lang="en-US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6.bin"/><Relationship Id="rId3" Type="http://schemas.openxmlformats.org/officeDocument/2006/relationships/image" Target="../media/image11.png"/><Relationship Id="rId7" Type="http://schemas.openxmlformats.org/officeDocument/2006/relationships/image" Target="../media/image7.wmf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5.bin"/><Relationship Id="rId5" Type="http://schemas.openxmlformats.org/officeDocument/2006/relationships/image" Target="../media/image6.wmf"/><Relationship Id="rId10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7543800" cy="1524000"/>
          </a:xfrm>
        </p:spPr>
        <p:txBody>
          <a:bodyPr>
            <a:norm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b="1" spc="50" dirty="0">
                <a:ln w="11430"/>
                <a:solidFill>
                  <a:schemeClr val="bg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Optical sources 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657600" y="5257800"/>
            <a:ext cx="4495800" cy="914400"/>
          </a:xfrm>
        </p:spPr>
        <p:txBody>
          <a:bodyPr>
            <a:normAutofit fontScale="55000" lnSpcReduction="20000"/>
          </a:bodyPr>
          <a:lstStyle/>
          <a:p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Arpita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howlader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Dept of Computer &amp; Communication Engineering</a:t>
            </a:r>
          </a:p>
          <a:p>
            <a:r>
              <a:rPr lang="en-US" sz="2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Patuakhali</a:t>
            </a: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Science and Technology University</a:t>
            </a:r>
            <a:endParaRPr lang="en-US" sz="2800" dirty="0">
              <a:solidFill>
                <a:schemeClr val="tx1"/>
              </a:solidFill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3200400" cy="36512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77200" y="6172200"/>
            <a:ext cx="762000" cy="365125"/>
          </a:xfrm>
        </p:spPr>
        <p:txBody>
          <a:bodyPr/>
          <a:lstStyle/>
          <a:p>
            <a:pPr algn="l"/>
            <a:fld id="{6F42FDE4-A7DD-41A7-A0A6-9B649FB43336}" type="slidenum">
              <a:rPr kumimoji="0" lang="en-US" smtClean="0"/>
              <a:pPr algn="l"/>
              <a:t>1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10836"/>
            <a:ext cx="7543800" cy="34636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3237"/>
            <a:ext cx="8229600" cy="5440363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Optical sources are used to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convert electrical signals into optic beams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thus enables information carrying facility though the fiber core.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Two basic types which rely on semiconductor principles of operation are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Light emitting diodes (LEDs)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Laser diodes (LDs) (Light Amplification by Stimulated Emission of Radiation)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Generation of light is caused by the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transition of an electron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form an energetically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higher energy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state to a lower energy state.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energy difference due to the transition of the electron leads to a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radiative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or a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nonradiative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process.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non-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radiative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processes typically lead to the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creating of heat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the case of a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radiative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process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photons are emitted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The emission of light, can take place either spontaneously or it can be stimulated by the presence of another photon of the “right” energy </a:t>
            </a:r>
            <a:r>
              <a:rPr lang="en-US" sz="2000" dirty="0"/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276600" cy="36512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6172200"/>
            <a:ext cx="762000" cy="365125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2</a:t>
            </a:fld>
            <a:endParaRPr kumimoji="0"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7543800" cy="4111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Characteristics of laser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2362199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Laser Light is Highly Coherent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Laser Light is Highly Monochromatic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Laser Light can be Sharply Focused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:- This property is related to the parallelism of the laser beam. 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Brightness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:- The primary characteristic of laser radiation is that lasers have a higher brightness than any oilier light source.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429000" cy="36512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6168976"/>
            <a:ext cx="762000" cy="365125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3</a:t>
            </a:fld>
            <a:endParaRPr kumimoji="0" lang="en-US" dirty="0"/>
          </a:p>
        </p:txBody>
      </p:sp>
      <p:pic>
        <p:nvPicPr>
          <p:cNvPr id="4100" name="Picture 4" descr="Figure 1. The interaction of light with matter via: (a) absorption, (b) spontaneous emission, and (c) stimulated emission. Pumping of an excited state to produce a population inversion is shown in (d)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706952"/>
            <a:ext cx="4661080" cy="3501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844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038"/>
            <a:ext cx="7467600" cy="4111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Absorption and Emission of light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638800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interaction of light and matter in the 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form of absorption and emission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requires a 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transition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from one </a:t>
            </a: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discrete energy level to another energy level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frequency and the wavelength of the emitted or absorbed photon is related to the difference in energy E, between the two energetic states, where h is the Planck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constant h=6.626 x 10-34J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f is the frequency and λ is wavelength of the absorbed or emitted light </a:t>
            </a: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When a photon with the energy (E2-E1) is 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incident 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material an electron may be 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excited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from the energy state E1 into an higher energy state E2 through the 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absorption of the photon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Alternatively, when the electron is initially on a higher energy level it can make a 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transition to a energetically </a:t>
            </a: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lower state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the provided </a:t>
            </a: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energy loss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leads to the </a:t>
            </a: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emission of a photon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Here the transition is assumed to be a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radiative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transition.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amount of energy absorbed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by the electron to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move into a higher level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is the same as the amount of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energy released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when returning to the original energy level.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276600" cy="36512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6172200"/>
            <a:ext cx="762000" cy="365125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4</a:t>
            </a:fld>
            <a:endParaRPr kumimoji="0"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50127" y="2487587"/>
            <a:ext cx="2895600" cy="78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6038"/>
            <a:ext cx="7543800" cy="4111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Spontaneous Emission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457200"/>
            <a:ext cx="8305800" cy="5668963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most of the light sources the photons are emitted spontaneously (sun light, light bulb)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first step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 electron is elevated to an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energetically higher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state which is usually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unstable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In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Second step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electron will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spontaneously return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an energetically more stable (Lower) state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process is a statistical process which can happen very fast. As a consequence the spontaneously  emitted photons are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incoherent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the emitted spectrum has broad spectral width. Energy state diagram for spontaneous emission of a photon.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Spontaneous emission occurs when an electron that is in an excited state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spontaneously transitions to a lower energy state.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When this occurs, a photon is emitted. The energy of the photon is equal to the energy difference between the two energy levels.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276600" cy="36512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543800" y="6248400"/>
            <a:ext cx="762000" cy="365125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5</a:t>
            </a:fld>
            <a:endParaRPr kumimoji="0"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3124200"/>
            <a:ext cx="4191000" cy="1676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46038"/>
            <a:ext cx="6477000" cy="4111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Stimulated Emission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81000"/>
            <a:ext cx="8382000" cy="60198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operating principle of a laser is based on stimulated emission.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stimulated emission, if the electron which enters an energetically higher state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(excited state) remains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this state until it is “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stimulated” by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presence of a photon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 leave this higher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energetically state and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return to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more stable lower energetically state (ground state). 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One of the requirements for stimulated emission is that the electron can stay in its excited state a relatively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long period of time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(a few microseconds) before it changes its state spontaneously.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the case of spontaneous emission the electron stays in this excited state usually for a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shorter period of time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(picoseconds).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the case of stimulated emission the electron can be “stimulated” by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presence of a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photon to emit its energy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the form of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another photon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276600" cy="365125"/>
          </a:xfrm>
        </p:spPr>
        <p:txBody>
          <a:bodyPr/>
          <a:lstStyle/>
          <a:p>
            <a:r>
              <a:rPr lang="en-US" dirty="0"/>
              <a:t>CCE- 323 ( Optical Fiber Communication 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6172200"/>
            <a:ext cx="762000" cy="365125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6</a:t>
            </a:fld>
            <a:endParaRPr kumimoji="0"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2362200"/>
            <a:ext cx="4710112" cy="1264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7543800" cy="4111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Emission</a:t>
            </a:r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Stimulated emission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similar to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spontaneous emission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 that an electron moves from a higher energy level to a lower energy level, but these are two distinct processes.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Both the stimulating photon and released photon are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emitted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Spontaneous emission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does not require an external electromagnetic stimulus to release energy, whereas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stimulated emission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does require external electromagnetic stimuli to release energy.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During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spontaneous emission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only one energy wave is released, but during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stimulated emission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two energy waves are released.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this case the energy of the incident photon has to be very close to the energy of the excited electron.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Stimulated emission takes place when the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emitted photon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has the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same energy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(the same wavelength),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phase and direction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 that of the photon which stimulated it!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Stimulated emission is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inverse process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absorption! 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27" y="6492875"/>
            <a:ext cx="3429000" cy="365125"/>
          </a:xfrm>
        </p:spPr>
        <p:txBody>
          <a:bodyPr/>
          <a:lstStyle/>
          <a:p>
            <a:r>
              <a:rPr lang="en-US" dirty="0"/>
              <a:t>CCE- 323 ( Optical Fiber Communication 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6172200"/>
            <a:ext cx="762000" cy="365125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7</a:t>
            </a:fld>
            <a:endParaRPr kumimoji="0"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9" y="18197"/>
            <a:ext cx="7543801" cy="43900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Laser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25278"/>
            <a:ext cx="8670907" cy="573079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laser operation differs from other optical sources because of it is resulted from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stimulated emissions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When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external photon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(injected photon) hits with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excited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electron at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valence band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it is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forced to create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stimulated photon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and light is emitted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with the same wavelength and the same line width as the external photon.  They are also in phase.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Once these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photons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are travelled through the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same direction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it will result 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further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stimulated emissions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support 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the directionality of the beam.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causes to deplete the conduction band 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electrons very quickly, but generates a large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current to sustain the laser operation. 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number of spontaneous emissions are proportional to the number of injected photons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200400" cy="36512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593839" y="6150208"/>
            <a:ext cx="762000" cy="365125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8</a:t>
            </a:fld>
            <a:endParaRPr kumimoji="0" lang="en-US" dirty="0"/>
          </a:p>
        </p:txBody>
      </p:sp>
      <p:grpSp>
        <p:nvGrpSpPr>
          <p:cNvPr id="44" name="Group 25"/>
          <p:cNvGrpSpPr>
            <a:grpSpLocks/>
          </p:cNvGrpSpPr>
          <p:nvPr/>
        </p:nvGrpSpPr>
        <p:grpSpPr bwMode="auto">
          <a:xfrm>
            <a:off x="5257800" y="2743200"/>
            <a:ext cx="3886200" cy="2672277"/>
            <a:chOff x="3030322" y="2778125"/>
            <a:chExt cx="3471876" cy="2400300"/>
          </a:xfrm>
        </p:grpSpPr>
        <p:grpSp>
          <p:nvGrpSpPr>
            <p:cNvPr id="45" name="Group 32"/>
            <p:cNvGrpSpPr>
              <a:grpSpLocks/>
            </p:cNvGrpSpPr>
            <p:nvPr/>
          </p:nvGrpSpPr>
          <p:grpSpPr bwMode="auto">
            <a:xfrm>
              <a:off x="3030322" y="2778125"/>
              <a:ext cx="3471876" cy="2400300"/>
              <a:chOff x="3258503" y="2841498"/>
              <a:chExt cx="3471641" cy="2400300"/>
            </a:xfrm>
          </p:grpSpPr>
          <p:pic>
            <p:nvPicPr>
              <p:cNvPr id="48" name="Picture 1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58503" y="2841498"/>
                <a:ext cx="2809875" cy="2400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49" name="Group 33"/>
              <p:cNvGrpSpPr>
                <a:grpSpLocks/>
              </p:cNvGrpSpPr>
              <p:nvPr/>
            </p:nvGrpSpPr>
            <p:grpSpPr bwMode="auto">
              <a:xfrm>
                <a:off x="3830023" y="2974337"/>
                <a:ext cx="1765168" cy="2079938"/>
                <a:chOff x="3775146" y="3395134"/>
                <a:chExt cx="1765183" cy="2079938"/>
              </a:xfrm>
            </p:grpSpPr>
            <p:grpSp>
              <p:nvGrpSpPr>
                <p:cNvPr id="54" name="Group 24"/>
                <p:cNvGrpSpPr>
                  <a:grpSpLocks/>
                </p:cNvGrpSpPr>
                <p:nvPr/>
              </p:nvGrpSpPr>
              <p:grpSpPr bwMode="auto">
                <a:xfrm>
                  <a:off x="3775146" y="3395134"/>
                  <a:ext cx="1765183" cy="2079938"/>
                  <a:chOff x="3029421" y="3022272"/>
                  <a:chExt cx="1765183" cy="2079938"/>
                </a:xfrm>
              </p:grpSpPr>
              <p:grpSp>
                <p:nvGrpSpPr>
                  <p:cNvPr id="57" name="Group 19"/>
                  <p:cNvGrpSpPr>
                    <a:grpSpLocks/>
                  </p:cNvGrpSpPr>
                  <p:nvPr/>
                </p:nvGrpSpPr>
                <p:grpSpPr bwMode="auto">
                  <a:xfrm>
                    <a:off x="3096902" y="3815835"/>
                    <a:ext cx="1409015" cy="657288"/>
                    <a:chOff x="3523031" y="4179820"/>
                    <a:chExt cx="1409015" cy="657288"/>
                  </a:xfrm>
                </p:grpSpPr>
                <p:cxnSp>
                  <p:nvCxnSpPr>
                    <p:cNvPr id="60" name="Elbow Connector 10"/>
                    <p:cNvCxnSpPr/>
                    <p:nvPr/>
                  </p:nvCxnSpPr>
                  <p:spPr>
                    <a:xfrm>
                      <a:off x="3522278" y="4185280"/>
                      <a:ext cx="266672" cy="152400"/>
                    </a:xfrm>
                    <a:prstGeom prst="bentConnector3">
                      <a:avLst>
                        <a:gd name="adj1" fmla="val 43333"/>
                      </a:avLst>
                    </a:prstGeom>
                    <a:ln w="19050">
                      <a:solidFill>
                        <a:srgbClr val="C00000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aphicFrame>
                  <p:nvGraphicFramePr>
                    <p:cNvPr id="61" name="Object 2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3775636" y="4179820"/>
                    <a:ext cx="203202" cy="223837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070" name="Equation" r:id="rId4" imgW="203040" imgH="241200" progId="Equation.DSMT4">
                            <p:embed/>
                          </p:oleObj>
                        </mc:Choice>
                        <mc:Fallback>
                          <p:oleObj name="Equation" r:id="rId4" imgW="203040" imgH="241200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5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775636" y="4179820"/>
                                  <a:ext cx="203202" cy="223837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62" name="Object 7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728844" y="4613271"/>
                    <a:ext cx="203202" cy="223837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071" name="Equation" r:id="rId6" imgW="203040" imgH="241200" progId="Equation.DSMT4">
                            <p:embed/>
                          </p:oleObj>
                        </mc:Choice>
                        <mc:Fallback>
                          <p:oleObj name="Equation" r:id="rId6" imgW="203040" imgH="241200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7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728844" y="4613271"/>
                                  <a:ext cx="203202" cy="223837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sp>
                <p:nvSpPr>
                  <p:cNvPr id="58" name="Text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29421" y="3022272"/>
                    <a:ext cx="1765183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algn="l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1pPr>
                    <a:lvl2pPr marL="742950" indent="-285750" algn="l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2pPr>
                    <a:lvl3pPr marL="1143000" indent="-228600" algn="l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3pPr>
                    <a:lvl4pPr marL="1600200" indent="-228600" algn="l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4pPr>
                    <a:lvl5pPr marL="2057400" indent="-228600" algn="l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sz="1400" dirty="0">
                        <a:solidFill>
                          <a:schemeClr val="accent2"/>
                        </a:solidFill>
                      </a:rPr>
                      <a:t>Conduction band</a:t>
                    </a:r>
                  </a:p>
                </p:txBody>
              </p:sp>
              <p:sp>
                <p:nvSpPr>
                  <p:cNvPr id="59" name="Text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97508" y="4794433"/>
                    <a:ext cx="1330678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algn="l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1pPr>
                    <a:lvl2pPr marL="742950" indent="-285750" algn="l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2pPr>
                    <a:lvl3pPr marL="1143000" indent="-228600" algn="l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3pPr>
                    <a:lvl4pPr marL="1600200" indent="-228600" algn="l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4pPr>
                    <a:lvl5pPr marL="2057400" indent="-228600" algn="l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sz="1400" dirty="0">
                        <a:solidFill>
                          <a:schemeClr val="accent2"/>
                        </a:solidFill>
                      </a:rPr>
                      <a:t>Valance band</a:t>
                    </a:r>
                  </a:p>
                </p:txBody>
              </p:sp>
            </p:grpSp>
            <p:cxnSp>
              <p:nvCxnSpPr>
                <p:cNvPr id="55" name="Elbow Connector 54"/>
                <p:cNvCxnSpPr/>
                <p:nvPr/>
              </p:nvCxnSpPr>
              <p:spPr>
                <a:xfrm>
                  <a:off x="4741890" y="4184632"/>
                  <a:ext cx="265085" cy="150813"/>
                </a:xfrm>
                <a:prstGeom prst="bentConnector3">
                  <a:avLst>
                    <a:gd name="adj1" fmla="val 43333"/>
                  </a:avLst>
                </a:prstGeom>
                <a:ln w="19050">
                  <a:solidFill>
                    <a:srgbClr val="C0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Elbow Connector 55"/>
                <p:cNvCxnSpPr/>
                <p:nvPr/>
              </p:nvCxnSpPr>
              <p:spPr>
                <a:xfrm>
                  <a:off x="4778399" y="4613257"/>
                  <a:ext cx="265084" cy="150813"/>
                </a:xfrm>
                <a:prstGeom prst="bentConnector3">
                  <a:avLst>
                    <a:gd name="adj1" fmla="val 43333"/>
                  </a:avLst>
                </a:prstGeom>
                <a:ln w="19050">
                  <a:solidFill>
                    <a:srgbClr val="C0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aphicFrame>
            <p:nvGraphicFramePr>
              <p:cNvPr id="50" name="Object 14"/>
              <p:cNvGraphicFramePr>
                <a:graphicFrameLocks noChangeAspect="1"/>
              </p:cNvGraphicFramePr>
              <p:nvPr/>
            </p:nvGraphicFramePr>
            <p:xfrm>
              <a:off x="5107178" y="3783140"/>
              <a:ext cx="203200" cy="2238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2" name="Equation" r:id="rId8" imgW="203040" imgH="241200" progId="Equation.DSMT4">
                      <p:embed/>
                    </p:oleObj>
                  </mc:Choice>
                  <mc:Fallback>
                    <p:oleObj name="Equation" r:id="rId8" imgW="20304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07178" y="3783140"/>
                            <a:ext cx="203200" cy="2238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21216229"/>
                  </p:ext>
                </p:extLst>
              </p:nvPr>
            </p:nvGraphicFramePr>
            <p:xfrm>
              <a:off x="6018992" y="3927285"/>
              <a:ext cx="711152" cy="271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3" name="Equation" r:id="rId9" imgW="711000" imgH="291960" progId="Equation.DSMT4">
                      <p:embed/>
                    </p:oleObj>
                  </mc:Choice>
                  <mc:Fallback>
                    <p:oleObj name="Equation" r:id="rId9" imgW="711000" imgH="29196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18992" y="3927285"/>
                            <a:ext cx="711152" cy="271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2" name="TextBox 10"/>
              <p:cNvSpPr txBox="1">
                <a:spLocks noChangeArrowheads="1"/>
              </p:cNvSpPr>
              <p:nvPr/>
            </p:nvSpPr>
            <p:spPr bwMode="auto">
              <a:xfrm>
                <a:off x="3437700" y="3958448"/>
                <a:ext cx="116173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200" dirty="0">
                    <a:solidFill>
                      <a:schemeClr val="accent2"/>
                    </a:solidFill>
                  </a:rPr>
                  <a:t>External photon</a:t>
                </a:r>
              </a:p>
            </p:txBody>
          </p:sp>
          <p:sp>
            <p:nvSpPr>
              <p:cNvPr id="53" name="TextBox 10"/>
              <p:cNvSpPr txBox="1">
                <a:spLocks noChangeArrowheads="1"/>
              </p:cNvSpPr>
              <p:nvPr/>
            </p:nvSpPr>
            <p:spPr bwMode="auto">
              <a:xfrm>
                <a:off x="4952315" y="3908298"/>
                <a:ext cx="116173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200" dirty="0">
                    <a:solidFill>
                      <a:schemeClr val="accent2"/>
                    </a:solidFill>
                  </a:rPr>
                  <a:t>Stimulated photon</a:t>
                </a:r>
              </a:p>
            </p:txBody>
          </p:sp>
        </p:grpSp>
        <p:graphicFrame>
          <p:nvGraphicFramePr>
            <p:cNvPr id="46" name="Object 24"/>
            <p:cNvGraphicFramePr>
              <a:graphicFrameLocks noChangeAspect="1"/>
            </p:cNvGraphicFramePr>
            <p:nvPr/>
          </p:nvGraphicFramePr>
          <p:xfrm>
            <a:off x="4229572" y="3253560"/>
            <a:ext cx="266700" cy="211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4" name="Equation" r:id="rId11" imgW="266400" imgH="228600" progId="Equation.DSMT4">
                    <p:embed/>
                  </p:oleObj>
                </mc:Choice>
                <mc:Fallback>
                  <p:oleObj name="Equation" r:id="rId11" imgW="2664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9572" y="3253560"/>
                          <a:ext cx="266700" cy="211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25"/>
            <p:cNvGraphicFramePr>
              <a:graphicFrameLocks noChangeAspect="1"/>
            </p:cNvGraphicFramePr>
            <p:nvPr/>
          </p:nvGraphicFramePr>
          <p:xfrm>
            <a:off x="4237242" y="4592261"/>
            <a:ext cx="266700" cy="211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5" name="Equation" r:id="rId13" imgW="266400" imgH="228600" progId="Equation.DSMT4">
                    <p:embed/>
                  </p:oleObj>
                </mc:Choice>
                <mc:Fallback>
                  <p:oleObj name="Equation" r:id="rId13" imgW="2664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7242" y="4592261"/>
                          <a:ext cx="266700" cy="211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24368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sustain the laser operation, it requires more electrons in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excited state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(conduction band) than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ground state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Then only the stimulated emissions get higher than the stimulated absorptions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is not possible to achieve population inversion with a 2-state system. If the radiation flux is made very large the probability of stimulated emission and absorption can be made far exceed the rate of spontaneous emission.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create population inversion, a 3-state system is required. The energy level between the ground state E1 and exited state E3 is known as metastable state E2.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By optical pumping electrons </a:t>
            </a:r>
            <a:r>
              <a:rPr lang="en-US" sz="2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from ground state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jumps to exited state by absorbing photons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(10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-8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sec)</a:t>
            </a:r>
          </a:p>
          <a:p>
            <a:r>
              <a:rPr lang="en-US" sz="2000" dirty="0">
                <a:highlight>
                  <a:srgbClr val="00FF00"/>
                </a:highlight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>
                <a:highlight>
                  <a:srgbClr val="00FF00"/>
                </a:highlight>
                <a:latin typeface="Times New Roman" pitchFamily="18" charset="0"/>
                <a:cs typeface="Times New Roman" pitchFamily="18" charset="0"/>
              </a:rPr>
              <a:t>process of attaining </a:t>
            </a:r>
            <a:r>
              <a:rPr lang="en-US" sz="2000" dirty="0">
                <a:highlight>
                  <a:srgbClr val="00FF00"/>
                </a:highlight>
                <a:latin typeface="Times New Roman" pitchFamily="18" charset="0"/>
                <a:cs typeface="Times New Roman" pitchFamily="18" charset="0"/>
              </a:rPr>
              <a:t>a population inversion is called </a:t>
            </a:r>
            <a:r>
              <a:rPr lang="en-US" sz="2000" b="1" dirty="0">
                <a:highlight>
                  <a:srgbClr val="00FF00"/>
                </a:highlight>
                <a:latin typeface="Times New Roman" pitchFamily="18" charset="0"/>
                <a:cs typeface="Times New Roman" pitchFamily="18" charset="0"/>
              </a:rPr>
              <a:t>pumping.</a:t>
            </a:r>
            <a:r>
              <a:rPr lang="en-US" sz="2000" dirty="0">
                <a:highlight>
                  <a:srgbClr val="00FF00"/>
                </a:highlight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is pumped with radiation of energy E3 then electrons in state 3 relax to state 2 non radioactively. 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581400" cy="36512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543800" y="6248400"/>
            <a:ext cx="762000" cy="365125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769965" y="0"/>
            <a:ext cx="7459636" cy="41116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82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Population Inversion</a:t>
            </a:r>
            <a:endParaRPr lang="en-US" sz="3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416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965" y="0"/>
            <a:ext cx="7459636" cy="4111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Population Inversion</a:t>
            </a:r>
            <a:endParaRPr lang="en-US" sz="3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962092" cy="36512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543800" y="6172200"/>
            <a:ext cx="762000" cy="365125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10</a:t>
            </a:fld>
            <a:endParaRPr kumimoji="0" lang="en-US"/>
          </a:p>
        </p:txBody>
      </p: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386357" y="953442"/>
            <a:ext cx="4686322" cy="2341340"/>
            <a:chOff x="976123" y="3588600"/>
            <a:chExt cx="5134070" cy="2602462"/>
          </a:xfrm>
        </p:grpSpPr>
        <p:pic>
          <p:nvPicPr>
            <p:cNvPr id="7" name="Picture 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1668" y="3600262"/>
              <a:ext cx="3438525" cy="2590800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10"/>
            <p:cNvSpPr txBox="1">
              <a:spLocks noChangeArrowheads="1"/>
            </p:cNvSpPr>
            <p:nvPr/>
          </p:nvSpPr>
          <p:spPr bwMode="auto">
            <a:xfrm>
              <a:off x="3766099" y="3808225"/>
              <a:ext cx="12676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>
                  <a:solidFill>
                    <a:schemeClr val="accent2"/>
                  </a:solidFill>
                </a:rPr>
                <a:t>Conduction band</a:t>
              </a:r>
            </a:p>
          </p:txBody>
        </p:sp>
        <p:sp>
          <p:nvSpPr>
            <p:cNvPr id="9" name="TextBox 11"/>
            <p:cNvSpPr txBox="1">
              <a:spLocks noChangeArrowheads="1"/>
            </p:cNvSpPr>
            <p:nvPr/>
          </p:nvSpPr>
          <p:spPr bwMode="auto">
            <a:xfrm>
              <a:off x="3961041" y="4307028"/>
              <a:ext cx="94593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>
                  <a:solidFill>
                    <a:schemeClr val="accent2"/>
                  </a:solidFill>
                </a:rPr>
                <a:t>Valance band</a:t>
              </a:r>
            </a:p>
          </p:txBody>
        </p:sp>
        <p:sp>
          <p:nvSpPr>
            <p:cNvPr id="10" name="TextBox 10"/>
            <p:cNvSpPr txBox="1">
              <a:spLocks noChangeArrowheads="1"/>
            </p:cNvSpPr>
            <p:nvPr/>
          </p:nvSpPr>
          <p:spPr bwMode="auto">
            <a:xfrm>
              <a:off x="2657275" y="4329641"/>
              <a:ext cx="116181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 dirty="0">
                  <a:solidFill>
                    <a:schemeClr val="accent2"/>
                  </a:solidFill>
                </a:rPr>
                <a:t>External photon</a:t>
              </a:r>
            </a:p>
          </p:txBody>
        </p:sp>
        <p:sp>
          <p:nvSpPr>
            <p:cNvPr id="11" name="TextBox 10"/>
            <p:cNvSpPr txBox="1">
              <a:spLocks noChangeArrowheads="1"/>
            </p:cNvSpPr>
            <p:nvPr/>
          </p:nvSpPr>
          <p:spPr bwMode="auto">
            <a:xfrm>
              <a:off x="5174647" y="4302526"/>
              <a:ext cx="834804" cy="513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 dirty="0">
                  <a:solidFill>
                    <a:schemeClr val="accent2"/>
                  </a:solidFill>
                </a:rPr>
                <a:t>Two photons</a:t>
              </a:r>
            </a:p>
          </p:txBody>
        </p:sp>
        <p:sp>
          <p:nvSpPr>
            <p:cNvPr id="12" name="TextBox 10"/>
            <p:cNvSpPr txBox="1">
              <a:spLocks noChangeArrowheads="1"/>
            </p:cNvSpPr>
            <p:nvPr/>
          </p:nvSpPr>
          <p:spPr bwMode="auto">
            <a:xfrm>
              <a:off x="2973065" y="3636936"/>
              <a:ext cx="116181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 b="1" dirty="0">
                  <a:solidFill>
                    <a:schemeClr val="accent2"/>
                  </a:solidFill>
                </a:rPr>
                <a:t>(Before)</a:t>
              </a:r>
            </a:p>
          </p:txBody>
        </p:sp>
        <p:sp>
          <p:nvSpPr>
            <p:cNvPr id="13" name="TextBox 10"/>
            <p:cNvSpPr txBox="1">
              <a:spLocks noChangeArrowheads="1"/>
            </p:cNvSpPr>
            <p:nvPr/>
          </p:nvSpPr>
          <p:spPr bwMode="auto">
            <a:xfrm>
              <a:off x="4430239" y="3588600"/>
              <a:ext cx="116181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 b="1" dirty="0">
                  <a:solidFill>
                    <a:schemeClr val="accent2"/>
                  </a:solidFill>
                </a:rPr>
                <a:t>(After)</a:t>
              </a:r>
            </a:p>
          </p:txBody>
        </p:sp>
        <p:sp>
          <p:nvSpPr>
            <p:cNvPr id="14" name="TextBox 10"/>
            <p:cNvSpPr txBox="1">
              <a:spLocks noChangeArrowheads="1"/>
            </p:cNvSpPr>
            <p:nvPr/>
          </p:nvSpPr>
          <p:spPr bwMode="auto">
            <a:xfrm>
              <a:off x="3791750" y="5200955"/>
              <a:ext cx="12676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 dirty="0">
                  <a:solidFill>
                    <a:schemeClr val="accent2"/>
                  </a:solidFill>
                </a:rPr>
                <a:t>Conduction band</a:t>
              </a:r>
            </a:p>
          </p:txBody>
        </p:sp>
        <p:sp>
          <p:nvSpPr>
            <p:cNvPr id="15" name="TextBox 11"/>
            <p:cNvSpPr txBox="1">
              <a:spLocks noChangeArrowheads="1"/>
            </p:cNvSpPr>
            <p:nvPr/>
          </p:nvSpPr>
          <p:spPr bwMode="auto">
            <a:xfrm>
              <a:off x="3986692" y="5699758"/>
              <a:ext cx="94593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>
                  <a:solidFill>
                    <a:schemeClr val="accent2"/>
                  </a:solidFill>
                </a:rPr>
                <a:t>Valance band</a:t>
              </a:r>
            </a:p>
          </p:txBody>
        </p:sp>
        <p:sp>
          <p:nvSpPr>
            <p:cNvPr id="16" name="TextBox 10"/>
            <p:cNvSpPr txBox="1">
              <a:spLocks noChangeArrowheads="1"/>
            </p:cNvSpPr>
            <p:nvPr/>
          </p:nvSpPr>
          <p:spPr bwMode="auto">
            <a:xfrm>
              <a:off x="976123" y="4069267"/>
              <a:ext cx="12676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 b="1" dirty="0"/>
                <a:t>(Stimulated emission)</a:t>
              </a:r>
            </a:p>
          </p:txBody>
        </p:sp>
        <p:sp>
          <p:nvSpPr>
            <p:cNvPr id="17" name="TextBox 11"/>
            <p:cNvSpPr txBox="1">
              <a:spLocks noChangeArrowheads="1"/>
            </p:cNvSpPr>
            <p:nvPr/>
          </p:nvSpPr>
          <p:spPr bwMode="auto">
            <a:xfrm>
              <a:off x="1125798" y="5328561"/>
              <a:ext cx="1266773" cy="513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 b="1" dirty="0"/>
                <a:t>(Stimulated absorption) </a:t>
              </a:r>
            </a:p>
          </p:txBody>
        </p:sp>
      </p:grpSp>
      <p:pic>
        <p:nvPicPr>
          <p:cNvPr id="2050" name="Picture 2" descr="Image result for population inversion in las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628535"/>
            <a:ext cx="2256033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20" y="3841170"/>
            <a:ext cx="4652018" cy="19369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9" name="Picture 2" descr="Related 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436" y="756594"/>
            <a:ext cx="3371769" cy="2667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270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286500"/>
            <a:ext cx="3733800" cy="434975"/>
          </a:xfrm>
        </p:spPr>
        <p:txBody>
          <a:bodyPr/>
          <a:lstStyle/>
          <a:p>
            <a:r>
              <a:rPr lang="en-US"/>
              <a:t>CCE- 323 ( Optical Fiber Communication 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67602" y="6172200"/>
            <a:ext cx="762000" cy="365125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11</a:t>
            </a:fld>
            <a:endParaRPr kumimoji="0"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53" y="2066330"/>
            <a:ext cx="7868834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69965" y="685800"/>
            <a:ext cx="7535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Energy-level diagrams showing population inversion and lasing for two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non-semiconductor lasers: </a:t>
            </a:r>
          </a:p>
          <a:p>
            <a:pPr marL="342900" indent="-342900">
              <a:buAutoNum type="alphaLcParenBoth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three-level system – ruby (crystal) laser; </a:t>
            </a:r>
          </a:p>
          <a:p>
            <a:pPr marL="342900" indent="-342900">
              <a:buAutoNum type="alphaLcParenBoth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four-level system – He–Ne (gas) laser </a:t>
            </a:r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769965" y="0"/>
            <a:ext cx="7459636" cy="41116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82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Population Inversion</a:t>
            </a:r>
            <a:endParaRPr lang="en-US" sz="3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541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7620000" cy="3491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Amplification of Photons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57200"/>
            <a:ext cx="8305800" cy="57150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Lasers themselves are 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large groups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photons 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focused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into a beam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Stimulated emission works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like an amplifier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If we take a system with a large amount of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atoms that have electrons in high energy states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the electrons will want to come down from those states into a lower one.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Doing so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emits a photon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a certain wavelength,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depending on which energy state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electron began in and which state it dropped to.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 order to get an electron to 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drop from a high state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 a low one, we can make it interact with an electromagnetic wave, or another photon!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Under the hood is a quantum process that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allows us to essentially put in one photon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get two out of the exact same wavelength.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is "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stimulation"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portion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of Einstein‘s theory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another photon interacts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with 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electron with a high energy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atom,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electron will drop and emit two photons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is our "emission". The entire process gives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us an amplification of photons that can be used 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for our laser.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200400" cy="36512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6172200"/>
            <a:ext cx="762000" cy="365125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12</a:t>
            </a:fld>
            <a:endParaRPr kumimoji="0"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218" y="3190568"/>
            <a:ext cx="3810000" cy="2753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5787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7467600" cy="4111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Application of laser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0593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Medicine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: Bloodless surgery, laser healing, surgical treatment, kidney stone treatment, eye treatment, dentistry, etc.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Industry :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Cutting, welding, material heat treatment, marking parts.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Defense :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Marking targets, guiding munitions, missile defense, electro-optical countermeasures (EOCM), alternative to radar.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Research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Spectroscopy, laser ablation, Laser annealing, laser scattering, laser interferometer, LIDAR (Light Detection And Ranging).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Product development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Laser printers, CDs, barcode scanners, thermometers, laser pointers, holograms, bubble grams.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Laser lighting displays :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Laser light shows.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Laser skin procedures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such as acne treatment, cellulite reduction, and hair removal.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485948"/>
            <a:ext cx="3276600" cy="365125"/>
          </a:xfrm>
        </p:spPr>
        <p:txBody>
          <a:bodyPr/>
          <a:lstStyle/>
          <a:p>
            <a:r>
              <a:rPr lang="en-US" dirty="0"/>
              <a:t>CCE- 323 ( Optical Fiber Communication 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6172200"/>
            <a:ext cx="762000" cy="365125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13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670033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6038"/>
            <a:ext cx="7543800" cy="411162"/>
          </a:xfrm>
        </p:spPr>
        <p:txBody>
          <a:bodyPr>
            <a:noAutofit/>
          </a:bodyPr>
          <a:lstStyle/>
          <a:p>
            <a:r>
              <a:rPr lang="de-DE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Light emitting diodes versus laser diodes </a:t>
            </a:r>
            <a:endParaRPr lang="en-US" sz="32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In order to observe spontaneous or stimulated emission we have to </a:t>
            </a:r>
            <a:r>
              <a:rPr lang="en-US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excite the electrons first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before they can return to a lower energetic states. 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Of course </a:t>
            </a:r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energy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has to be </a:t>
            </a:r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provided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to excite the electron. The energy can be provided by </a:t>
            </a:r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heat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absorption of photons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(photoluminescence) or </a:t>
            </a:r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electrical current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(electroluminescent).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We are interested in </a:t>
            </a:r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later case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where the energy is provided by an </a:t>
            </a:r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electrical current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In both types of devices the recombination of carrier is used to provide a photon flux.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However, the emission of light in a </a:t>
            </a:r>
            <a:r>
              <a:rPr lang="en-US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light emitting diode is a spontaneous process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whereas it is a </a:t>
            </a:r>
            <a:r>
              <a:rPr lang="en-US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stimulated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 in a </a:t>
            </a:r>
            <a:r>
              <a:rPr lang="en-US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laser diode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 Therefore, the description of an LED (light emitting diode) is different from the description of a laser diode. 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In both cases a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semiconductor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diode is used, which operates under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forward bias conditions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 Furthermore, the same structure can be used to build an optical amplifier. </a:t>
            </a: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581400" cy="36512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543800" y="6172200"/>
            <a:ext cx="762000" cy="365125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14</a:t>
            </a:fld>
            <a:endParaRPr kumimoji="0"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3992004"/>
            <a:ext cx="3776662" cy="2180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5029200" y="4495800"/>
            <a:ext cx="3657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Forward biased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-diode operating as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(a) LED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(b) semiconductor amplifier,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(c) semiconductor injection laser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038"/>
            <a:ext cx="7467600" cy="411162"/>
          </a:xfrm>
        </p:spPr>
        <p:txBody>
          <a:bodyPr>
            <a:noAutofit/>
          </a:bodyPr>
          <a:lstStyle/>
          <a:p>
            <a:pPr algn="ctr"/>
            <a:r>
              <a:rPr lang="de-DE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Optical emission from semiconductors</a:t>
            </a:r>
            <a:endParaRPr lang="en-US" sz="32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allow consideration of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semiconductor optical sources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is necessary to review some of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properties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of semiconductor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materials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especially with regard to the p–n junction.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perfect semiconductor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crystal containing no impurities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or lattice defects is said to be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intrinsic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Assume that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material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has 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perfect crystal structure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which means that the material has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no structural defects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(structural disorder) and they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do no contain impurities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structural properties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of Semiconductors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have 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strong effect on the electronic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the  Optical properties of the material.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Semiconductors exist as crystalline or amorphous materials.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Crystalline material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exhibit 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high degree of structural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order, whereas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amorphous materials are characterized by a random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or partly random distribution of the atoms or molecules in the solid. We concentrate here only on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crystalline materials.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581400" cy="36512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543800" y="6172200"/>
            <a:ext cx="762000" cy="365125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15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013316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6200"/>
            <a:ext cx="74676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Energy Bands in Semiconductors</a:t>
            </a:r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382000" cy="5668963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band structure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a single atom is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characterized by allowed discrete energy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levels. Electrons can stay on these energy levels.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moving from a single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atom to a solid several of these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energy levels overlap and discrete energy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bands are formed.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band structure of semiconductor is characterized by a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valence band and a conduction band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The two bands are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separated by the band gap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Each band is formed due to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splitting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of one or more atomic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energy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levels.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create an extrinsic semiconductor the material is doped with impurities which either create free electrons (donors) or free holes (acceptors).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donor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impurities are added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the material, the thermally excited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electrons from the donor level are raised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conduction band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(negative charge) to create free carriers so semiconductor is said to be n-type.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acceptor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impurities are added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excited </a:t>
            </a: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electrons are raised from the valence band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to the acceptor impurity levels leaving an excess of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positive charge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carriers in the valence band and creating a p-type semiconductor where the majority carriers are holes.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61125"/>
            <a:ext cx="3886200" cy="39687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543800" y="6172200"/>
            <a:ext cx="762000" cy="365125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16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0536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61125"/>
            <a:ext cx="3886200" cy="39687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543800" y="6172200"/>
            <a:ext cx="762000" cy="365125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17</a:t>
            </a:fld>
            <a:endParaRPr kumimoji="0"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308780"/>
            <a:ext cx="8232228" cy="2850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838200" y="-76200"/>
            <a:ext cx="7467600" cy="48736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Energy Bands in Semiconductors</a:t>
            </a:r>
            <a:r>
              <a:rPr lang="en-US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3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57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609" y="544710"/>
            <a:ext cx="4013576" cy="513556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band structure for an intrinsic semiconductor is shown in the figure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(a) The energy band structure of an intrinsic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semiconductor at a temperature above absolute zero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showing an equal number of electrons and holes in the conduction band and the valence band respectively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(b) The fact whether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conduction band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is occupied by an electron is described by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Fermi-Dirac statistic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The Fermi Dirac function is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probability function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Energy-level occupation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is described by the Fermi–Dirac distribution function (rather than the Boltzmann).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61125"/>
            <a:ext cx="3505200" cy="39687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543800" y="6194470"/>
            <a:ext cx="762000" cy="365125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7319" y="5813821"/>
            <a:ext cx="4470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Forward bias </a:t>
            </a:r>
            <a:r>
              <a:rPr lang="en-US" sz="1400" b="1" dirty="0" err="1">
                <a:latin typeface="Times New Roman" pitchFamily="18" charset="0"/>
                <a:ea typeface="Tahoma" pitchFamily="34" charset="0"/>
                <a:cs typeface="Times New Roman" pitchFamily="18" charset="0"/>
              </a:rPr>
              <a:t>Vf</a:t>
            </a:r>
            <a:r>
              <a:rPr lang="en-US" sz="1400" b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applied </a:t>
            </a:r>
            <a:r>
              <a:rPr lang="en-US" sz="1400" b="1" dirty="0" err="1">
                <a:latin typeface="Times New Roman" pitchFamily="18" charset="0"/>
                <a:ea typeface="Tahoma" pitchFamily="34" charset="0"/>
                <a:cs typeface="Times New Roman" pitchFamily="18" charset="0"/>
              </a:rPr>
              <a:t>fermi</a:t>
            </a:r>
            <a:r>
              <a:rPr lang="en-US" sz="1400" b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level of P down and N up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838200" y="-76200"/>
            <a:ext cx="7467600" cy="48736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2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pn</a:t>
            </a:r>
            <a:r>
              <a:rPr lang="en-US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-junction </a:t>
            </a:r>
            <a:endParaRPr lang="en-US" sz="3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515" y="1379439"/>
            <a:ext cx="4457700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8979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pn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-junction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3091391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Fermi level is a measure of the distribution of carriers in the semiconductor.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Consequently,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probability P(E)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that an electron gains sufficient thermal energy at an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absolute temperature 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such that it will be found occupying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particular energy level 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where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K= 1.381 × 10−23 is Boltzmann’s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constant and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1100" b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is known as the Fermi energy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or Fermi level.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Fermi level can be seen as a probability function, which describes whether the bands are occupied or not.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probability that a state is occupied by an electron or hole is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exact 50% for the Fermi energy.                                          Fermi-Dirac Distribution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61125"/>
            <a:ext cx="3505200" cy="39687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19</a:t>
            </a:fld>
            <a:endParaRPr kumimoji="0"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019" y="2283882"/>
            <a:ext cx="221932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76415"/>
            <a:ext cx="2784635" cy="757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576414"/>
            <a:ext cx="2805113" cy="757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316" y="3733800"/>
            <a:ext cx="1655684" cy="348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43318" y="5334000"/>
            <a:ext cx="816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Fermi-Dirac Distribution for Electrons               Fermi-Dirac Distribution for Holes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519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61125"/>
            <a:ext cx="3505200" cy="39687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543800" y="6194470"/>
            <a:ext cx="762000" cy="365125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20</a:t>
            </a:fld>
            <a:endParaRPr kumimoji="0"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51" y="647327"/>
            <a:ext cx="4050073" cy="240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599788"/>
            <a:ext cx="3889344" cy="261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10" y="3404521"/>
            <a:ext cx="4476890" cy="2708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47" y="3404521"/>
            <a:ext cx="4427553" cy="2708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838200" y="-76200"/>
            <a:ext cx="7467600" cy="48736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2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pn</a:t>
            </a:r>
            <a:r>
              <a:rPr lang="en-US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-junction </a:t>
            </a:r>
            <a:endParaRPr lang="en-US" sz="3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52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3200"/>
            <a:ext cx="8229600" cy="45720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Ec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 &gt; N(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Ev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 , Population inversion satisfy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6088117"/>
            <a:ext cx="8229600" cy="76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 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21</a:t>
            </a:fld>
            <a:endParaRPr kumimoji="0"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9884"/>
            <a:ext cx="4703619" cy="2775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719" y="3405352"/>
            <a:ext cx="4191000" cy="237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3871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53000"/>
            <a:ext cx="8229600" cy="1295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degenerate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junction: (a) with no applied bias; (b) with strong forward bias such that the separation of the quasi-Fermi levels is higher than the electron–hole recombination energy </a:t>
            </a:r>
            <a:r>
              <a:rPr lang="en-US" sz="1800" i="1" dirty="0" err="1">
                <a:latin typeface="Times New Roman" pitchFamily="18" charset="0"/>
                <a:cs typeface="Times New Roman" pitchFamily="18" charset="0"/>
              </a:rPr>
              <a:t>hf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 the narrow active region. Hence stimulated emission is obtained in this region 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962400" cy="36512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22</a:t>
            </a:fld>
            <a:endParaRPr kumimoji="0"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-6626"/>
            <a:ext cx="46863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9803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pn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-junction 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7772400" cy="5410200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pn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-junction is formed by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creating adjoining p- and n-semiconductor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As a consequence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depletion layer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is formed by the recombination of free carriers (a).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potential barrier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between the p- and n-type regions which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restricts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inter-diffusion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majority carriers from their respective regions(b).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absence of an applied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bias voltage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no net current is flowing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through the diode.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width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the depletion layer and the magnitude of the electric field (potential barrier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) depends on the doping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level in the p and n- type region 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If now a voltage is applied to the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pn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-junction the potential barrier is either increased or lowered.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positive applied voltages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diode is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forward biased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the potential barrier is lowered, whereas for </a:t>
            </a:r>
            <a:r>
              <a:rPr lang="en-US" sz="1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negative voltages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diode is in </a:t>
            </a:r>
            <a:r>
              <a:rPr lang="en-US" sz="1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reverse biased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the potential barrier is increased.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As a consequence the electric field in the depletion layer is increased or decreased. Electrons from the n-type region and holes from the p-type region can flow more readily across the junction into the opposite type region.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situation in suitable semiconductor materials allows carrier recombination with the emission of light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77000"/>
            <a:ext cx="3429000" cy="380999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23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17217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pn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-junction  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77000"/>
            <a:ext cx="3429000" cy="380999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24</a:t>
            </a:fld>
            <a:endParaRPr kumimoji="0"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61697"/>
            <a:ext cx="7239000" cy="5518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1439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08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Diodes under forward bias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Under forward bias conditions electrons and holes are injected in the semiconductor via the contacts. Electrons are injected via the n-type region and holes are injected via the p-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tpye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region.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Due to injection of carriers the concentration of minority carriers will increase in the vicinity of the depletion region.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Electrons are minority carriers in an p-type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semiconductor and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holes are minority carriers in an n-type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semiconductor.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opposite of minority carriers are majority carriers. Therefore,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electrons are majority carriers in an n-type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semiconductor and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holes are majority carriers in an p-type.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If we now increase the concentration of minority carriers in a semiconductor a lot of the carriers will recombine via the majority carriers in this material.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For example the concentration of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electrons in the p-region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a </a:t>
            </a:r>
            <a:r>
              <a:rPr lang="en-US" sz="1800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pn</a:t>
            </a:r>
            <a:r>
              <a:rPr lang="en-US" sz="1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-diode can be increased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by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applying forward bias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 the diode.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concentration of minority carriers in the vicinity of the depletion region is increased due to the diffusion of carriers. Recombination can be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radiative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or non-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radiative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p–n junction with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forward bias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giving </a:t>
            </a:r>
            <a:r>
              <a:rPr lang="en-US" sz="1800" b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spontaneous emission of photons.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3124200" cy="501649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25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57338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5426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Diodes under forward bias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3124200" cy="501649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26</a:t>
            </a:fld>
            <a:endParaRPr kumimoji="0"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35094"/>
            <a:ext cx="7772400" cy="3331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7118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Direct and indirect band gap semiconductors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Typical examples of direct semiconductors are Gallium Arsenide 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GaAs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),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indium phosphide 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InP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 or Gallium Nitride 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GaN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most useful materials for this purpose are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direct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bandgap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semiconductors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 which electrons and holes on either side of the forbidden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energy gap have the same value of crystal momentum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thus direct recombination is possible (a)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Hence when electron–hole recombination occurs the momentum of the electron remains virtually constant and the energy released, which corresponds to the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bandgap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energy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may be emitted as light.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Typical materials for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indirect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semiconductors are silicon (Si) or germanium 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Ge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 indirect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bandgap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semiconductors, however,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maximum and minimum energies occur at different v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alues of crystal momentum (b)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For electron–hole recombination to take place it is essential that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electron loses momentum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such that it has a value of momentum corresponding to the maximum energy of the valence band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. Recombination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 indirect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bandgap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semiconductors is relatively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slow.</a:t>
            </a:r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 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27</a:t>
            </a:fld>
            <a:endParaRPr kumimoji="0"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40" y="1175084"/>
            <a:ext cx="8507060" cy="4692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358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Semiconductor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semiconductor materials used for optical sources must broadly fulfill several criteria. These are as follows:</a:t>
            </a:r>
          </a:p>
          <a:p>
            <a:pPr lvl="1">
              <a:buFont typeface="+mj-lt"/>
              <a:buAutoNum type="arabicPeriod"/>
            </a:pPr>
            <a:r>
              <a:rPr lang="en-US" sz="18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1800" b="1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junction formation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The materials must lend themselves to the formation of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junctions with suitable characteristics for carrier injection.</a:t>
            </a:r>
          </a:p>
          <a:p>
            <a:pPr lvl="1">
              <a:buFont typeface="+mj-lt"/>
              <a:buAutoNum type="arabicPeriod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Efficient electroluminescence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The devices fabricated must have a high probability of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radiative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transitions and therefore a high internal quantum efficiency. Hence the materials utilized must be either direct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bandgap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semiconductors or indirect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bandgap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semiconductors with appropriate impurity centers.</a:t>
            </a:r>
          </a:p>
          <a:p>
            <a:pPr lvl="1">
              <a:buFont typeface="+mj-lt"/>
              <a:buAutoNum type="arabicPeriod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Useful emission wavelength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The materials must emit light at a suitable wavelength to be utilized with current optical fibers and detectors (0.8 to 1.7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μm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). Ideally, they should allow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bandgap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variation with appropriate doping and fabrication in order that emission at a desired specific wavelength may be achieved.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 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28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182846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70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Semiconductor Injection Laser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983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Stimulated emission by the recombination of the injected carriers is encouraged in the semiconductor injection laser (also called the injection laser diode ) by the provision of an optical cavity in the crystal structure in order to provide the feedback of photons. The injection laser several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major advantages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over other semiconductor sources (e.g. LEDs) that may be used for optical communications. These are as follows: </a:t>
            </a:r>
          </a:p>
          <a:p>
            <a:pPr lvl="1">
              <a:buFont typeface="+mj-lt"/>
              <a:buAutoNum type="arabicPeriod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High radiance due to the amplifying effect of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stimulated emission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Injection lasers will generally supply mill-watts of optical output power.</a:t>
            </a:r>
          </a:p>
          <a:p>
            <a:pPr lvl="1">
              <a:buFont typeface="+mj-lt"/>
              <a:buAutoNum type="arabicPeriod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Narrow line width on the order of 1 nm (10 Å) or less which is useful in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minimizing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the effects of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material dispersion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buFont typeface="+mj-lt"/>
              <a:buAutoNum type="arabicPeriod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Modulation capabilities which at present extend up into the gigahertz range and will undoubtedly be improved upon.</a:t>
            </a:r>
          </a:p>
          <a:p>
            <a:pPr lvl="1">
              <a:buFont typeface="+mj-lt"/>
              <a:buAutoNum type="arabicPeriod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Relative temporal coherence which is considered essential to allow heterodyne (coherent) detection in high-capacity systems, but at present is primarily of use in single-mode systems.</a:t>
            </a:r>
          </a:p>
          <a:p>
            <a:pPr lvl="1">
              <a:buFont typeface="+mj-lt"/>
              <a:buAutoNum type="arabicPeriod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Good spatial coherence which allows the output to be focused by a lens into a spot which has a greater intensity than the dispersed unfocused emission. 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429000" cy="36512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29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78148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475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Distributed Feedback Lasers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84237"/>
            <a:ext cx="7620000" cy="452596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Used to generate signal with single frequency and Less susceptible to temperature variation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has diffraction grating above active region and diffraction grating function as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bragg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reflector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Distributed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Bragg diffraction grating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provides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periodic variation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 refractive index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Feedback of optical energy is obtained through Bragg reflection  rather than by the usual cleaved mirrors.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 optical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Bragg grating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is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transparent device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with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periodic variation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the refractive index, so that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large reflectance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(reflectivity)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may be reached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 some wavelength range (bandwidth) around a certain wavelength which fulfills the Bragg condition :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The angle of incidence = angle of scattering.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single-frequency operation of (a) the distributed feedback (DFB) laser in comparison with (b) the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Fabry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Pérot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laser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133600" cy="36512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30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053089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85426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Distributed Feedback Lasers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133600" cy="36512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31</a:t>
            </a:fld>
            <a:endParaRPr kumimoji="0" 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33600"/>
            <a:ext cx="7258334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099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4506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Distributed Feedback Lasers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762001"/>
            <a:ext cx="8229600" cy="3581400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When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period of the corrugation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is equal to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lλB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/2ne, where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 is the integer order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the grating,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λB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is the Bragg wavelength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ne is the effective refractive index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the waveguide, then only the mode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near the Bragg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wavelength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λB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is reflected constructively 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Figure (a), particular mode will lase while the other modes exhibiting higher losses are suppressed from oscillation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should be noted that first-order gratings (i.e. l = 1) provide the strongest coupling within the device.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From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viewpoint of device operation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semiconductor lasers employing the distributed feedback mechanism can be said,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(a) Distributed feedback (DFB) laser  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(b) Distributed Bragg reflector (DBR) laser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3276600" cy="36512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32</a:t>
            </a:fld>
            <a:endParaRPr kumimoji="0"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481015"/>
            <a:ext cx="3838575" cy="150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290515"/>
            <a:ext cx="4133850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54343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904" y="289719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Distributed Feedback Lasers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762000"/>
            <a:ext cx="8229600" cy="548640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distributed feedback laser replaces the back mirror with a grating along the Cavity axis.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since the light is being reflected by the grating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the reflected light is always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correct phase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no matter if it was reflected from the front or back of the grating.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distributed nature of the Reflection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sharpens the cavity resonance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distributed feedback lasers are typically of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much narrower Bandwidth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than the same laser with mirrors.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DFB laser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optical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grating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is usually applied above the entire active region which is pumped.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DBR laser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grating is etched only near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cavity ends and hence distributed feedback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does not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occur in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central active region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Both DBR and DFB lasers are used to provide single-frequency semiconductor optical sources.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DBR uses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high index contrast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high reflectivity surface grating. The DFB uses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low index contrast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low reflectivity buried grating.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In the case of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fiber laser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the distributed reflection occurs in a fiber Bragg grating, typically with a length of a few millimeters or centimeters.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3276600" cy="36512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33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241653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229600" cy="1554162"/>
          </a:xfrm>
        </p:spPr>
        <p:txBody>
          <a:bodyPr/>
          <a:lstStyle/>
          <a:p>
            <a:r>
              <a:rPr lang="en-US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THANKS</a:t>
            </a:r>
            <a:r>
              <a:rPr lang="en-US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667001"/>
            <a:ext cx="7848600" cy="2057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END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276600" cy="365125"/>
          </a:xfrm>
        </p:spPr>
        <p:txBody>
          <a:bodyPr/>
          <a:lstStyle/>
          <a:p>
            <a:r>
              <a:rPr lang="en-US"/>
              <a:t>CCE- 323 ( Optical Fiber Communication 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34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638516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8798</TotalTime>
  <Words>4054</Words>
  <Application>Microsoft Office PowerPoint</Application>
  <PresentationFormat>On-screen Show (4:3)</PresentationFormat>
  <Paragraphs>295</Paragraphs>
  <Slides>34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Impact</vt:lpstr>
      <vt:lpstr>Tahoma</vt:lpstr>
      <vt:lpstr>Times New Roman</vt:lpstr>
      <vt:lpstr>NewsPrint</vt:lpstr>
      <vt:lpstr>Equation</vt:lpstr>
      <vt:lpstr>Optical sources </vt:lpstr>
      <vt:lpstr>Introduction </vt:lpstr>
      <vt:lpstr>Characteristics of laser</vt:lpstr>
      <vt:lpstr>Absorption and Emission of light </vt:lpstr>
      <vt:lpstr>Spontaneous Emission </vt:lpstr>
      <vt:lpstr>Stimulated Emission </vt:lpstr>
      <vt:lpstr>Emission </vt:lpstr>
      <vt:lpstr>Laser Operation</vt:lpstr>
      <vt:lpstr>PowerPoint Presentation</vt:lpstr>
      <vt:lpstr>Population Inversion</vt:lpstr>
      <vt:lpstr>PowerPoint Presentation</vt:lpstr>
      <vt:lpstr>Amplification of Photons</vt:lpstr>
      <vt:lpstr>Application of laser</vt:lpstr>
      <vt:lpstr>Light emitting diodes versus laser diodes </vt:lpstr>
      <vt:lpstr>Optical emission from semiconductors</vt:lpstr>
      <vt:lpstr>Energy Bands in Semiconductors </vt:lpstr>
      <vt:lpstr>PowerPoint Presentation</vt:lpstr>
      <vt:lpstr>PowerPoint Presentation</vt:lpstr>
      <vt:lpstr>The pn-junction </vt:lpstr>
      <vt:lpstr>PowerPoint Presentation</vt:lpstr>
      <vt:lpstr>N(Ec) &gt; N(Ev) , Population inversion satisfy</vt:lpstr>
      <vt:lpstr>PowerPoint Presentation</vt:lpstr>
      <vt:lpstr>The pn-junction  </vt:lpstr>
      <vt:lpstr>The pn-junction  </vt:lpstr>
      <vt:lpstr>Diodes under forward bias </vt:lpstr>
      <vt:lpstr>Diodes under forward bias </vt:lpstr>
      <vt:lpstr>Direct and indirect band gap semiconductors</vt:lpstr>
      <vt:lpstr>Semiconductor materials</vt:lpstr>
      <vt:lpstr>Semiconductor Injection Laser </vt:lpstr>
      <vt:lpstr>Distributed Feedback Lasers </vt:lpstr>
      <vt:lpstr>Distributed Feedback Lasers </vt:lpstr>
      <vt:lpstr>Distributed Feedback Lasers </vt:lpstr>
      <vt:lpstr>Distributed Feedback Lasers </vt:lpstr>
      <vt:lpstr>THANKS </vt:lpstr>
    </vt:vector>
  </TitlesOfParts>
  <Company>iitg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8085 Architecture  &amp;  Its Assembly language programming</dc:title>
  <dc:creator>asahu</dc:creator>
  <cp:lastModifiedBy>Hasan Ahammad</cp:lastModifiedBy>
  <cp:revision>1038</cp:revision>
  <dcterms:created xsi:type="dcterms:W3CDTF">2010-08-03T12:41:21Z</dcterms:created>
  <dcterms:modified xsi:type="dcterms:W3CDTF">2024-11-02T08:10:54Z</dcterms:modified>
</cp:coreProperties>
</file>