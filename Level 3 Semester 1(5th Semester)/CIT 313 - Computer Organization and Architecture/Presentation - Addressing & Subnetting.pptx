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9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6858000" cy="9144000"/>
  <p:embeddedFontLst>
    <p:embeddedFont>
      <p:font typeface="Gilda Display" panose="020B0604020202020204" charset="0"/>
      <p:regular r:id="rId20"/>
    </p:embeddedFont>
    <p:embeddedFont>
      <p:font typeface="HK Grotesk" panose="020B0604020202020204" charset="0"/>
      <p:regular r:id="rId21"/>
    </p:embeddedFont>
    <p:embeddedFont>
      <p:font typeface="HK Grotesk Bold" panose="020B0604020202020204" charset="0"/>
      <p:regular r:id="rId22"/>
    </p:embeddedFont>
    <p:embeddedFont>
      <p:font typeface="HK Grotesk Light" panose="020B0604020202020204" charset="0"/>
      <p:regular r:id="rId23"/>
    </p:embeddedFont>
    <p:embeddedFont>
      <p:font typeface="Trebuchet MS" panose="020B0603020202020204" pitchFamily="34" charset="0"/>
      <p:regular r:id="rId24"/>
      <p:bold r:id="rId25"/>
      <p:italic r:id="rId26"/>
      <p:boldItalic r:id="rId27"/>
    </p:embeddedFont>
    <p:embeddedFont>
      <p:font typeface="Wingdings 3" panose="05040102010807070707" pitchFamily="18" charset="2"/>
      <p:regular r:id="rId2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7" d="100"/>
          <a:sy n="57" d="100"/>
        </p:scale>
        <p:origin x="34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2700"/>
            <a:ext cx="18288000" cy="10299701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0601" y="3606801"/>
            <a:ext cx="11650404" cy="2469453"/>
          </a:xfrm>
        </p:spPr>
        <p:txBody>
          <a:bodyPr anchor="b">
            <a:noAutofit/>
          </a:bodyPr>
          <a:lstStyle>
            <a:lvl1pPr algn="r">
              <a:defRPr sz="8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0601" y="6076250"/>
            <a:ext cx="11650404" cy="164534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793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320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4051301"/>
            <a:ext cx="12895002" cy="2739872"/>
          </a:xfrm>
        </p:spPr>
        <p:txBody>
          <a:bodyPr anchor="b"/>
          <a:lstStyle>
            <a:lvl1pPr algn="l">
              <a:defRPr sz="6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1290600"/>
          </a:xfrm>
        </p:spPr>
        <p:txBody>
          <a:bodyPr anchor="t"/>
          <a:lstStyle>
            <a:lvl1pPr marL="0" indent="0" algn="l">
              <a:buNone/>
              <a:defRPr sz="3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426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6002" y="3240884"/>
            <a:ext cx="6276053" cy="58211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34955" y="3240884"/>
            <a:ext cx="6276051" cy="5821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237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3618" y="3241475"/>
            <a:ext cx="6278435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3618" y="4105868"/>
            <a:ext cx="6278435" cy="495617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32575" y="3241475"/>
            <a:ext cx="6278427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32577" y="4105868"/>
            <a:ext cx="6278426" cy="495617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494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1" y="914400"/>
            <a:ext cx="12895002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781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600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1" y="2247906"/>
            <a:ext cx="5781792" cy="1917699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40692" y="772387"/>
            <a:ext cx="6770312" cy="828965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001" y="4165604"/>
            <a:ext cx="5781792" cy="3876674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685595" indent="0">
              <a:buNone/>
              <a:defRPr sz="2100"/>
            </a:lvl2pPr>
            <a:lvl3pPr marL="1371189" indent="0">
              <a:buNone/>
              <a:defRPr sz="1800"/>
            </a:lvl3pPr>
            <a:lvl4pPr marL="2056784" indent="0">
              <a:buNone/>
              <a:defRPr sz="1500"/>
            </a:lvl4pPr>
            <a:lvl5pPr marL="2742377" indent="0">
              <a:buNone/>
              <a:defRPr sz="1500"/>
            </a:lvl5pPr>
            <a:lvl6pPr marL="3427971" indent="0">
              <a:buNone/>
              <a:defRPr sz="1500"/>
            </a:lvl6pPr>
            <a:lvl7pPr marL="4113566" indent="0">
              <a:buNone/>
              <a:defRPr sz="1500"/>
            </a:lvl7pPr>
            <a:lvl8pPr marL="4799160" indent="0">
              <a:buNone/>
              <a:defRPr sz="1500"/>
            </a:lvl8pPr>
            <a:lvl9pPr marL="5484755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333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2" y="7200900"/>
            <a:ext cx="12895001" cy="85010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16001" y="914400"/>
            <a:ext cx="12895002" cy="576857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6002" y="8051007"/>
            <a:ext cx="12895001" cy="1011036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251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914400"/>
            <a:ext cx="12895002" cy="51054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05600"/>
            <a:ext cx="12895002" cy="2356443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415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001" y="914400"/>
            <a:ext cx="12141201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049209" y="5448300"/>
            <a:ext cx="10836786" cy="5715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05600"/>
            <a:ext cx="12895002" cy="2356443"/>
          </a:xfrm>
        </p:spPr>
        <p:txBody>
          <a:bodyPr anchor="ctr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812805" y="1185567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39517" y="4329834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270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787888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3" y="2897982"/>
            <a:ext cx="12895002" cy="3893190"/>
          </a:xfrm>
        </p:spPr>
        <p:txBody>
          <a:bodyPr anchor="b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1437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7001" y="914400"/>
            <a:ext cx="12141201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15999" y="6019800"/>
            <a:ext cx="12895004" cy="77137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812805" y="1185567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9517" y="4329834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/>
          <a:p>
            <a:pPr lvl="0"/>
            <a:r>
              <a:rPr lang="en-US" sz="12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766378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914400"/>
            <a:ext cx="12882305" cy="4533900"/>
          </a:xfrm>
        </p:spPr>
        <p:txBody>
          <a:bodyPr anchor="ctr">
            <a:normAutofit/>
          </a:bodyPr>
          <a:lstStyle>
            <a:lvl1pPr algn="l">
              <a:defRPr sz="6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15999" y="6019800"/>
            <a:ext cx="12895004" cy="77137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600">
                <a:solidFill>
                  <a:schemeClr val="accent1"/>
                </a:solidFill>
              </a:defRPr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3" y="6791172"/>
            <a:ext cx="12895002" cy="2270871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4568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374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951510" y="914399"/>
            <a:ext cx="1957115" cy="787717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6003" y="914400"/>
            <a:ext cx="10590225" cy="78771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105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2700"/>
            <a:ext cx="18288000" cy="10299701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6001" y="914400"/>
            <a:ext cx="12895002" cy="19812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1" y="3240884"/>
            <a:ext cx="12895002" cy="5821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807700" y="9062044"/>
            <a:ext cx="1367909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16001" y="9062044"/>
            <a:ext cx="9446418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885995" y="9062044"/>
            <a:ext cx="1025009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272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685800" rtl="0" eaLnBrk="1" latinLnBrk="0" hangingPunct="1">
        <a:spcBef>
          <a:spcPct val="0"/>
        </a:spcBef>
        <a:buNone/>
        <a:defRPr sz="54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14350" indent="-51435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1114425" indent="-428625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714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2400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30861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7719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44577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5143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5829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66750" y="666750"/>
            <a:ext cx="8629650" cy="8953500"/>
            <a:chOff x="0" y="0"/>
            <a:chExt cx="1336959" cy="13871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36959" cy="1387131"/>
            </a:xfrm>
            <a:custGeom>
              <a:avLst/>
              <a:gdLst/>
              <a:ahLst/>
              <a:cxnLst/>
              <a:rect l="l" t="t" r="r" b="b"/>
              <a:pathLst>
                <a:path w="1336959" h="1387131">
                  <a:moveTo>
                    <a:pt x="35885" y="0"/>
                  </a:moveTo>
                  <a:lnTo>
                    <a:pt x="1301073" y="0"/>
                  </a:lnTo>
                  <a:cubicBezTo>
                    <a:pt x="1310591" y="0"/>
                    <a:pt x="1319718" y="3781"/>
                    <a:pt x="1326448" y="10511"/>
                  </a:cubicBezTo>
                  <a:cubicBezTo>
                    <a:pt x="1333178" y="17240"/>
                    <a:pt x="1336959" y="26368"/>
                    <a:pt x="1336959" y="35885"/>
                  </a:cubicBezTo>
                  <a:lnTo>
                    <a:pt x="1336959" y="1351246"/>
                  </a:lnTo>
                  <a:cubicBezTo>
                    <a:pt x="1336959" y="1360764"/>
                    <a:pt x="1333178" y="1369891"/>
                    <a:pt x="1326448" y="1376621"/>
                  </a:cubicBezTo>
                  <a:cubicBezTo>
                    <a:pt x="1319718" y="1383351"/>
                    <a:pt x="1310591" y="1387131"/>
                    <a:pt x="1301073" y="1387131"/>
                  </a:cubicBezTo>
                  <a:lnTo>
                    <a:pt x="35885" y="1387131"/>
                  </a:lnTo>
                  <a:cubicBezTo>
                    <a:pt x="26368" y="1387131"/>
                    <a:pt x="17240" y="1383351"/>
                    <a:pt x="10511" y="1376621"/>
                  </a:cubicBezTo>
                  <a:cubicBezTo>
                    <a:pt x="3781" y="1369891"/>
                    <a:pt x="0" y="1360764"/>
                    <a:pt x="0" y="1351246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blipFill>
              <a:blip r:embed="rId2"/>
              <a:stretch>
                <a:fillRect t="-199" b="-199"/>
              </a:stretch>
            </a:blipFill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734675" y="631085"/>
            <a:ext cx="6886575" cy="4278802"/>
            <a:chOff x="0" y="-47625"/>
            <a:chExt cx="9182100" cy="5705069"/>
          </a:xfrm>
        </p:grpSpPr>
        <p:sp>
          <p:nvSpPr>
            <p:cNvPr id="6" name="TextBox 6"/>
            <p:cNvSpPr txBox="1"/>
            <p:nvPr/>
          </p:nvSpPr>
          <p:spPr>
            <a:xfrm>
              <a:off x="0" y="2559068"/>
              <a:ext cx="9182100" cy="30983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99"/>
                </a:lnSpc>
              </a:pPr>
              <a:r>
                <a:rPr lang="en-US" sz="8799" dirty="0">
                  <a:solidFill>
                    <a:srgbClr val="1A237E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Addressing &amp; Subnetting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071668"/>
              <a:ext cx="9182100" cy="9340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880"/>
                </a:lnSpc>
              </a:pPr>
              <a:r>
                <a:rPr lang="en-US" sz="4200">
                  <a:solidFill>
                    <a:srgbClr val="4A4A4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Presentation on IPv4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9182100" cy="5103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79"/>
                </a:lnSpc>
              </a:pPr>
              <a:endParaRPr lang="en-US" sz="2199" dirty="0">
                <a:solidFill>
                  <a:srgbClr val="757575"/>
                </a:solidFill>
                <a:latin typeface="HK Grotesk Light"/>
                <a:ea typeface="HK Grotesk Light"/>
                <a:cs typeface="HK Grotesk Light"/>
                <a:sym typeface="HK Grotesk Light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9795E5D-6C55-A04B-29F5-6E752A042094}"/>
              </a:ext>
            </a:extLst>
          </p:cNvPr>
          <p:cNvSpPr txBox="1"/>
          <p:nvPr/>
        </p:nvSpPr>
        <p:spPr>
          <a:xfrm>
            <a:off x="10901362" y="5862819"/>
            <a:ext cx="5419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Submitted by: </a:t>
            </a:r>
            <a:r>
              <a:rPr lang="en-US" sz="2400" b="1" dirty="0"/>
              <a:t>Shaid </a:t>
            </a:r>
            <a:r>
              <a:rPr lang="en-US" sz="2400" b="1" dirty="0" err="1"/>
              <a:t>Ibna</a:t>
            </a:r>
            <a:r>
              <a:rPr lang="en-US" sz="2400" b="1" dirty="0"/>
              <a:t> Sobhan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05025" y="4248150"/>
            <a:ext cx="12639675" cy="2247900"/>
            <a:chOff x="0" y="0"/>
            <a:chExt cx="16852900" cy="2997200"/>
          </a:xfrm>
        </p:grpSpPr>
        <p:sp>
          <p:nvSpPr>
            <p:cNvPr id="3" name="TextBox 3"/>
            <p:cNvSpPr txBox="1"/>
            <p:nvPr/>
          </p:nvSpPr>
          <p:spPr>
            <a:xfrm>
              <a:off x="0" y="171450"/>
              <a:ext cx="16852900" cy="1612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99"/>
                </a:lnSpc>
              </a:pPr>
              <a:r>
                <a:rPr lang="en-US" sz="8799">
                  <a:solidFill>
                    <a:srgbClr val="1A237E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Introduction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378075"/>
              <a:ext cx="168529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</a:pPr>
              <a:r>
                <a:rPr lang="en-US" sz="3000" b="1">
                  <a:solidFill>
                    <a:srgbClr val="75757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Overview of IPv4 Addressing and Subnetting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05025" y="3002297"/>
            <a:ext cx="12639675" cy="3914808"/>
            <a:chOff x="0" y="0"/>
            <a:chExt cx="16852900" cy="5219744"/>
          </a:xfrm>
        </p:grpSpPr>
        <p:sp>
          <p:nvSpPr>
            <p:cNvPr id="3" name="TextBox 3"/>
            <p:cNvSpPr txBox="1"/>
            <p:nvPr/>
          </p:nvSpPr>
          <p:spPr>
            <a:xfrm>
              <a:off x="0" y="171450"/>
              <a:ext cx="16852900" cy="1612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99"/>
                </a:lnSpc>
              </a:pPr>
              <a:r>
                <a:rPr lang="en-US" sz="8799">
                  <a:solidFill>
                    <a:srgbClr val="1A237E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What is IPv4?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251244"/>
              <a:ext cx="16852900" cy="1968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>
                  <a:solidFill>
                    <a:srgbClr val="757575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IPv4, or Internet Protocol version 4, is essential for defining network addresses and facilitating communication across the internet, with approximately </a:t>
              </a:r>
              <a:r>
                <a:rPr lang="en-US" sz="3000" b="1">
                  <a:solidFill>
                    <a:srgbClr val="757575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4.3 billion unique addresses</a:t>
              </a:r>
              <a:r>
                <a:rPr lang="en-US" sz="3000">
                  <a:solidFill>
                    <a:srgbClr val="757575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available for devices.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086063"/>
              <a:ext cx="168529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</a:pPr>
              <a:r>
                <a:rPr lang="en-US" sz="3000" b="1">
                  <a:solidFill>
                    <a:srgbClr val="4A4A4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Understanding IPv4 Addressing and Its Significance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05025" y="3002297"/>
            <a:ext cx="12639675" cy="3914808"/>
            <a:chOff x="0" y="0"/>
            <a:chExt cx="16852900" cy="5219744"/>
          </a:xfrm>
        </p:grpSpPr>
        <p:sp>
          <p:nvSpPr>
            <p:cNvPr id="3" name="TextBox 3"/>
            <p:cNvSpPr txBox="1"/>
            <p:nvPr/>
          </p:nvSpPr>
          <p:spPr>
            <a:xfrm>
              <a:off x="0" y="171450"/>
              <a:ext cx="16852900" cy="1612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99"/>
                </a:lnSpc>
              </a:pPr>
              <a:r>
                <a:rPr lang="en-US" sz="8799">
                  <a:solidFill>
                    <a:srgbClr val="1A237E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Relevance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251244"/>
              <a:ext cx="16852900" cy="1968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>
                  <a:solidFill>
                    <a:srgbClr val="757575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Understanding IPv4 addressing and subnetting is crucial for networking proficiency, enhancing academic knowledge and preparing students for practical applications in the technology industry.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086063"/>
              <a:ext cx="168529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</a:pPr>
              <a:r>
                <a:rPr lang="en-US" sz="3000" b="1">
                  <a:solidFill>
                    <a:srgbClr val="4A4A4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Significance for Networking and Studies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666750" y="838173"/>
            <a:ext cx="8324850" cy="2280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99"/>
              </a:lnSpc>
            </a:pPr>
            <a:r>
              <a:rPr lang="en-US" sz="8799">
                <a:solidFill>
                  <a:srgbClr val="1A237E"/>
                </a:solidFill>
                <a:latin typeface="Gilda Display"/>
                <a:ea typeface="Gilda Display"/>
                <a:cs typeface="Gilda Display"/>
                <a:sym typeface="Gilda Display"/>
              </a:rPr>
              <a:t>IPv4 Address Structure</a:t>
            </a:r>
          </a:p>
        </p:txBody>
      </p:sp>
      <p:pic>
        <p:nvPicPr>
          <p:cNvPr id="7" name="Picture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30884C11-DE6F-EC2C-7DBC-B692CD7F66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7769" y="2857500"/>
            <a:ext cx="12968241" cy="68648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66750" y="666750"/>
            <a:ext cx="14077950" cy="2062247"/>
            <a:chOff x="0" y="0"/>
            <a:chExt cx="18770600" cy="2749662"/>
          </a:xfrm>
        </p:grpSpPr>
        <p:sp>
          <p:nvSpPr>
            <p:cNvPr id="4" name="TextBox 4"/>
            <p:cNvSpPr txBox="1"/>
            <p:nvPr/>
          </p:nvSpPr>
          <p:spPr>
            <a:xfrm>
              <a:off x="0" y="171450"/>
              <a:ext cx="18770600" cy="1612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99"/>
                </a:lnSpc>
              </a:pPr>
              <a:r>
                <a:rPr lang="en-US" sz="8799">
                  <a:solidFill>
                    <a:srgbClr val="1A237E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IPv4 Address Structure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130537"/>
              <a:ext cx="187706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4A4A4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Understanding the 32-bit addressing scheme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6750" y="5143500"/>
            <a:ext cx="5448300" cy="3333750"/>
            <a:chOff x="0" y="0"/>
            <a:chExt cx="7264400" cy="4445000"/>
          </a:xfrm>
        </p:grpSpPr>
        <p:sp>
          <p:nvSpPr>
            <p:cNvPr id="7" name="TextBox 7"/>
            <p:cNvSpPr txBox="1"/>
            <p:nvPr/>
          </p:nvSpPr>
          <p:spPr>
            <a:xfrm>
              <a:off x="0" y="-9525"/>
              <a:ext cx="72644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4A4A4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32-bit Structure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155700"/>
              <a:ext cx="7264400" cy="3289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 u="none" strike="noStrike">
                  <a:solidFill>
                    <a:srgbClr val="9E9E9E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An IPv4 address consists of </a:t>
              </a:r>
              <a:r>
                <a:rPr lang="en-US" sz="3000" b="1" u="none" strike="noStrike">
                  <a:solidFill>
                    <a:srgbClr val="9E9E9E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32 bits</a:t>
              </a:r>
              <a:r>
                <a:rPr lang="en-US" sz="3000" u="none" strike="noStrike">
                  <a:solidFill>
                    <a:srgbClr val="9E9E9E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divided into four octets. Each octet is represented in decimal format, typically ranging from 0 to 255.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419850" y="5143500"/>
            <a:ext cx="5448300" cy="3829050"/>
            <a:chOff x="0" y="0"/>
            <a:chExt cx="7264400" cy="5105400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72644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4A4A4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Network ID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155700"/>
              <a:ext cx="7264400" cy="3949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 u="none" strike="noStrike">
                  <a:solidFill>
                    <a:srgbClr val="9E9E9E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The </a:t>
              </a:r>
              <a:r>
                <a:rPr lang="en-US" sz="3000" b="1" u="none" strike="noStrike">
                  <a:solidFill>
                    <a:srgbClr val="9E9E9E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Network ID</a:t>
              </a:r>
              <a:r>
                <a:rPr lang="en-US" sz="3000" u="none" strike="noStrike">
                  <a:solidFill>
                    <a:srgbClr val="9E9E9E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identifies the specific network segment. It is crucial for routing packets across the internet and differentiates various networks from each other.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172950" y="5143500"/>
            <a:ext cx="5448300" cy="3829050"/>
            <a:chOff x="0" y="0"/>
            <a:chExt cx="7264400" cy="5105400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9525"/>
              <a:ext cx="72644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4A4A4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Host ID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155700"/>
              <a:ext cx="7264400" cy="3949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 u="none" strike="noStrike">
                  <a:solidFill>
                    <a:srgbClr val="9E9E9E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The </a:t>
              </a:r>
              <a:r>
                <a:rPr lang="en-US" sz="3000" b="1" u="none" strike="noStrike">
                  <a:solidFill>
                    <a:srgbClr val="9E9E9E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Host ID</a:t>
              </a:r>
              <a:r>
                <a:rPr lang="en-US" sz="3000" u="none" strike="noStrike">
                  <a:solidFill>
                    <a:srgbClr val="9E9E9E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portion specifies individual devices within the network. This allows for multiple hosts to be identified on the same network using unique identifiers.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66750" y="666750"/>
            <a:ext cx="14077950" cy="2062247"/>
            <a:chOff x="0" y="0"/>
            <a:chExt cx="18770600" cy="2749662"/>
          </a:xfrm>
        </p:grpSpPr>
        <p:sp>
          <p:nvSpPr>
            <p:cNvPr id="4" name="TextBox 4"/>
            <p:cNvSpPr txBox="1"/>
            <p:nvPr/>
          </p:nvSpPr>
          <p:spPr>
            <a:xfrm>
              <a:off x="0" y="171450"/>
              <a:ext cx="18770600" cy="1612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99"/>
                </a:lnSpc>
              </a:pPr>
              <a:r>
                <a:rPr lang="en-US" sz="8799">
                  <a:solidFill>
                    <a:srgbClr val="1A237E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IPv4 Address Classes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130537"/>
              <a:ext cx="187706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4A4A4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Understanding Different IP Classifications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6750" y="5136356"/>
            <a:ext cx="5448300" cy="2839585"/>
            <a:chOff x="0" y="-9525"/>
            <a:chExt cx="7264400" cy="3786113"/>
          </a:xfrm>
        </p:grpSpPr>
        <p:sp>
          <p:nvSpPr>
            <p:cNvPr id="7" name="TextBox 7"/>
            <p:cNvSpPr txBox="1"/>
            <p:nvPr/>
          </p:nvSpPr>
          <p:spPr>
            <a:xfrm>
              <a:off x="0" y="-9525"/>
              <a:ext cx="72644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4A4A4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Class A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155700"/>
              <a:ext cx="7264400" cy="26208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 u="none" strike="noStrike" dirty="0">
                  <a:latin typeface="Times New Roman" panose="02020603050405020304" pitchFamily="18" charset="0"/>
                  <a:ea typeface="HK Grotesk Light"/>
                  <a:cs typeface="Times New Roman" panose="02020603050405020304" pitchFamily="18" charset="0"/>
                  <a:sym typeface="HK Grotesk Light"/>
                </a:rPr>
                <a:t>Class A addresses range from 1.0.0.0 to 126.0.0.0, allowing for a large number of hosts, typically used for very large networks.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419850" y="5136356"/>
            <a:ext cx="5448300" cy="3339722"/>
            <a:chOff x="0" y="-9525"/>
            <a:chExt cx="7264400" cy="4452962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72644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4A4A4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Class B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155700"/>
              <a:ext cx="7264400" cy="32877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 u="none" strike="noStrike" dirty="0">
                  <a:latin typeface="Times New Roman" panose="02020603050405020304" pitchFamily="18" charset="0"/>
                  <a:ea typeface="HK Grotesk Light"/>
                  <a:cs typeface="Times New Roman" panose="02020603050405020304" pitchFamily="18" charset="0"/>
                  <a:sym typeface="HK Grotesk Light"/>
                </a:rPr>
                <a:t>Class B addresses range from 128.0.0.0 to 191.255.0.0, suitable for medium to large networks, supporting up to 65,534 hosts in each class B network.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172950" y="5136356"/>
            <a:ext cx="5448300" cy="2839585"/>
            <a:chOff x="0" y="-9525"/>
            <a:chExt cx="7264400" cy="3786113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9525"/>
              <a:ext cx="72644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4A4A4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Class C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155700"/>
              <a:ext cx="7264400" cy="26208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 u="none" strike="noStrike" dirty="0">
                  <a:latin typeface="Times New Roman" panose="02020603050405020304" pitchFamily="18" charset="0"/>
                  <a:ea typeface="HK Grotesk Light"/>
                  <a:cs typeface="Times New Roman" panose="02020603050405020304" pitchFamily="18" charset="0"/>
                  <a:sym typeface="HK Grotesk Light"/>
                </a:rPr>
                <a:t>Class C addresses range from 192.0.0.0 to 223.255.255.0, ideal for small networks, allowing up to 254 hosts in each class C network.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666750"/>
            <a:ext cx="6886575" cy="8953500"/>
            <a:chOff x="0" y="0"/>
            <a:chExt cx="1200275" cy="15605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00275" cy="1560523"/>
            </a:xfrm>
            <a:custGeom>
              <a:avLst/>
              <a:gdLst/>
              <a:ahLst/>
              <a:cxnLst/>
              <a:rect l="l" t="t" r="r" b="b"/>
              <a:pathLst>
                <a:path w="1200275" h="1560523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1515555"/>
                  </a:lnTo>
                  <a:cubicBezTo>
                    <a:pt x="1200275" y="1527481"/>
                    <a:pt x="1195537" y="1538919"/>
                    <a:pt x="1187104" y="1547352"/>
                  </a:cubicBezTo>
                  <a:cubicBezTo>
                    <a:pt x="1178670" y="1555785"/>
                    <a:pt x="1167233" y="1560523"/>
                    <a:pt x="1155306" y="1560523"/>
                  </a:cubicBezTo>
                  <a:lnTo>
                    <a:pt x="44968" y="1560523"/>
                  </a:lnTo>
                  <a:cubicBezTo>
                    <a:pt x="33042" y="1560523"/>
                    <a:pt x="21604" y="1555785"/>
                    <a:pt x="13171" y="1547352"/>
                  </a:cubicBezTo>
                  <a:cubicBezTo>
                    <a:pt x="4738" y="1538919"/>
                    <a:pt x="0" y="1527481"/>
                    <a:pt x="0" y="151555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t="-271" b="-271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66750" y="666750"/>
            <a:ext cx="8324850" cy="3019424"/>
            <a:chOff x="0" y="0"/>
            <a:chExt cx="11099800" cy="4025899"/>
          </a:xfrm>
        </p:grpSpPr>
        <p:sp>
          <p:nvSpPr>
            <p:cNvPr id="5" name="TextBox 5"/>
            <p:cNvSpPr txBox="1"/>
            <p:nvPr/>
          </p:nvSpPr>
          <p:spPr>
            <a:xfrm>
              <a:off x="0" y="2057399"/>
              <a:ext cx="11099800" cy="1968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>
                  <a:solidFill>
                    <a:srgbClr val="757575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Class D addresses are used for multicast, while Class E is reserved for experimental purposes and research.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71450"/>
              <a:ext cx="11099800" cy="1612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99"/>
                </a:lnSpc>
              </a:pPr>
              <a:r>
                <a:rPr lang="en-US" sz="8799">
                  <a:solidFill>
                    <a:srgbClr val="1A237E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Class D &amp; E IPs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296400" y="657225"/>
            <a:ext cx="1133475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999" b="1" u="none">
                <a:solidFill>
                  <a:srgbClr val="26323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01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734675" y="666750"/>
            <a:ext cx="6886575" cy="1838325"/>
            <a:chOff x="0" y="0"/>
            <a:chExt cx="9182100" cy="2451100"/>
          </a:xfrm>
        </p:grpSpPr>
        <p:sp>
          <p:nvSpPr>
            <p:cNvPr id="4" name="TextBox 4"/>
            <p:cNvSpPr txBox="1"/>
            <p:nvPr/>
          </p:nvSpPr>
          <p:spPr>
            <a:xfrm>
              <a:off x="0" y="-9525"/>
              <a:ext cx="91821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26323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Defining Subnetting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168400"/>
              <a:ext cx="9182100" cy="1282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99"/>
                </a:lnSpc>
              </a:pPr>
              <a:r>
                <a:rPr lang="en-US" sz="2999" dirty="0">
                  <a:solidFill>
                    <a:srgbClr val="9E9E9E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Subnetting is the process of dividing networks efficiently.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296400" y="3343275"/>
            <a:ext cx="1133475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999" b="1" u="none">
                <a:solidFill>
                  <a:srgbClr val="26323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02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734675" y="3352800"/>
            <a:ext cx="6886575" cy="1828800"/>
            <a:chOff x="0" y="0"/>
            <a:chExt cx="9182100" cy="2438400"/>
          </a:xfrm>
        </p:grpSpPr>
        <p:sp>
          <p:nvSpPr>
            <p:cNvPr id="8" name="TextBox 8"/>
            <p:cNvSpPr txBox="1"/>
            <p:nvPr/>
          </p:nvSpPr>
          <p:spPr>
            <a:xfrm>
              <a:off x="0" y="-9525"/>
              <a:ext cx="91821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26323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Reasons for Subnetting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155700"/>
              <a:ext cx="9182100" cy="1282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99"/>
                </a:lnSpc>
              </a:pPr>
              <a:r>
                <a:rPr lang="en-US" sz="2999" dirty="0">
                  <a:solidFill>
                    <a:srgbClr val="9E9E9E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Subnetting helps improve network performance and security measures.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296400" y="6029325"/>
            <a:ext cx="1133475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999" b="1" u="none">
                <a:solidFill>
                  <a:srgbClr val="26323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03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734675" y="6033135"/>
            <a:ext cx="6886575" cy="1834515"/>
            <a:chOff x="0" y="0"/>
            <a:chExt cx="9182100" cy="244602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9525"/>
              <a:ext cx="91821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26323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Efficient IP Usage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163320"/>
              <a:ext cx="9182100" cy="1282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99"/>
                </a:lnSpc>
              </a:pPr>
              <a:r>
                <a:rPr lang="en-US" sz="2999">
                  <a:solidFill>
                    <a:srgbClr val="9E9E9E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It maximizes IP address utilization within a network infrastructure.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66750" y="838200"/>
            <a:ext cx="6886575" cy="3395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99"/>
              </a:lnSpc>
            </a:pPr>
            <a:r>
              <a:rPr lang="en-US" sz="8799">
                <a:solidFill>
                  <a:srgbClr val="1A237E"/>
                </a:solidFill>
                <a:latin typeface="Gilda Display"/>
                <a:ea typeface="Gilda Display"/>
                <a:cs typeface="Gilda Display"/>
                <a:sym typeface="Gilda Display"/>
              </a:rPr>
              <a:t>Subnetting Concepts Explained</a:t>
            </a:r>
          </a:p>
        </p:txBody>
      </p:sp>
      <p:sp>
        <p:nvSpPr>
          <p:cNvPr id="15" name="Freeform 15"/>
          <p:cNvSpPr/>
          <p:nvPr/>
        </p:nvSpPr>
        <p:spPr>
          <a:xfrm rot="-2156052">
            <a:off x="-3053910" y="7516388"/>
            <a:ext cx="6407041" cy="7627430"/>
          </a:xfrm>
          <a:custGeom>
            <a:avLst/>
            <a:gdLst/>
            <a:ahLst/>
            <a:cxnLst/>
            <a:rect l="l" t="t" r="r" b="b"/>
            <a:pathLst>
              <a:path w="6407041" h="7627430">
                <a:moveTo>
                  <a:pt x="0" y="0"/>
                </a:moveTo>
                <a:lnTo>
                  <a:pt x="6407041" y="0"/>
                </a:lnTo>
                <a:lnTo>
                  <a:pt x="6407041" y="7627430"/>
                </a:lnTo>
                <a:lnTo>
                  <a:pt x="0" y="7627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296400" y="657225"/>
            <a:ext cx="1133475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999" b="1" u="none">
                <a:solidFill>
                  <a:srgbClr val="26323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01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734675" y="666750"/>
            <a:ext cx="6886575" cy="1838325"/>
            <a:chOff x="0" y="0"/>
            <a:chExt cx="9182100" cy="2451100"/>
          </a:xfrm>
        </p:grpSpPr>
        <p:sp>
          <p:nvSpPr>
            <p:cNvPr id="4" name="TextBox 4"/>
            <p:cNvSpPr txBox="1"/>
            <p:nvPr/>
          </p:nvSpPr>
          <p:spPr>
            <a:xfrm>
              <a:off x="0" y="-9525"/>
              <a:ext cx="91821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26323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Binary Format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168400"/>
              <a:ext cx="9182100" cy="1282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99"/>
                </a:lnSpc>
              </a:pPr>
              <a:r>
                <a:rPr lang="en-US" sz="2999">
                  <a:solidFill>
                    <a:srgbClr val="9E9E9E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Subnet masks are represented in </a:t>
              </a:r>
              <a:r>
                <a:rPr lang="en-US" sz="2999" b="1">
                  <a:solidFill>
                    <a:srgbClr val="9E9E9E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binary form</a:t>
              </a:r>
              <a:r>
                <a:rPr lang="en-US" sz="2999">
                  <a:solidFill>
                    <a:srgbClr val="9E9E9E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to separate bits.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296400" y="3343275"/>
            <a:ext cx="1133475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999" b="1" u="none">
                <a:solidFill>
                  <a:srgbClr val="26323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02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734675" y="3352800"/>
            <a:ext cx="6886575" cy="1828800"/>
            <a:chOff x="0" y="0"/>
            <a:chExt cx="9182100" cy="2438400"/>
          </a:xfrm>
        </p:grpSpPr>
        <p:sp>
          <p:nvSpPr>
            <p:cNvPr id="8" name="TextBox 8"/>
            <p:cNvSpPr txBox="1"/>
            <p:nvPr/>
          </p:nvSpPr>
          <p:spPr>
            <a:xfrm>
              <a:off x="0" y="-9525"/>
              <a:ext cx="91821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26323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Decimal Format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155700"/>
              <a:ext cx="9182100" cy="1282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99"/>
                </a:lnSpc>
              </a:pPr>
              <a:r>
                <a:rPr lang="en-US" sz="2999">
                  <a:solidFill>
                    <a:srgbClr val="9E9E9E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Subnet masks are also expressed in </a:t>
              </a:r>
              <a:r>
                <a:rPr lang="en-US" sz="2999" b="1">
                  <a:solidFill>
                    <a:srgbClr val="9E9E9E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decimal notation</a:t>
              </a:r>
              <a:r>
                <a:rPr lang="en-US" sz="2999">
                  <a:solidFill>
                    <a:srgbClr val="9E9E9E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for convenience.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296400" y="6029325"/>
            <a:ext cx="1133475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999" b="1" u="none">
                <a:solidFill>
                  <a:srgbClr val="263238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03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734675" y="6033135"/>
            <a:ext cx="6886575" cy="2320290"/>
            <a:chOff x="0" y="0"/>
            <a:chExt cx="9182100" cy="309372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9525"/>
              <a:ext cx="91821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26323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Customized Masks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163320"/>
              <a:ext cx="9182100" cy="1930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99"/>
                </a:lnSpc>
              </a:pPr>
              <a:r>
                <a:rPr lang="en-US" sz="2999">
                  <a:solidFill>
                    <a:srgbClr val="9E9E9E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Customized subnet masks allow </a:t>
              </a:r>
              <a:r>
                <a:rPr lang="en-US" sz="2999" b="1">
                  <a:solidFill>
                    <a:srgbClr val="9E9E9E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flexible network configurations</a:t>
              </a:r>
              <a:r>
                <a:rPr lang="en-US" sz="2999">
                  <a:solidFill>
                    <a:srgbClr val="9E9E9E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tailored to needs.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66750" y="838200"/>
            <a:ext cx="6886575" cy="3395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99"/>
              </a:lnSpc>
            </a:pPr>
            <a:r>
              <a:rPr lang="en-US" sz="8799">
                <a:solidFill>
                  <a:srgbClr val="1A237E"/>
                </a:solidFill>
                <a:latin typeface="Gilda Display"/>
                <a:ea typeface="Gilda Display"/>
                <a:cs typeface="Gilda Display"/>
                <a:sym typeface="Gilda Display"/>
              </a:rPr>
              <a:t>Subnet Masks Overview</a:t>
            </a:r>
          </a:p>
        </p:txBody>
      </p:sp>
      <p:sp>
        <p:nvSpPr>
          <p:cNvPr id="15" name="Freeform 15"/>
          <p:cNvSpPr/>
          <p:nvPr/>
        </p:nvSpPr>
        <p:spPr>
          <a:xfrm rot="-2156052">
            <a:off x="-3053910" y="7516388"/>
            <a:ext cx="6407041" cy="7627430"/>
          </a:xfrm>
          <a:custGeom>
            <a:avLst/>
            <a:gdLst/>
            <a:ahLst/>
            <a:cxnLst/>
            <a:rect l="l" t="t" r="r" b="b"/>
            <a:pathLst>
              <a:path w="6407041" h="7627430">
                <a:moveTo>
                  <a:pt x="0" y="0"/>
                </a:moveTo>
                <a:lnTo>
                  <a:pt x="6407041" y="0"/>
                </a:lnTo>
                <a:lnTo>
                  <a:pt x="6407041" y="7627430"/>
                </a:lnTo>
                <a:lnTo>
                  <a:pt x="0" y="7627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05025" y="3002297"/>
            <a:ext cx="12639675" cy="3914808"/>
            <a:chOff x="0" y="0"/>
            <a:chExt cx="16852900" cy="5219744"/>
          </a:xfrm>
        </p:grpSpPr>
        <p:sp>
          <p:nvSpPr>
            <p:cNvPr id="3" name="TextBox 3"/>
            <p:cNvSpPr txBox="1"/>
            <p:nvPr/>
          </p:nvSpPr>
          <p:spPr>
            <a:xfrm>
              <a:off x="0" y="171450"/>
              <a:ext cx="16852900" cy="1612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99"/>
                </a:lnSpc>
              </a:pPr>
              <a:r>
                <a:rPr lang="en-US" sz="8799">
                  <a:solidFill>
                    <a:srgbClr val="1A237E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CIDR Notation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251244"/>
              <a:ext cx="16852900" cy="1968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>
                  <a:solidFill>
                    <a:srgbClr val="757575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CIDR notation simplifies IP allocation by expressing network prefixes using a slash followed by the number of significant bits, enhancing routing efficiency and scalability in networks.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086063"/>
              <a:ext cx="168529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</a:pPr>
              <a:r>
                <a:rPr lang="en-US" sz="3000" b="1">
                  <a:solidFill>
                    <a:srgbClr val="4A4A4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Understanding Classless Inter-Domain Routing Concepts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945975">
            <a:off x="15101778" y="-5016438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8"/>
                </a:lnTo>
                <a:lnTo>
                  <a:pt x="0" y="102997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666750" y="838173"/>
            <a:ext cx="8324850" cy="2280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99"/>
              </a:lnSpc>
            </a:pPr>
            <a:r>
              <a:rPr lang="en-US" sz="8799">
                <a:solidFill>
                  <a:srgbClr val="1A237E"/>
                </a:solidFill>
                <a:latin typeface="Gilda Display"/>
                <a:ea typeface="Gilda Display"/>
                <a:cs typeface="Gilda Display"/>
                <a:sym typeface="Gilda Display"/>
              </a:rPr>
              <a:t>Subnetting Examples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7E0DC32-CD0A-24D9-930D-4B757C3EF7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10400" y="2447505"/>
            <a:ext cx="10077450" cy="700132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66750" y="666750"/>
            <a:ext cx="14077950" cy="2062247"/>
            <a:chOff x="0" y="0"/>
            <a:chExt cx="18770600" cy="2749662"/>
          </a:xfrm>
        </p:grpSpPr>
        <p:sp>
          <p:nvSpPr>
            <p:cNvPr id="4" name="TextBox 4"/>
            <p:cNvSpPr txBox="1"/>
            <p:nvPr/>
          </p:nvSpPr>
          <p:spPr>
            <a:xfrm>
              <a:off x="0" y="171450"/>
              <a:ext cx="18770600" cy="1612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99"/>
                </a:lnSpc>
              </a:pPr>
              <a:r>
                <a:rPr lang="en-US" sz="8799">
                  <a:solidFill>
                    <a:srgbClr val="1A237E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Subnetting Example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130537"/>
              <a:ext cx="187706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26323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Dividing a Class C Network into Subnets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6750" y="5143500"/>
            <a:ext cx="5448300" cy="3333750"/>
            <a:chOff x="0" y="0"/>
            <a:chExt cx="7264400" cy="4445000"/>
          </a:xfrm>
        </p:grpSpPr>
        <p:sp>
          <p:nvSpPr>
            <p:cNvPr id="7" name="TextBox 7"/>
            <p:cNvSpPr txBox="1"/>
            <p:nvPr/>
          </p:nvSpPr>
          <p:spPr>
            <a:xfrm>
              <a:off x="0" y="-9525"/>
              <a:ext cx="72644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26323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Bits Borrowed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155700"/>
              <a:ext cx="7264400" cy="3289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 u="none" strike="noStrike" dirty="0">
                  <a:latin typeface="HK Grotesk Light"/>
                  <a:ea typeface="HK Grotesk Light"/>
                  <a:cs typeface="HK Grotesk Light"/>
                  <a:sym typeface="HK Grotesk Light"/>
                </a:rPr>
                <a:t>To create four subnets from the 192.168.1.0/24 network, we borrow 2 bits from the host portion, allowing for efficient subnetting.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419850" y="5143500"/>
            <a:ext cx="5448300" cy="3333750"/>
            <a:chOff x="0" y="0"/>
            <a:chExt cx="7264400" cy="4445000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72644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26323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New Prefix Length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155700"/>
              <a:ext cx="7264400" cy="3289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 u="none" strike="noStrike" dirty="0">
                  <a:latin typeface="HK Grotesk Light"/>
                  <a:ea typeface="HK Grotesk Light"/>
                  <a:cs typeface="HK Grotesk Light"/>
                  <a:sym typeface="HK Grotesk Light"/>
                </a:rPr>
                <a:t>Borrowing 2 bits raises the subnet prefix from /24 to /26, resulting in four distinct subnets, each with 64 IP addresses available in total.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172950" y="5143500"/>
            <a:ext cx="5448300" cy="3829050"/>
            <a:chOff x="0" y="0"/>
            <a:chExt cx="7264400" cy="5105400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9525"/>
              <a:ext cx="72644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26323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Subnet Address Ranges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155700"/>
              <a:ext cx="7264400" cy="3949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 u="none" strike="noStrike" dirty="0">
                  <a:latin typeface="HK Grotesk Light"/>
                  <a:ea typeface="HK Grotesk Light"/>
                  <a:cs typeface="HK Grotesk Light"/>
                  <a:sym typeface="HK Grotesk Light"/>
                </a:rPr>
                <a:t>The subnet address ranges created are 192.168.1.0/26, 192.168.1.64/26, 192.168.1.128/26, and 192.168.1.192/26, supporting organized network management.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838200"/>
            <a:ext cx="14077950" cy="1166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99"/>
              </a:lnSpc>
            </a:pPr>
            <a:r>
              <a:rPr lang="en-US" sz="8799">
                <a:solidFill>
                  <a:srgbClr val="1A237E"/>
                </a:solidFill>
                <a:latin typeface="Gilda Display"/>
                <a:ea typeface="Gilda Display"/>
                <a:cs typeface="Gilda Display"/>
                <a:sym typeface="Gilda Display"/>
              </a:rPr>
              <a:t>Host Calculations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66750" y="4391025"/>
            <a:ext cx="2856970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000" b="1">
                <a:solidFill>
                  <a:srgbClr val="4A4A4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Usable Hosts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37076" y="4391025"/>
            <a:ext cx="285932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000" b="1">
                <a:solidFill>
                  <a:srgbClr val="4A4A4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Subnet Ranges</a:t>
            </a:r>
          </a:p>
        </p:txBody>
      </p:sp>
      <p:sp>
        <p:nvSpPr>
          <p:cNvPr id="5" name="AutoShape 5"/>
          <p:cNvSpPr/>
          <p:nvPr/>
        </p:nvSpPr>
        <p:spPr>
          <a:xfrm>
            <a:off x="990600" y="5457825"/>
            <a:ext cx="17607376" cy="0"/>
          </a:xfrm>
          <a:prstGeom prst="line">
            <a:avLst/>
          </a:prstGeom>
          <a:ln w="19050" cap="flat">
            <a:solidFill>
              <a:srgbClr val="1A237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666750" y="5295900"/>
            <a:ext cx="323850" cy="323850"/>
            <a:chOff x="0" y="0"/>
            <a:chExt cx="6350000" cy="635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A237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443576" y="5295900"/>
            <a:ext cx="323850" cy="323850"/>
            <a:chOff x="0" y="0"/>
            <a:chExt cx="6350000" cy="635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A237E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202645" y="5295900"/>
            <a:ext cx="323850" cy="323850"/>
            <a:chOff x="0" y="0"/>
            <a:chExt cx="6350000" cy="6350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A237E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2192000" y="3019425"/>
            <a:ext cx="2859324" cy="1838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r>
              <a:rPr lang="en-US" sz="3000" b="1">
                <a:solidFill>
                  <a:srgbClr val="4A4A4A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The formula for calculating usable hosts is 2^host_bits - 2.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6750" y="5991225"/>
            <a:ext cx="4010025" cy="212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757575"/>
                </a:solidFill>
                <a:latin typeface="HK Grotesk"/>
                <a:ea typeface="HK Grotesk"/>
                <a:cs typeface="HK Grotesk"/>
                <a:sym typeface="HK Grotesk"/>
              </a:rPr>
              <a:t>Each subnet must account for network and broadcast addresses.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43576" y="5991225"/>
            <a:ext cx="3986299" cy="159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u="none" strike="noStrike">
                <a:solidFill>
                  <a:srgbClr val="757575"/>
                </a:solidFill>
                <a:latin typeface="HK Grotesk"/>
                <a:ea typeface="HK Grotesk"/>
                <a:cs typeface="HK Grotesk"/>
                <a:sym typeface="HK Grotesk"/>
              </a:rPr>
              <a:t>Subnet ranges help define addressable hosts in a subnet.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172950" y="5991225"/>
            <a:ext cx="4010025" cy="159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00"/>
              </a:lnSpc>
              <a:spcBef>
                <a:spcPct val="0"/>
              </a:spcBef>
            </a:pPr>
            <a:r>
              <a:rPr lang="en-US" sz="3000" u="none" strike="noStrike">
                <a:solidFill>
                  <a:srgbClr val="757575"/>
                </a:solidFill>
                <a:latin typeface="HK Grotesk"/>
                <a:ea typeface="HK Grotesk"/>
                <a:cs typeface="HK Grotesk"/>
                <a:sym typeface="HK Grotesk"/>
              </a:rPr>
              <a:t>Understanding these concepts is crucial for effective subnetting.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66750" y="666750"/>
            <a:ext cx="8324850" cy="4133849"/>
            <a:chOff x="0" y="0"/>
            <a:chExt cx="11099800" cy="5511799"/>
          </a:xfrm>
        </p:grpSpPr>
        <p:sp>
          <p:nvSpPr>
            <p:cNvPr id="5" name="TextBox 5"/>
            <p:cNvSpPr txBox="1"/>
            <p:nvPr/>
          </p:nvSpPr>
          <p:spPr>
            <a:xfrm>
              <a:off x="0" y="3543299"/>
              <a:ext cx="11099800" cy="1968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>
                  <a:solidFill>
                    <a:srgbClr val="757575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This diagram illustrates the division of subnets, showcasing how addressing and routing are efficiently managed in a network.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71450"/>
              <a:ext cx="11099800" cy="30983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99"/>
                </a:lnSpc>
              </a:pPr>
              <a:r>
                <a:rPr lang="en-US" sz="8799">
                  <a:solidFill>
                    <a:srgbClr val="1A237E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Network Diagrams</a:t>
              </a:r>
            </a:p>
          </p:txBody>
        </p:sp>
      </p:grpSp>
      <p:pic>
        <p:nvPicPr>
          <p:cNvPr id="8" name="Picture 7" descr="A diagram of a network&#10;&#10;AI-generated content may be incorrect.">
            <a:extLst>
              <a:ext uri="{FF2B5EF4-FFF2-40B4-BE49-F238E27FC236}">
                <a16:creationId xmlns:a16="http://schemas.microsoft.com/office/drawing/2014/main" id="{1E1A2E18-9B03-A4EB-AB45-57994B838E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5219700"/>
            <a:ext cx="11736438" cy="442021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13832">
            <a:off x="-4531687" y="6137129"/>
            <a:ext cx="8157874" cy="9711754"/>
          </a:xfrm>
          <a:custGeom>
            <a:avLst/>
            <a:gdLst/>
            <a:ahLst/>
            <a:cxnLst/>
            <a:rect l="l" t="t" r="r" b="b"/>
            <a:pathLst>
              <a:path w="8157874" h="9711754">
                <a:moveTo>
                  <a:pt x="0" y="0"/>
                </a:moveTo>
                <a:lnTo>
                  <a:pt x="8157874" y="0"/>
                </a:lnTo>
                <a:lnTo>
                  <a:pt x="8157874" y="9711754"/>
                </a:lnTo>
                <a:lnTo>
                  <a:pt x="0" y="97117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66750" y="838200"/>
            <a:ext cx="16954500" cy="1166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99"/>
              </a:lnSpc>
            </a:pPr>
            <a:r>
              <a:rPr lang="en-US" sz="8799">
                <a:solidFill>
                  <a:srgbClr val="1A237E"/>
                </a:solidFill>
                <a:latin typeface="Gilda Display"/>
                <a:ea typeface="Gilda Display"/>
                <a:cs typeface="Gilda Display"/>
                <a:sym typeface="Gilda Display"/>
              </a:rPr>
              <a:t>Advantages of Subnetting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96400" y="5143500"/>
            <a:ext cx="8324850" cy="3276600"/>
            <a:chOff x="0" y="0"/>
            <a:chExt cx="11099800" cy="4368800"/>
          </a:xfrm>
        </p:grpSpPr>
        <p:sp>
          <p:nvSpPr>
            <p:cNvPr id="5" name="TextBox 5"/>
            <p:cNvSpPr txBox="1"/>
            <p:nvPr/>
          </p:nvSpPr>
          <p:spPr>
            <a:xfrm>
              <a:off x="0" y="-9525"/>
              <a:ext cx="110998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4A4A4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Key Benefits of Subnetting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739900"/>
              <a:ext cx="11099800" cy="2628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263238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Improved IP address utilization</a:t>
              </a:r>
            </a:p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263238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Reduced network congestion</a:t>
              </a:r>
            </a:p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263238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Enhanced network security</a:t>
              </a:r>
            </a:p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263238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Simplified troubleshooting processes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13832">
            <a:off x="-4531687" y="6137129"/>
            <a:ext cx="8157874" cy="9711754"/>
          </a:xfrm>
          <a:custGeom>
            <a:avLst/>
            <a:gdLst/>
            <a:ahLst/>
            <a:cxnLst/>
            <a:rect l="l" t="t" r="r" b="b"/>
            <a:pathLst>
              <a:path w="8157874" h="9711754">
                <a:moveTo>
                  <a:pt x="0" y="0"/>
                </a:moveTo>
                <a:lnTo>
                  <a:pt x="8157874" y="0"/>
                </a:lnTo>
                <a:lnTo>
                  <a:pt x="8157874" y="9711754"/>
                </a:lnTo>
                <a:lnTo>
                  <a:pt x="0" y="97117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66750" y="838200"/>
            <a:ext cx="16954500" cy="1166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99"/>
              </a:lnSpc>
            </a:pPr>
            <a:r>
              <a:rPr lang="en-US" sz="8799">
                <a:solidFill>
                  <a:srgbClr val="1A237E"/>
                </a:solidFill>
                <a:latin typeface="Gilda Display"/>
                <a:ea typeface="Gilda Display"/>
                <a:cs typeface="Gilda Display"/>
                <a:sym typeface="Gilda Display"/>
              </a:rPr>
              <a:t>Advantages of Subnetting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96400" y="5143500"/>
            <a:ext cx="8324850" cy="3771900"/>
            <a:chOff x="0" y="0"/>
            <a:chExt cx="11099800" cy="5029200"/>
          </a:xfrm>
        </p:grpSpPr>
        <p:sp>
          <p:nvSpPr>
            <p:cNvPr id="5" name="TextBox 5"/>
            <p:cNvSpPr txBox="1"/>
            <p:nvPr/>
          </p:nvSpPr>
          <p:spPr>
            <a:xfrm>
              <a:off x="0" y="-9525"/>
              <a:ext cx="110998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4A4A4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Key Benefits of Subnetting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739900"/>
              <a:ext cx="11099800" cy="3289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263238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Facilitates </a:t>
              </a:r>
              <a:r>
                <a:rPr lang="en-US" sz="3000" b="1">
                  <a:solidFill>
                    <a:srgbClr val="26323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logical device grouping</a:t>
              </a:r>
            </a:p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263238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Enhances </a:t>
              </a:r>
              <a:r>
                <a:rPr lang="en-US" sz="3000" b="1">
                  <a:solidFill>
                    <a:srgbClr val="26323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network performance and efficiency</a:t>
              </a:r>
            </a:p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263238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Simplifies </a:t>
              </a:r>
              <a:r>
                <a:rPr lang="en-US" sz="3000" b="1">
                  <a:solidFill>
                    <a:srgbClr val="26323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troubleshooting processes</a:t>
              </a:r>
            </a:p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263238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Improves </a:t>
              </a:r>
              <a:r>
                <a:rPr lang="en-US" sz="3000" b="1">
                  <a:solidFill>
                    <a:srgbClr val="263238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overall network security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300848">
            <a:off x="12064338" y="5278644"/>
            <a:ext cx="13730046" cy="12931207"/>
          </a:xfrm>
          <a:custGeom>
            <a:avLst/>
            <a:gdLst/>
            <a:ahLst/>
            <a:cxnLst/>
            <a:rect l="l" t="t" r="r" b="b"/>
            <a:pathLst>
              <a:path w="13730046" h="12931207">
                <a:moveTo>
                  <a:pt x="0" y="0"/>
                </a:moveTo>
                <a:lnTo>
                  <a:pt x="13730046" y="0"/>
                </a:lnTo>
                <a:lnTo>
                  <a:pt x="13730046" y="12931207"/>
                </a:lnTo>
                <a:lnTo>
                  <a:pt x="0" y="129312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324600" y="4762500"/>
            <a:ext cx="12944475" cy="1166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99"/>
              </a:lnSpc>
            </a:pPr>
            <a:r>
              <a:rPr lang="en-US" sz="8799" dirty="0">
                <a:solidFill>
                  <a:srgbClr val="1A237E"/>
                </a:solidFill>
                <a:latin typeface="Gilda Display"/>
                <a:ea typeface="Gilda Display"/>
                <a:cs typeface="Gilda Display"/>
                <a:sym typeface="Gilda Display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</TotalTime>
  <Words>631</Words>
  <Application>Microsoft Office PowerPoint</Application>
  <PresentationFormat>Custom</PresentationFormat>
  <Paragraphs>84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HK Grotesk Bold</vt:lpstr>
      <vt:lpstr>Wingdings 3</vt:lpstr>
      <vt:lpstr>Trebuchet MS</vt:lpstr>
      <vt:lpstr>HK Grotesk Light</vt:lpstr>
      <vt:lpstr>Times New Roman</vt:lpstr>
      <vt:lpstr>Gilda Display</vt:lpstr>
      <vt:lpstr>Arial</vt:lpstr>
      <vt:lpstr>HK Grotesk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Addressing &amp; Subnetting</dc:title>
  <dc:creator>Shaid Meheraj</dc:creator>
  <dc:description>Presentation - Addressing &amp; Subnetting</dc:description>
  <cp:lastModifiedBy>Shaid Meheraj</cp:lastModifiedBy>
  <cp:revision>4</cp:revision>
  <dcterms:created xsi:type="dcterms:W3CDTF">2006-08-16T00:00:00Z</dcterms:created>
  <dcterms:modified xsi:type="dcterms:W3CDTF">2025-11-25T16:50:26Z</dcterms:modified>
  <dc:identifier>DAG5lEgRyc8</dc:identifier>
</cp:coreProperties>
</file>